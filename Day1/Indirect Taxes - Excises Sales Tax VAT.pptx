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75" r:id="rId2"/>
    <p:sldId id="270" r:id="rId3"/>
    <p:sldId id="273" r:id="rId4"/>
    <p:sldId id="261" r:id="rId5"/>
    <p:sldId id="268" r:id="rId6"/>
    <p:sldId id="269" r:id="rId7"/>
    <p:sldId id="271" r:id="rId8"/>
    <p:sldId id="308" r:id="rId9"/>
    <p:sldId id="309" r:id="rId10"/>
    <p:sldId id="310" r:id="rId11"/>
    <p:sldId id="311" r:id="rId12"/>
    <p:sldId id="312" r:id="rId13"/>
    <p:sldId id="276" r:id="rId14"/>
    <p:sldId id="305" r:id="rId15"/>
    <p:sldId id="278" r:id="rId16"/>
    <p:sldId id="279" r:id="rId17"/>
    <p:sldId id="280" r:id="rId18"/>
    <p:sldId id="281" r:id="rId19"/>
    <p:sldId id="282" r:id="rId20"/>
    <p:sldId id="283" r:id="rId21"/>
    <p:sldId id="284" r:id="rId22"/>
    <p:sldId id="285" r:id="rId23"/>
    <p:sldId id="306" r:id="rId24"/>
    <p:sldId id="286" r:id="rId25"/>
    <p:sldId id="287" r:id="rId26"/>
    <p:sldId id="288" r:id="rId27"/>
    <p:sldId id="289" r:id="rId28"/>
    <p:sldId id="307"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1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9" autoAdjust="0"/>
    <p:restoredTop sz="94660"/>
  </p:normalViewPr>
  <p:slideViewPr>
    <p:cSldViewPr snapToGrid="0">
      <p:cViewPr varScale="1">
        <p:scale>
          <a:sx n="63" d="100"/>
          <a:sy n="63" d="100"/>
        </p:scale>
        <p:origin x="544" y="272"/>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Family" userId="239b08a12419b333" providerId="LiveId" clId="{BC9226FD-542E-4F23-A6B0-432EEAD6C328}"/>
    <pc:docChg chg="addSld modSld">
      <pc:chgData name="Sebastian Family" userId="239b08a12419b333" providerId="LiveId" clId="{BC9226FD-542E-4F23-A6B0-432EEAD6C328}" dt="2026-04-26T05:36:43.297" v="4" actId="20577"/>
      <pc:docMkLst>
        <pc:docMk/>
      </pc:docMkLst>
      <pc:sldChg chg="modSp mod">
        <pc:chgData name="Sebastian Family" userId="239b08a12419b333" providerId="LiveId" clId="{BC9226FD-542E-4F23-A6B0-432EEAD6C328}" dt="2026-04-26T05:36:43.297" v="4" actId="20577"/>
        <pc:sldMkLst>
          <pc:docMk/>
          <pc:sldMk cId="2719588719" sldId="275"/>
        </pc:sldMkLst>
        <pc:spChg chg="mod">
          <ac:chgData name="Sebastian Family" userId="239b08a12419b333" providerId="LiveId" clId="{BC9226FD-542E-4F23-A6B0-432EEAD6C328}" dt="2026-04-26T05:36:43.297" v="4" actId="20577"/>
          <ac:spMkLst>
            <pc:docMk/>
            <pc:sldMk cId="2719588719" sldId="275"/>
            <ac:spMk id="1843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CDA456-C407-484E-9AF7-25FB6FE2E36A}" type="datetimeFigureOut">
              <a:rPr lang="en-US" smtClean="0"/>
              <a:t>4/26/2026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C615A-5142-4456-97FF-1BEBDBC27E7C}" type="slidenum">
              <a:rPr lang="en-US" smtClean="0"/>
              <a:t>‹#›</a:t>
            </a:fld>
            <a:endParaRPr lang="en-US"/>
          </a:p>
        </p:txBody>
      </p:sp>
    </p:spTree>
    <p:extLst>
      <p:ext uri="{BB962C8B-B14F-4D97-AF65-F5344CB8AC3E}">
        <p14:creationId xmlns:p14="http://schemas.microsoft.com/office/powerpoint/2010/main" val="658044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fld id="{4D3972B3-E3B5-4789-BFA8-671FBD559425}" type="datetime1">
              <a:rPr lang="en-US" altLang="en-US" sz="1200" smtClean="0"/>
              <a:pPr/>
              <a:t>4/26/2026</a:t>
            </a:fld>
            <a:endParaRPr lang="en-US" altLang="en-US" sz="1200"/>
          </a:p>
        </p:txBody>
      </p:sp>
      <p:sp>
        <p:nvSpPr>
          <p:cNvPr id="29699" name="Rectangle 2"/>
          <p:cNvSpPr>
            <a:spLocks noGrp="1" noRot="1" noChangeAspect="1" noChangeArrowheads="1" noTextEdit="1"/>
          </p:cNvSpPr>
          <p:nvPr>
            <p:ph type="sldImg"/>
          </p:nvPr>
        </p:nvSpPr>
        <p:spPr>
          <a:xfrm>
            <a:off x="411163" y="700088"/>
            <a:ext cx="6188075" cy="3481387"/>
          </a:xfrm>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949" tIns="46475" rIns="92949" bIns="46475"/>
          <a:lstStyle/>
          <a:p>
            <a:endParaRPr lang="en-US" altLang="en-US"/>
          </a:p>
        </p:txBody>
      </p:sp>
    </p:spTree>
    <p:extLst>
      <p:ext uri="{BB962C8B-B14F-4D97-AF65-F5344CB8AC3E}">
        <p14:creationId xmlns:p14="http://schemas.microsoft.com/office/powerpoint/2010/main" val="2826701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E6FCC6C-D573-43DF-95F3-F81BF3122B11}" type="slidenum">
              <a:rPr lang="en-US" altLang="en-US" sz="1200" smtClean="0"/>
              <a:pPr/>
              <a:t>39</a:t>
            </a:fld>
            <a:endParaRPr lang="en-US" altLang="en-US" sz="1200"/>
          </a:p>
        </p:txBody>
      </p:sp>
    </p:spTree>
    <p:extLst>
      <p:ext uri="{BB962C8B-B14F-4D97-AF65-F5344CB8AC3E}">
        <p14:creationId xmlns:p14="http://schemas.microsoft.com/office/powerpoint/2010/main" val="3661101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604AC61-D178-4E63-86A4-6089A859F22C}" type="slidenum">
              <a:rPr lang="en-US" altLang="en-US" sz="1200" smtClean="0"/>
              <a:pPr/>
              <a:t>40</a:t>
            </a:fld>
            <a:endParaRPr lang="en-US" altLang="en-US" sz="1200"/>
          </a:p>
        </p:txBody>
      </p:sp>
    </p:spTree>
    <p:extLst>
      <p:ext uri="{BB962C8B-B14F-4D97-AF65-F5344CB8AC3E}">
        <p14:creationId xmlns:p14="http://schemas.microsoft.com/office/powerpoint/2010/main" val="3710708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3AF4DD6-5FA1-4EC4-B48D-52E6FB277526}"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1735B6-38C0-476C-A974-88986B527900}" type="slidenum">
              <a:rPr lang="en-US" smtClean="0"/>
              <a:t>‹#›</a:t>
            </a:fld>
            <a:endParaRPr lang="en-US"/>
          </a:p>
        </p:txBody>
      </p:sp>
    </p:spTree>
    <p:extLst>
      <p:ext uri="{BB962C8B-B14F-4D97-AF65-F5344CB8AC3E}">
        <p14:creationId xmlns:p14="http://schemas.microsoft.com/office/powerpoint/2010/main" val="606209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AF4DD6-5FA1-4EC4-B48D-52E6FB277526}"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1735B6-38C0-476C-A974-88986B527900}" type="slidenum">
              <a:rPr lang="en-US" smtClean="0"/>
              <a:t>‹#›</a:t>
            </a:fld>
            <a:endParaRPr lang="en-US"/>
          </a:p>
        </p:txBody>
      </p:sp>
    </p:spTree>
    <p:extLst>
      <p:ext uri="{BB962C8B-B14F-4D97-AF65-F5344CB8AC3E}">
        <p14:creationId xmlns:p14="http://schemas.microsoft.com/office/powerpoint/2010/main" val="319634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AF4DD6-5FA1-4EC4-B48D-52E6FB277526}"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1735B6-38C0-476C-A974-88986B527900}" type="slidenum">
              <a:rPr lang="en-US" smtClean="0"/>
              <a:t>‹#›</a:t>
            </a:fld>
            <a:endParaRPr lang="en-US"/>
          </a:p>
        </p:txBody>
      </p:sp>
    </p:spTree>
    <p:extLst>
      <p:ext uri="{BB962C8B-B14F-4D97-AF65-F5344CB8AC3E}">
        <p14:creationId xmlns:p14="http://schemas.microsoft.com/office/powerpoint/2010/main" val="314883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3AF4DD6-5FA1-4EC4-B48D-52E6FB277526}"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1735B6-38C0-476C-A974-88986B527900}" type="slidenum">
              <a:rPr lang="en-US" smtClean="0"/>
              <a:t>‹#›</a:t>
            </a:fld>
            <a:endParaRPr lang="en-US"/>
          </a:p>
        </p:txBody>
      </p:sp>
    </p:spTree>
    <p:extLst>
      <p:ext uri="{BB962C8B-B14F-4D97-AF65-F5344CB8AC3E}">
        <p14:creationId xmlns:p14="http://schemas.microsoft.com/office/powerpoint/2010/main" val="3162036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3AF4DD6-5FA1-4EC4-B48D-52E6FB277526}" type="datetimeFigureOut">
              <a:rPr lang="en-US" smtClean="0"/>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1735B6-38C0-476C-A974-88986B527900}" type="slidenum">
              <a:rPr lang="en-US" smtClean="0"/>
              <a:t>‹#›</a:t>
            </a:fld>
            <a:endParaRPr lang="en-US"/>
          </a:p>
        </p:txBody>
      </p:sp>
    </p:spTree>
    <p:extLst>
      <p:ext uri="{BB962C8B-B14F-4D97-AF65-F5344CB8AC3E}">
        <p14:creationId xmlns:p14="http://schemas.microsoft.com/office/powerpoint/2010/main" val="3918439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3AF4DD6-5FA1-4EC4-B48D-52E6FB277526}" type="datetimeFigureOut">
              <a:rPr lang="en-US" smtClean="0"/>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1735B6-38C0-476C-A974-88986B527900}" type="slidenum">
              <a:rPr lang="en-US" smtClean="0"/>
              <a:t>‹#›</a:t>
            </a:fld>
            <a:endParaRPr lang="en-US"/>
          </a:p>
        </p:txBody>
      </p:sp>
    </p:spTree>
    <p:extLst>
      <p:ext uri="{BB962C8B-B14F-4D97-AF65-F5344CB8AC3E}">
        <p14:creationId xmlns:p14="http://schemas.microsoft.com/office/powerpoint/2010/main" val="2272889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AF4DD6-5FA1-4EC4-B48D-52E6FB277526}" type="datetimeFigureOut">
              <a:rPr lang="en-US" smtClean="0"/>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1735B6-38C0-476C-A974-88986B527900}" type="slidenum">
              <a:rPr lang="en-US" smtClean="0"/>
              <a:t>‹#›</a:t>
            </a:fld>
            <a:endParaRPr lang="en-US"/>
          </a:p>
        </p:txBody>
      </p:sp>
    </p:spTree>
    <p:extLst>
      <p:ext uri="{BB962C8B-B14F-4D97-AF65-F5344CB8AC3E}">
        <p14:creationId xmlns:p14="http://schemas.microsoft.com/office/powerpoint/2010/main" val="261701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AF4DD6-5FA1-4EC4-B48D-52E6FB277526}"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1735B6-38C0-476C-A974-88986B527900}" type="slidenum">
              <a:rPr lang="en-US" smtClean="0"/>
              <a:t>‹#›</a:t>
            </a:fld>
            <a:endParaRPr lang="en-US"/>
          </a:p>
        </p:txBody>
      </p:sp>
    </p:spTree>
    <p:extLst>
      <p:ext uri="{BB962C8B-B14F-4D97-AF65-F5344CB8AC3E}">
        <p14:creationId xmlns:p14="http://schemas.microsoft.com/office/powerpoint/2010/main" val="588208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AF4DD6-5FA1-4EC4-B48D-52E6FB277526}"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1735B6-38C0-476C-A974-88986B527900}" type="slidenum">
              <a:rPr lang="en-US" smtClean="0"/>
              <a:t>‹#›</a:t>
            </a:fld>
            <a:endParaRPr lang="en-US"/>
          </a:p>
        </p:txBody>
      </p:sp>
    </p:spTree>
    <p:extLst>
      <p:ext uri="{BB962C8B-B14F-4D97-AF65-F5344CB8AC3E}">
        <p14:creationId xmlns:p14="http://schemas.microsoft.com/office/powerpoint/2010/main" val="3873647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AF4DD6-5FA1-4EC4-B48D-52E6FB277526}"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1735B6-38C0-476C-A974-88986B527900}" type="slidenum">
              <a:rPr lang="en-US" smtClean="0"/>
              <a:t>‹#›</a:t>
            </a:fld>
            <a:endParaRPr lang="en-US"/>
          </a:p>
        </p:txBody>
      </p:sp>
    </p:spTree>
    <p:extLst>
      <p:ext uri="{BB962C8B-B14F-4D97-AF65-F5344CB8AC3E}">
        <p14:creationId xmlns:p14="http://schemas.microsoft.com/office/powerpoint/2010/main" val="2996654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AF4DD6-5FA1-4EC4-B48D-52E6FB277526}"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1735B6-38C0-476C-A974-88986B527900}" type="slidenum">
              <a:rPr lang="en-US" smtClean="0"/>
              <a:t>‹#›</a:t>
            </a:fld>
            <a:endParaRPr lang="en-US"/>
          </a:p>
        </p:txBody>
      </p:sp>
    </p:spTree>
    <p:extLst>
      <p:ext uri="{BB962C8B-B14F-4D97-AF65-F5344CB8AC3E}">
        <p14:creationId xmlns:p14="http://schemas.microsoft.com/office/powerpoint/2010/main" val="2949083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AF4DD6-5FA1-4EC4-B48D-52E6FB277526}" type="datetimeFigureOut">
              <a:rPr lang="en-US" smtClean="0"/>
              <a:t>4/26/2026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1735B6-38C0-476C-A974-88986B527900}" type="slidenum">
              <a:rPr lang="en-US" smtClean="0"/>
              <a:t>‹#›</a:t>
            </a:fld>
            <a:endParaRPr lang="en-US"/>
          </a:p>
        </p:txBody>
      </p:sp>
    </p:spTree>
    <p:extLst>
      <p:ext uri="{BB962C8B-B14F-4D97-AF65-F5344CB8AC3E}">
        <p14:creationId xmlns:p14="http://schemas.microsoft.com/office/powerpoint/2010/main" val="18818437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lgn="ctr" eaLnBrk="1" hangingPunct="1"/>
            <a:r>
              <a:rPr lang="en-US" altLang="en-US" sz="4800" b="1" dirty="0">
                <a:latin typeface="Times New Roman" panose="02020603050405020304" pitchFamily="18" charset="0"/>
                <a:cs typeface="Times New Roman" panose="02020603050405020304" pitchFamily="18" charset="0"/>
              </a:rPr>
              <a:t>INDIRECT TAXES</a:t>
            </a:r>
          </a:p>
        </p:txBody>
      </p:sp>
      <p:sp>
        <p:nvSpPr>
          <p:cNvPr id="18435" name="Rectangle 3"/>
          <p:cNvSpPr>
            <a:spLocks noGrp="1" noChangeArrowheads="1"/>
          </p:cNvSpPr>
          <p:nvPr>
            <p:ph type="body" idx="1"/>
          </p:nvPr>
        </p:nvSpPr>
        <p:spPr/>
        <p:txBody>
          <a:bodyPr/>
          <a:lstStyle/>
          <a:p>
            <a:pPr algn="ctr" eaLnBrk="1" hangingPunct="1">
              <a:buFontTx/>
              <a:buNone/>
            </a:pPr>
            <a:endParaRPr lang="en-US" altLang="en-US" sz="3600" b="1" dirty="0">
              <a:cs typeface="Times New Roman" panose="02020603050405020304" pitchFamily="18" charset="0"/>
            </a:endParaRPr>
          </a:p>
          <a:p>
            <a:pPr algn="ctr" eaLnBrk="1" hangingPunct="1">
              <a:buFontTx/>
              <a:buNone/>
            </a:pPr>
            <a:endParaRPr lang="en-US" altLang="en-US" sz="3600" b="1" i="1" dirty="0">
              <a:cs typeface="Times New Roman" panose="02020603050405020304" pitchFamily="18" charset="0"/>
            </a:endParaRPr>
          </a:p>
          <a:p>
            <a:pPr algn="ctr" eaLnBrk="1" hangingPunct="1">
              <a:buFontTx/>
              <a:buNone/>
            </a:pPr>
            <a:r>
              <a:rPr lang="en-US" altLang="en-US" sz="3600" b="1" dirty="0">
                <a:latin typeface="Times New Roman" panose="02020603050405020304" pitchFamily="18" charset="0"/>
                <a:cs typeface="Times New Roman" panose="02020603050405020304" pitchFamily="18" charset="0"/>
              </a:rPr>
              <a:t>Designing Excises, </a:t>
            </a:r>
            <a:r>
              <a:rPr lang="en-US" altLang="en-US" sz="3600" b="1">
                <a:latin typeface="Times New Roman" panose="02020603050405020304" pitchFamily="18" charset="0"/>
                <a:cs typeface="Times New Roman" panose="02020603050405020304" pitchFamily="18" charset="0"/>
              </a:rPr>
              <a:t>Sales Tax</a:t>
            </a:r>
            <a:r>
              <a:rPr lang="en-US" altLang="en-US" sz="3600" b="1" dirty="0">
                <a:latin typeface="Times New Roman" panose="02020603050405020304" pitchFamily="18" charset="0"/>
                <a:cs typeface="Times New Roman" panose="02020603050405020304" pitchFamily="18" charset="0"/>
              </a:rPr>
              <a:t>, and Value Added Tax</a:t>
            </a:r>
            <a:r>
              <a:rPr lang="en-US" alt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719588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315"/>
            <a:ext cx="10515600" cy="849075"/>
          </a:xfrm>
        </p:spPr>
        <p:txBody>
          <a:bodyPr/>
          <a:lstStyle/>
          <a:p>
            <a:r>
              <a:rPr lang="en-US" dirty="0"/>
              <a:t>Value Added Tax (VAT) - Basics</a:t>
            </a:r>
          </a:p>
        </p:txBody>
      </p:sp>
      <p:sp>
        <p:nvSpPr>
          <p:cNvPr id="3" name="Content Placeholder 2"/>
          <p:cNvSpPr>
            <a:spLocks noGrp="1"/>
          </p:cNvSpPr>
          <p:nvPr>
            <p:ph idx="1"/>
          </p:nvPr>
        </p:nvSpPr>
        <p:spPr>
          <a:xfrm>
            <a:off x="838200" y="1139252"/>
            <a:ext cx="10515600" cy="5291528"/>
          </a:xfrm>
        </p:spPr>
        <p:txBody>
          <a:bodyPr>
            <a:normAutofit/>
          </a:bodyPr>
          <a:lstStyle/>
          <a:p>
            <a:r>
              <a:rPr lang="en-US" dirty="0"/>
              <a:t>GST is another name for a VAT</a:t>
            </a:r>
          </a:p>
          <a:p>
            <a:r>
              <a:rPr lang="en-US" dirty="0"/>
              <a:t>Tax on Value Added (when viewed from the point of view of business)</a:t>
            </a:r>
          </a:p>
          <a:p>
            <a:r>
              <a:rPr lang="en-US" dirty="0"/>
              <a:t>Uses one rate (usually) and covers all Sales/Supplies (should also include supplies made by the government)</a:t>
            </a:r>
          </a:p>
          <a:p>
            <a:r>
              <a:rPr lang="en-US" dirty="0"/>
              <a:t>Tax is imposed on every sale but buyer can claim credit for tax paid if sale is made to a registered business</a:t>
            </a:r>
          </a:p>
          <a:p>
            <a:r>
              <a:rPr lang="en-US" dirty="0"/>
              <a:t>This implies that the tax finally sticks to the consumer (when one looks at the entire chain is basically a tax on consumption)</a:t>
            </a:r>
          </a:p>
          <a:p>
            <a:r>
              <a:rPr lang="en-US" dirty="0"/>
              <a:t>Equivalent to the Retail Sales Tax in which the final consumer is taxed</a:t>
            </a:r>
          </a:p>
        </p:txBody>
      </p:sp>
    </p:spTree>
    <p:extLst>
      <p:ext uri="{BB962C8B-B14F-4D97-AF65-F5344CB8AC3E}">
        <p14:creationId xmlns:p14="http://schemas.microsoft.com/office/powerpoint/2010/main" val="659021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Added Tax (VAT) - Basics</a:t>
            </a:r>
          </a:p>
        </p:txBody>
      </p:sp>
      <p:sp>
        <p:nvSpPr>
          <p:cNvPr id="3" name="Content Placeholder 2"/>
          <p:cNvSpPr>
            <a:spLocks noGrp="1"/>
          </p:cNvSpPr>
          <p:nvPr>
            <p:ph idx="1"/>
          </p:nvPr>
        </p:nvSpPr>
        <p:spPr/>
        <p:txBody>
          <a:bodyPr>
            <a:normAutofit fontScale="92500"/>
          </a:bodyPr>
          <a:lstStyle/>
          <a:p>
            <a:r>
              <a:rPr lang="en-US" dirty="0"/>
              <a:t>In order to manage the administration of the VAT only businesses making taxable sales above a certain threshold are allowed to be registered</a:t>
            </a:r>
          </a:p>
          <a:p>
            <a:pPr lvl="1"/>
            <a:r>
              <a:rPr lang="en-US" dirty="0"/>
              <a:t>Registration allows a business to collect tax on sales and claim input tax credit</a:t>
            </a:r>
          </a:p>
          <a:p>
            <a:pPr lvl="1"/>
            <a:r>
              <a:rPr lang="en-US" dirty="0"/>
              <a:t>Registered taxpayers are entitled to file tax returns either monthly or quarterly</a:t>
            </a:r>
          </a:p>
          <a:p>
            <a:pPr lvl="1"/>
            <a:r>
              <a:rPr lang="en-US" dirty="0"/>
              <a:t>In some countries those businesses below the threshold are asked to pay a turnover tax (not best practice)</a:t>
            </a:r>
          </a:p>
          <a:p>
            <a:r>
              <a:rPr lang="en-US" dirty="0"/>
              <a:t>Imports are Taxed (consumption is within the jurisdiction) </a:t>
            </a:r>
          </a:p>
          <a:p>
            <a:r>
              <a:rPr lang="en-US" dirty="0"/>
              <a:t>Exports are zero rated (consumption is not within the jurisdiction)</a:t>
            </a:r>
          </a:p>
          <a:p>
            <a:r>
              <a:rPr lang="en-US" dirty="0"/>
              <a:t>Very difficult to levy this tax effectively in a sub-national jurisdiction</a:t>
            </a:r>
          </a:p>
          <a:p>
            <a:pPr lvl="1"/>
            <a:r>
              <a:rPr lang="en-US" dirty="0"/>
              <a:t>Difficult to identify place of supply, double taxation may result, national input credit mechanism is required</a:t>
            </a:r>
          </a:p>
          <a:p>
            <a:endParaRPr lang="en-US" dirty="0"/>
          </a:p>
        </p:txBody>
      </p:sp>
    </p:spTree>
    <p:extLst>
      <p:ext uri="{BB962C8B-B14F-4D97-AF65-F5344CB8AC3E}">
        <p14:creationId xmlns:p14="http://schemas.microsoft.com/office/powerpoint/2010/main" val="3003623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312"/>
            <a:ext cx="10515600" cy="849078"/>
          </a:xfrm>
        </p:spPr>
        <p:txBody>
          <a:bodyPr/>
          <a:lstStyle/>
          <a:p>
            <a:r>
              <a:rPr lang="en-US" dirty="0"/>
              <a:t>VAT (Input Tax Credit)</a:t>
            </a:r>
          </a:p>
        </p:txBody>
      </p:sp>
      <p:sp>
        <p:nvSpPr>
          <p:cNvPr id="3" name="Content Placeholder 2"/>
          <p:cNvSpPr>
            <a:spLocks noGrp="1"/>
          </p:cNvSpPr>
          <p:nvPr>
            <p:ph idx="1"/>
          </p:nvPr>
        </p:nvSpPr>
        <p:spPr>
          <a:xfrm>
            <a:off x="838200" y="929390"/>
            <a:ext cx="7067862" cy="5247573"/>
          </a:xfrm>
        </p:spPr>
        <p:txBody>
          <a:bodyPr/>
          <a:lstStyle/>
          <a:p>
            <a:pPr marL="0" indent="0">
              <a:buNone/>
            </a:pPr>
            <a:endParaRPr lang="en-US" dirty="0"/>
          </a:p>
        </p:txBody>
      </p:sp>
      <p:sp>
        <p:nvSpPr>
          <p:cNvPr id="49" name="TextBox 48"/>
          <p:cNvSpPr txBox="1"/>
          <p:nvPr/>
        </p:nvSpPr>
        <p:spPr>
          <a:xfrm>
            <a:off x="7906062" y="1424066"/>
            <a:ext cx="3447738" cy="5355312"/>
          </a:xfrm>
          <a:prstGeom prst="rect">
            <a:avLst/>
          </a:prstGeom>
          <a:noFill/>
        </p:spPr>
        <p:txBody>
          <a:bodyPr wrap="square" rtlCol="0">
            <a:spAutoFit/>
          </a:bodyPr>
          <a:lstStyle/>
          <a:p>
            <a:r>
              <a:rPr lang="en-US" b="1" dirty="0"/>
              <a:t>Tax Calculation for Farmer </a:t>
            </a:r>
            <a:r>
              <a:rPr lang="en-US" dirty="0"/>
              <a:t>(VAT Rate= 10%)</a:t>
            </a:r>
          </a:p>
          <a:p>
            <a:endParaRPr lang="en-US" dirty="0"/>
          </a:p>
          <a:p>
            <a:r>
              <a:rPr lang="en-US" dirty="0"/>
              <a:t>VAT on Sales = (40 + 80 + 60 + 20)*10% = 20</a:t>
            </a:r>
          </a:p>
          <a:p>
            <a:endParaRPr lang="en-US" dirty="0"/>
          </a:p>
          <a:p>
            <a:r>
              <a:rPr lang="en-US" dirty="0"/>
              <a:t>Input Credits = (20 + 40)*10% = 6</a:t>
            </a:r>
          </a:p>
          <a:p>
            <a:endParaRPr lang="en-US" dirty="0"/>
          </a:p>
          <a:p>
            <a:r>
              <a:rPr lang="en-US" dirty="0"/>
              <a:t>VAT payable = 20 – 6 = 14</a:t>
            </a:r>
          </a:p>
          <a:p>
            <a:endParaRPr lang="en-US" dirty="0"/>
          </a:p>
          <a:p>
            <a:r>
              <a:rPr lang="en-US" b="1" dirty="0"/>
              <a:t>Tax Calculation for Baker </a:t>
            </a:r>
            <a:r>
              <a:rPr lang="en-US" dirty="0"/>
              <a:t>(VAT Rate= 10%)</a:t>
            </a:r>
          </a:p>
          <a:p>
            <a:endParaRPr lang="en-US" dirty="0"/>
          </a:p>
          <a:p>
            <a:r>
              <a:rPr lang="en-US" dirty="0"/>
              <a:t>VAT on Sales = (80 + 100 + 10 + 50)*10% = 24</a:t>
            </a:r>
          </a:p>
          <a:p>
            <a:endParaRPr lang="en-US" dirty="0"/>
          </a:p>
          <a:p>
            <a:r>
              <a:rPr lang="en-US" dirty="0"/>
              <a:t>Input Credits = (40 + 80)*10% = 12</a:t>
            </a:r>
          </a:p>
          <a:p>
            <a:endParaRPr lang="en-US" dirty="0"/>
          </a:p>
          <a:p>
            <a:r>
              <a:rPr lang="en-US" dirty="0"/>
              <a:t>VAT payable = 24 – 12 = 12</a:t>
            </a:r>
          </a:p>
        </p:txBody>
      </p:sp>
      <p:pic>
        <p:nvPicPr>
          <p:cNvPr id="51" name="Picture 50"/>
          <p:cNvPicPr>
            <a:picLocks noChangeAspect="1"/>
          </p:cNvPicPr>
          <p:nvPr/>
        </p:nvPicPr>
        <p:blipFill>
          <a:blip r:embed="rId2"/>
          <a:stretch>
            <a:fillRect/>
          </a:stretch>
        </p:blipFill>
        <p:spPr>
          <a:xfrm>
            <a:off x="458681" y="1623274"/>
            <a:ext cx="6688343" cy="5234726"/>
          </a:xfrm>
          <a:prstGeom prst="rect">
            <a:avLst/>
          </a:prstGeom>
        </p:spPr>
      </p:pic>
    </p:spTree>
    <p:extLst>
      <p:ext uri="{BB962C8B-B14F-4D97-AF65-F5344CB8AC3E}">
        <p14:creationId xmlns:p14="http://schemas.microsoft.com/office/powerpoint/2010/main" val="1454352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312"/>
            <a:ext cx="10515600" cy="849078"/>
          </a:xfrm>
        </p:spPr>
        <p:txBody>
          <a:bodyPr/>
          <a:lstStyle/>
          <a:p>
            <a:r>
              <a:rPr lang="en-US" dirty="0"/>
              <a:t>VAT (Exemption on Inputs)</a:t>
            </a:r>
          </a:p>
        </p:txBody>
      </p:sp>
      <p:sp>
        <p:nvSpPr>
          <p:cNvPr id="3" name="Content Placeholder 2"/>
          <p:cNvSpPr>
            <a:spLocks noGrp="1"/>
          </p:cNvSpPr>
          <p:nvPr>
            <p:ph idx="1"/>
          </p:nvPr>
        </p:nvSpPr>
        <p:spPr>
          <a:xfrm>
            <a:off x="838200" y="929390"/>
            <a:ext cx="7067862" cy="5247573"/>
          </a:xfrm>
        </p:spPr>
        <p:txBody>
          <a:bodyPr/>
          <a:lstStyle/>
          <a:p>
            <a:r>
              <a:rPr lang="en-US" dirty="0"/>
              <a:t>Exemptions are those sales/supplies which are not taxable (example – if Seeds are exempt)</a:t>
            </a:r>
          </a:p>
        </p:txBody>
      </p:sp>
      <p:sp>
        <p:nvSpPr>
          <p:cNvPr id="49" name="TextBox 48"/>
          <p:cNvSpPr txBox="1"/>
          <p:nvPr/>
        </p:nvSpPr>
        <p:spPr>
          <a:xfrm>
            <a:off x="7906062" y="875520"/>
            <a:ext cx="3447738" cy="5632311"/>
          </a:xfrm>
          <a:prstGeom prst="rect">
            <a:avLst/>
          </a:prstGeom>
          <a:noFill/>
        </p:spPr>
        <p:txBody>
          <a:bodyPr wrap="square" rtlCol="0">
            <a:spAutoFit/>
          </a:bodyPr>
          <a:lstStyle/>
          <a:p>
            <a:r>
              <a:rPr lang="en-US" b="1" dirty="0"/>
              <a:t>Tax Calculation for Farmer </a:t>
            </a:r>
            <a:r>
              <a:rPr lang="en-US" dirty="0"/>
              <a:t>(VAT Rate= 10% and supply of Seeds are Exempt)</a:t>
            </a:r>
          </a:p>
          <a:p>
            <a:endParaRPr lang="en-US" dirty="0"/>
          </a:p>
          <a:p>
            <a:r>
              <a:rPr lang="en-US" dirty="0"/>
              <a:t>VAT on Sales = (40 + 80 + 60 + 20)*10% = 20</a:t>
            </a:r>
          </a:p>
          <a:p>
            <a:endParaRPr lang="en-US" dirty="0"/>
          </a:p>
          <a:p>
            <a:r>
              <a:rPr lang="en-US" dirty="0"/>
              <a:t>Input Credits = (0 + 40)*10% = 4</a:t>
            </a:r>
          </a:p>
          <a:p>
            <a:endParaRPr lang="en-US" dirty="0"/>
          </a:p>
          <a:p>
            <a:r>
              <a:rPr lang="en-US" dirty="0"/>
              <a:t>VAT payable = 20 – 4 = 16</a:t>
            </a:r>
          </a:p>
          <a:p>
            <a:endParaRPr lang="en-US" dirty="0"/>
          </a:p>
          <a:p>
            <a:r>
              <a:rPr lang="en-US" b="1" dirty="0"/>
              <a:t>Tax Calculation for Baker </a:t>
            </a:r>
            <a:r>
              <a:rPr lang="en-US" dirty="0"/>
              <a:t>(VAT Rate= 10%)</a:t>
            </a:r>
          </a:p>
          <a:p>
            <a:endParaRPr lang="en-US" dirty="0"/>
          </a:p>
          <a:p>
            <a:r>
              <a:rPr lang="en-US" dirty="0"/>
              <a:t>VAT on Sales = (80 + 100 + 10 + 50)*10% = 24</a:t>
            </a:r>
          </a:p>
          <a:p>
            <a:endParaRPr lang="en-US" dirty="0"/>
          </a:p>
          <a:p>
            <a:r>
              <a:rPr lang="en-US" dirty="0"/>
              <a:t>Input Credits = (40 + 80)*10% = 12</a:t>
            </a:r>
          </a:p>
          <a:p>
            <a:endParaRPr lang="en-US" dirty="0"/>
          </a:p>
          <a:p>
            <a:r>
              <a:rPr lang="en-US" dirty="0"/>
              <a:t>VAT payable = 24 – 12 = 12</a:t>
            </a:r>
          </a:p>
        </p:txBody>
      </p:sp>
      <p:pic>
        <p:nvPicPr>
          <p:cNvPr id="4" name="Picture 3"/>
          <p:cNvPicPr>
            <a:picLocks noChangeAspect="1"/>
          </p:cNvPicPr>
          <p:nvPr/>
        </p:nvPicPr>
        <p:blipFill>
          <a:blip r:embed="rId2"/>
          <a:stretch>
            <a:fillRect/>
          </a:stretch>
        </p:blipFill>
        <p:spPr>
          <a:xfrm>
            <a:off x="428353" y="2093261"/>
            <a:ext cx="6688343" cy="5520035"/>
          </a:xfrm>
          <a:prstGeom prst="rect">
            <a:avLst/>
          </a:prstGeom>
        </p:spPr>
      </p:pic>
    </p:spTree>
    <p:extLst>
      <p:ext uri="{BB962C8B-B14F-4D97-AF65-F5344CB8AC3E}">
        <p14:creationId xmlns:p14="http://schemas.microsoft.com/office/powerpoint/2010/main" val="2367064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312"/>
            <a:ext cx="10515600" cy="849078"/>
          </a:xfrm>
        </p:spPr>
        <p:txBody>
          <a:bodyPr/>
          <a:lstStyle/>
          <a:p>
            <a:r>
              <a:rPr lang="en-US" dirty="0"/>
              <a:t>VAT (Exemption on Sales)</a:t>
            </a:r>
          </a:p>
        </p:txBody>
      </p:sp>
      <p:sp>
        <p:nvSpPr>
          <p:cNvPr id="3" name="Content Placeholder 2"/>
          <p:cNvSpPr>
            <a:spLocks noGrp="1"/>
          </p:cNvSpPr>
          <p:nvPr>
            <p:ph idx="1"/>
          </p:nvPr>
        </p:nvSpPr>
        <p:spPr>
          <a:xfrm>
            <a:off x="838200" y="929390"/>
            <a:ext cx="7067862" cy="5247573"/>
          </a:xfrm>
        </p:spPr>
        <p:txBody>
          <a:bodyPr>
            <a:normAutofit/>
          </a:bodyPr>
          <a:lstStyle/>
          <a:p>
            <a:r>
              <a:rPr lang="en-US" sz="2000" dirty="0"/>
              <a:t>Exemptions on Sales are a little more complicated (example - if Wheat is exempt)</a:t>
            </a:r>
          </a:p>
          <a:p>
            <a:r>
              <a:rPr lang="en-US" sz="2000" dirty="0"/>
              <a:t>If a business only made Exempt Sales it would not be entitled to be registered</a:t>
            </a:r>
          </a:p>
        </p:txBody>
      </p:sp>
      <p:sp>
        <p:nvSpPr>
          <p:cNvPr id="49" name="TextBox 48"/>
          <p:cNvSpPr txBox="1"/>
          <p:nvPr/>
        </p:nvSpPr>
        <p:spPr>
          <a:xfrm>
            <a:off x="7906060" y="321522"/>
            <a:ext cx="4285939" cy="6186309"/>
          </a:xfrm>
          <a:prstGeom prst="rect">
            <a:avLst/>
          </a:prstGeom>
          <a:noFill/>
        </p:spPr>
        <p:txBody>
          <a:bodyPr wrap="square" rtlCol="0">
            <a:spAutoFit/>
          </a:bodyPr>
          <a:lstStyle/>
          <a:p>
            <a:r>
              <a:rPr lang="en-US" b="1" dirty="0"/>
              <a:t>Tax Calculation for Farmer </a:t>
            </a:r>
            <a:r>
              <a:rPr lang="en-US" dirty="0"/>
              <a:t>(VAT Rate= 10% and supply of Wheat is Exempt)</a:t>
            </a:r>
          </a:p>
          <a:p>
            <a:endParaRPr lang="en-US" dirty="0"/>
          </a:p>
          <a:p>
            <a:r>
              <a:rPr lang="en-US" dirty="0"/>
              <a:t>VAT on Sales = 40*0% + (80 +  20)*10% + 60*0% = 10</a:t>
            </a:r>
          </a:p>
          <a:p>
            <a:endParaRPr lang="en-US" dirty="0"/>
          </a:p>
          <a:p>
            <a:r>
              <a:rPr lang="en-US" dirty="0"/>
              <a:t>Input Credits = (20 + 40)*10% = 6</a:t>
            </a:r>
          </a:p>
          <a:p>
            <a:endParaRPr lang="en-US" dirty="0"/>
          </a:p>
          <a:p>
            <a:r>
              <a:rPr lang="en-US" dirty="0"/>
              <a:t>Input Credit Disallowance (disallow input credits in the ratio of exempt sales to total Sales) = 6*(40+60)/(40+60+80+20)=6*0.5=3</a:t>
            </a:r>
          </a:p>
          <a:p>
            <a:endParaRPr lang="en-US" dirty="0"/>
          </a:p>
          <a:p>
            <a:r>
              <a:rPr lang="en-US" dirty="0"/>
              <a:t>VAT payable = 10 – (6-3) = 7</a:t>
            </a:r>
          </a:p>
          <a:p>
            <a:endParaRPr lang="en-US" dirty="0"/>
          </a:p>
          <a:p>
            <a:r>
              <a:rPr lang="en-US" b="1" dirty="0"/>
              <a:t>Tax Calculation for Baker </a:t>
            </a:r>
            <a:r>
              <a:rPr lang="en-US" dirty="0"/>
              <a:t>(VAT Rate= 10%)</a:t>
            </a:r>
          </a:p>
          <a:p>
            <a:endParaRPr lang="en-US" dirty="0"/>
          </a:p>
          <a:p>
            <a:r>
              <a:rPr lang="en-US" dirty="0"/>
              <a:t>VAT on Sales = (80 + 100 + 10 + 50)*10% = 24</a:t>
            </a:r>
          </a:p>
          <a:p>
            <a:endParaRPr lang="en-US" dirty="0"/>
          </a:p>
          <a:p>
            <a:r>
              <a:rPr lang="en-US" dirty="0"/>
              <a:t>Input Credits = (0 + 80)*10% = 8</a:t>
            </a:r>
          </a:p>
          <a:p>
            <a:endParaRPr lang="en-US" dirty="0"/>
          </a:p>
          <a:p>
            <a:r>
              <a:rPr lang="en-US" dirty="0"/>
              <a:t>VAT payable = 24 – 8 = 16</a:t>
            </a:r>
          </a:p>
        </p:txBody>
      </p:sp>
      <p:pic>
        <p:nvPicPr>
          <p:cNvPr id="53" name="Picture 52"/>
          <p:cNvPicPr>
            <a:picLocks noChangeAspect="1"/>
          </p:cNvPicPr>
          <p:nvPr/>
        </p:nvPicPr>
        <p:blipFill>
          <a:blip r:embed="rId2"/>
          <a:stretch>
            <a:fillRect/>
          </a:stretch>
        </p:blipFill>
        <p:spPr>
          <a:xfrm>
            <a:off x="1027959" y="2082795"/>
            <a:ext cx="6688343" cy="4297937"/>
          </a:xfrm>
          <a:prstGeom prst="rect">
            <a:avLst/>
          </a:prstGeom>
        </p:spPr>
      </p:pic>
    </p:spTree>
    <p:extLst>
      <p:ext uri="{BB962C8B-B14F-4D97-AF65-F5344CB8AC3E}">
        <p14:creationId xmlns:p14="http://schemas.microsoft.com/office/powerpoint/2010/main" val="2243801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312"/>
            <a:ext cx="10515600" cy="849078"/>
          </a:xfrm>
        </p:spPr>
        <p:txBody>
          <a:bodyPr/>
          <a:lstStyle/>
          <a:p>
            <a:r>
              <a:rPr lang="en-US" dirty="0"/>
              <a:t>VAT (Zero rating)</a:t>
            </a:r>
          </a:p>
        </p:txBody>
      </p:sp>
      <p:sp>
        <p:nvSpPr>
          <p:cNvPr id="3" name="Content Placeholder 2"/>
          <p:cNvSpPr>
            <a:spLocks noGrp="1"/>
          </p:cNvSpPr>
          <p:nvPr>
            <p:ph idx="1"/>
          </p:nvPr>
        </p:nvSpPr>
        <p:spPr>
          <a:xfrm>
            <a:off x="838200" y="929390"/>
            <a:ext cx="8252082" cy="5247573"/>
          </a:xfrm>
        </p:spPr>
        <p:txBody>
          <a:bodyPr>
            <a:normAutofit/>
          </a:bodyPr>
          <a:lstStyle/>
          <a:p>
            <a:r>
              <a:rPr lang="en-US" sz="2000" dirty="0"/>
              <a:t>Zero Rating is taxing sales at 0% with all input credits being made available (example - if Wheat is zero rated)</a:t>
            </a:r>
          </a:p>
          <a:p>
            <a:r>
              <a:rPr lang="en-US" sz="2000" dirty="0"/>
              <a:t>If a business only made zero rated sales a refund would be available </a:t>
            </a:r>
          </a:p>
          <a:p>
            <a:r>
              <a:rPr lang="en-US" sz="2000" dirty="0"/>
              <a:t>If a business only made zero rated sales it would be entitled to be registered</a:t>
            </a:r>
          </a:p>
        </p:txBody>
      </p:sp>
      <p:sp>
        <p:nvSpPr>
          <p:cNvPr id="49" name="TextBox 48"/>
          <p:cNvSpPr txBox="1"/>
          <p:nvPr/>
        </p:nvSpPr>
        <p:spPr>
          <a:xfrm>
            <a:off x="9090283" y="321522"/>
            <a:ext cx="3081730" cy="6463308"/>
          </a:xfrm>
          <a:prstGeom prst="rect">
            <a:avLst/>
          </a:prstGeom>
          <a:noFill/>
        </p:spPr>
        <p:txBody>
          <a:bodyPr wrap="square" rtlCol="0">
            <a:spAutoFit/>
          </a:bodyPr>
          <a:lstStyle/>
          <a:p>
            <a:r>
              <a:rPr lang="en-US" b="1" dirty="0"/>
              <a:t>Tax Calculation for Farmer </a:t>
            </a:r>
            <a:r>
              <a:rPr lang="en-US" dirty="0"/>
              <a:t>(VAT Rate= 10% and supply of Wheat is Zero Rated)</a:t>
            </a:r>
          </a:p>
          <a:p>
            <a:endParaRPr lang="en-US" dirty="0"/>
          </a:p>
          <a:p>
            <a:r>
              <a:rPr lang="en-US" dirty="0"/>
              <a:t>VAT on Sales = 40*0% + (80 +  20)*10% + 60*0% = 10</a:t>
            </a:r>
          </a:p>
          <a:p>
            <a:endParaRPr lang="en-US" dirty="0"/>
          </a:p>
          <a:p>
            <a:r>
              <a:rPr lang="en-US" dirty="0"/>
              <a:t>Input Credits = (20 + 40)*10% = 6</a:t>
            </a:r>
          </a:p>
          <a:p>
            <a:endParaRPr lang="en-US" dirty="0"/>
          </a:p>
          <a:p>
            <a:endParaRPr lang="en-US" dirty="0"/>
          </a:p>
          <a:p>
            <a:r>
              <a:rPr lang="en-US" dirty="0"/>
              <a:t>VAT payable = 10 – 6 = 4</a:t>
            </a:r>
          </a:p>
          <a:p>
            <a:endParaRPr lang="en-US" dirty="0"/>
          </a:p>
          <a:p>
            <a:r>
              <a:rPr lang="en-US" b="1" dirty="0"/>
              <a:t>Tax Calculation for Baker </a:t>
            </a:r>
            <a:r>
              <a:rPr lang="en-US" dirty="0"/>
              <a:t>(VAT Rate= 10%)</a:t>
            </a:r>
          </a:p>
          <a:p>
            <a:endParaRPr lang="en-US" dirty="0"/>
          </a:p>
          <a:p>
            <a:r>
              <a:rPr lang="en-US" dirty="0"/>
              <a:t>VAT on Sales = (80 + 100 + 10 + 50)*10% = 24</a:t>
            </a:r>
          </a:p>
          <a:p>
            <a:endParaRPr lang="en-US" dirty="0"/>
          </a:p>
          <a:p>
            <a:r>
              <a:rPr lang="en-US" dirty="0"/>
              <a:t>Input Credits = (0 + 80)*10% = 8</a:t>
            </a:r>
          </a:p>
          <a:p>
            <a:endParaRPr lang="en-US" dirty="0"/>
          </a:p>
          <a:p>
            <a:r>
              <a:rPr lang="en-US" dirty="0"/>
              <a:t>VAT payable = 24 – 8 = 16</a:t>
            </a:r>
          </a:p>
        </p:txBody>
      </p:sp>
      <p:pic>
        <p:nvPicPr>
          <p:cNvPr id="58" name="Picture 57"/>
          <p:cNvPicPr>
            <a:picLocks noChangeAspect="1"/>
          </p:cNvPicPr>
          <p:nvPr/>
        </p:nvPicPr>
        <p:blipFill>
          <a:blip r:embed="rId2"/>
          <a:stretch>
            <a:fillRect/>
          </a:stretch>
        </p:blipFill>
        <p:spPr>
          <a:xfrm>
            <a:off x="1387723" y="2182959"/>
            <a:ext cx="6688343" cy="4297937"/>
          </a:xfrm>
          <a:prstGeom prst="rect">
            <a:avLst/>
          </a:prstGeom>
        </p:spPr>
      </p:pic>
    </p:spTree>
    <p:extLst>
      <p:ext uri="{BB962C8B-B14F-4D97-AF65-F5344CB8AC3E}">
        <p14:creationId xmlns:p14="http://schemas.microsoft.com/office/powerpoint/2010/main" val="2244388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26"/>
          <p:cNvSpPr>
            <a:spLocks noGrp="1" noChangeArrowheads="1"/>
          </p:cNvSpPr>
          <p:nvPr>
            <p:ph type="title"/>
          </p:nvPr>
        </p:nvSpPr>
        <p:spPr>
          <a:xfrm>
            <a:off x="838200" y="365125"/>
            <a:ext cx="10515600" cy="981537"/>
          </a:xfrm>
        </p:spPr>
        <p:txBody>
          <a:bodyPr>
            <a:normAutofit fontScale="90000"/>
          </a:bodyPr>
          <a:lstStyle/>
          <a:p>
            <a:pPr algn="ctr" eaLnBrk="1" hangingPunct="1"/>
            <a:r>
              <a:rPr lang="en-US" altLang="en-US" sz="3600" b="1" dirty="0">
                <a:latin typeface="Times New Roman" panose="02020603050405020304" pitchFamily="18" charset="0"/>
                <a:cs typeface="Times New Roman" panose="02020603050405020304" pitchFamily="18" charset="0"/>
              </a:rPr>
              <a:t>INDIRECT TAXES: </a:t>
            </a:r>
            <a:r>
              <a:rPr lang="en-US" altLang="en-US" sz="3600" b="1" i="1" dirty="0">
                <a:latin typeface="Times New Roman" panose="02020603050405020304" pitchFamily="18" charset="0"/>
                <a:cs typeface="Times New Roman" panose="02020603050405020304" pitchFamily="18" charset="0"/>
              </a:rPr>
              <a:t>Excises, Sales tax, VAT, Trade Taxes</a:t>
            </a:r>
            <a:r>
              <a:rPr lang="en-US" altLang="en-US" sz="3600" dirty="0">
                <a:latin typeface="Times New Roman" panose="02020603050405020304" pitchFamily="18" charset="0"/>
                <a:cs typeface="Times New Roman" panose="02020603050405020304" pitchFamily="18" charset="0"/>
              </a:rPr>
              <a:t> </a:t>
            </a:r>
            <a:br>
              <a:rPr lang="en-US" altLang="en-US" sz="2800" dirty="0"/>
            </a:br>
            <a:endParaRPr lang="en-US" altLang="en-US" sz="2800" dirty="0"/>
          </a:p>
        </p:txBody>
      </p:sp>
      <p:sp>
        <p:nvSpPr>
          <p:cNvPr id="12291" name="Rectangle 1027"/>
          <p:cNvSpPr>
            <a:spLocks noGrp="1" noChangeArrowheads="1"/>
          </p:cNvSpPr>
          <p:nvPr>
            <p:ph type="body" idx="1"/>
          </p:nvPr>
        </p:nvSpPr>
        <p:spPr>
          <a:xfrm>
            <a:off x="1679171" y="1346662"/>
            <a:ext cx="9044247" cy="4754880"/>
          </a:xfrm>
        </p:spPr>
        <p:txBody>
          <a:bodyPr>
            <a:normAutofit/>
          </a:bodyPr>
          <a:lstStyle/>
          <a:p>
            <a:pPr algn="just" eaLnBrk="1" hangingPunct="1">
              <a:lnSpc>
                <a:spcPct val="90000"/>
              </a:lnSpc>
              <a:buFontTx/>
              <a:buNone/>
            </a:pPr>
            <a:r>
              <a:rPr lang="en-US" altLang="en-US" sz="2200" b="1" dirty="0">
                <a:cs typeface="Times New Roman" panose="02020603050405020304" pitchFamily="18" charset="0"/>
              </a:rPr>
              <a:t>   </a:t>
            </a:r>
            <a:r>
              <a:rPr lang="en-US" altLang="en-US" sz="2400" b="1" i="1" dirty="0">
                <a:latin typeface="Times New Roman" panose="02020603050405020304" pitchFamily="18" charset="0"/>
                <a:cs typeface="Times New Roman" panose="02020603050405020304" pitchFamily="18" charset="0"/>
              </a:rPr>
              <a:t>Direct Vs Indirect Taxes</a:t>
            </a:r>
            <a:endParaRPr lang="en-US" altLang="en-US" sz="2400" b="1"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sz="2400" dirty="0">
                <a:latin typeface="Times New Roman" panose="02020603050405020304" pitchFamily="18" charset="0"/>
                <a:cs typeface="Times New Roman" panose="02020603050405020304" pitchFamily="18" charset="0"/>
              </a:rPr>
              <a:t>Direct taxes are income tax on individuals or firms (legal or real persons/ entities), difficult to hide and therefore politically less acceptable. </a:t>
            </a:r>
            <a:r>
              <a:rPr lang="en-US" altLang="en-US" sz="2400" dirty="0">
                <a:solidFill>
                  <a:srgbClr val="FF0000"/>
                </a:solidFill>
                <a:latin typeface="Times New Roman" panose="02020603050405020304" pitchFamily="18" charset="0"/>
                <a:cs typeface="Times New Roman" panose="02020603050405020304" pitchFamily="18" charset="0"/>
              </a:rPr>
              <a:t>Can be made progressive, more revenue elastic, less distortionary (being a more general tax) but hard to administer</a:t>
            </a:r>
            <a:r>
              <a:rPr lang="en-US" altLang="en-US" sz="2400" dirty="0">
                <a:latin typeface="Times New Roman" panose="02020603050405020304" pitchFamily="18" charset="0"/>
                <a:cs typeface="Times New Roman" panose="02020603050405020304" pitchFamily="18" charset="0"/>
              </a:rPr>
              <a:t>.  </a:t>
            </a:r>
          </a:p>
          <a:p>
            <a:pPr algn="just" eaLnBrk="1" hangingPunct="1">
              <a:lnSpc>
                <a:spcPct val="90000"/>
              </a:lnSpc>
            </a:pPr>
            <a:r>
              <a:rPr lang="en-US" altLang="en-US" sz="2400" dirty="0">
                <a:latin typeface="Times New Roman" panose="02020603050405020304" pitchFamily="18" charset="0"/>
                <a:cs typeface="Times New Roman" panose="02020603050405020304" pitchFamily="18" charset="0"/>
              </a:rPr>
              <a:t>Indirect taxes levied on consumption or trade transactions – both internal and external - of specified goods and services (on things). Sales tax comparatively easy to hide so politically more acceptable (not VAT), </a:t>
            </a:r>
            <a:r>
              <a:rPr lang="en-US" altLang="en-US" sz="2400" dirty="0">
                <a:solidFill>
                  <a:srgbClr val="FF0000"/>
                </a:solidFill>
                <a:latin typeface="Times New Roman" panose="02020603050405020304" pitchFamily="18" charset="0"/>
                <a:cs typeface="Times New Roman" panose="02020603050405020304" pitchFamily="18" charset="0"/>
              </a:rPr>
              <a:t>less revenue elastic, more distortionary, and easy to administer</a:t>
            </a:r>
            <a:r>
              <a:rPr lang="en-US" altLang="en-US" sz="2400" dirty="0">
                <a:latin typeface="Times New Roman" panose="02020603050405020304" pitchFamily="18" charset="0"/>
                <a:cs typeface="Times New Roman" panose="02020603050405020304" pitchFamily="18" charset="0"/>
              </a:rPr>
              <a:t>. Can be made progressive to some extent by taxing luxuries. Tax can be avoided by changing consumption pattern.</a:t>
            </a:r>
            <a:r>
              <a:rPr lang="en-US" altLang="en-US" sz="2400" b="1" dirty="0">
                <a:latin typeface="Times New Roman" panose="02020603050405020304" pitchFamily="18" charset="0"/>
                <a:cs typeface="Times New Roman" panose="02020603050405020304" pitchFamily="18" charset="0"/>
              </a:rPr>
              <a:t>  </a:t>
            </a:r>
          </a:p>
          <a:p>
            <a:pPr eaLnBrk="1" hangingPunct="1">
              <a:lnSpc>
                <a:spcPct val="90000"/>
              </a:lnSpc>
            </a:pPr>
            <a:r>
              <a:rPr lang="en-US" altLang="en-US" sz="2400" dirty="0">
                <a:latin typeface="Times New Roman" panose="02020603050405020304" pitchFamily="18" charset="0"/>
                <a:cs typeface="Times New Roman" panose="02020603050405020304" pitchFamily="18" charset="0"/>
              </a:rPr>
              <a:t>Traditionally, less developed countries relied more on indirect taxes (easy to administer); and developed countries on direct taxes.</a:t>
            </a:r>
          </a:p>
          <a:p>
            <a:pPr algn="just" eaLnBrk="1" hangingPunct="1">
              <a:lnSpc>
                <a:spcPct val="90000"/>
              </a:lnSpc>
              <a:buFontTx/>
              <a:buNone/>
            </a:pPr>
            <a:endParaRPr lang="en-US" altLang="en-US" sz="2200" dirty="0">
              <a:cs typeface="Times New Roman" panose="02020603050405020304" pitchFamily="18" charset="0"/>
            </a:endParaRPr>
          </a:p>
          <a:p>
            <a:pPr eaLnBrk="1" hangingPunct="1">
              <a:lnSpc>
                <a:spcPct val="90000"/>
              </a:lnSpc>
              <a:buFontTx/>
              <a:buNone/>
            </a:pPr>
            <a:endParaRPr lang="en-US" altLang="en-US" dirty="0"/>
          </a:p>
        </p:txBody>
      </p:sp>
    </p:spTree>
    <p:extLst>
      <p:ext uri="{BB962C8B-B14F-4D97-AF65-F5344CB8AC3E}">
        <p14:creationId xmlns:p14="http://schemas.microsoft.com/office/powerpoint/2010/main" val="3653743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838200" y="365125"/>
            <a:ext cx="10515600" cy="915035"/>
          </a:xfrm>
        </p:spPr>
        <p:txBody>
          <a:bodyPr>
            <a:normAutofit/>
          </a:bodyPr>
          <a:lstStyle/>
          <a:p>
            <a:pPr algn="ctr" eaLnBrk="1" hangingPunct="1"/>
            <a:r>
              <a:rPr lang="en-US" altLang="en-US" sz="3600" b="1" dirty="0">
                <a:latin typeface="Times New Roman" panose="02020603050405020304" pitchFamily="18" charset="0"/>
                <a:cs typeface="Times New Roman" panose="02020603050405020304" pitchFamily="18" charset="0"/>
              </a:rPr>
              <a:t>Some issues in the context of indirect taxes</a:t>
            </a:r>
          </a:p>
        </p:txBody>
      </p:sp>
      <p:sp>
        <p:nvSpPr>
          <p:cNvPr id="13315" name="Rectangle 3"/>
          <p:cNvSpPr>
            <a:spLocks noGrp="1" noChangeArrowheads="1"/>
          </p:cNvSpPr>
          <p:nvPr>
            <p:ph type="body" idx="1"/>
          </p:nvPr>
        </p:nvSpPr>
        <p:spPr>
          <a:xfrm>
            <a:off x="838200" y="1429789"/>
            <a:ext cx="10515600" cy="4962698"/>
          </a:xfrm>
        </p:spPr>
        <p:txBody>
          <a:bodyPr>
            <a:normAutofit lnSpcReduction="10000"/>
          </a:bodyPr>
          <a:lstStyle/>
          <a:p>
            <a:pPr algn="just" eaLnBrk="1" hangingPunct="1">
              <a:lnSpc>
                <a:spcPct val="90000"/>
              </a:lnSpc>
              <a:buFontTx/>
              <a:buNone/>
            </a:pPr>
            <a:r>
              <a:rPr lang="en-US" altLang="en-US" sz="2400" dirty="0">
                <a:latin typeface="Times New Roman" panose="02020603050405020304" pitchFamily="18" charset="0"/>
                <a:cs typeface="Times New Roman" panose="02020603050405020304" pitchFamily="18" charset="0"/>
              </a:rPr>
              <a:t>1. Is the tax on consumption alone or also on capital (investment) goods?  Is the base only C or both C+ I? The former is a proportional tax on consumption while the latter is more general and so less distortionary. </a:t>
            </a:r>
            <a:r>
              <a:rPr lang="en-US" altLang="en-US" sz="2400" i="1" dirty="0">
                <a:latin typeface="Times New Roman" panose="02020603050405020304" pitchFamily="18" charset="0"/>
                <a:cs typeface="Times New Roman" panose="02020603050405020304" pitchFamily="18" charset="0"/>
              </a:rPr>
              <a:t>But it causes cascading. </a:t>
            </a:r>
            <a:r>
              <a:rPr lang="en-US" altLang="en-US" sz="2400" dirty="0">
                <a:solidFill>
                  <a:srgbClr val="FF0000"/>
                </a:solidFill>
                <a:latin typeface="Times New Roman" panose="02020603050405020304" pitchFamily="18" charset="0"/>
                <a:cs typeface="Times New Roman" panose="02020603050405020304" pitchFamily="18" charset="0"/>
              </a:rPr>
              <a:t>Most countries tax consumption C and not investment I.</a:t>
            </a:r>
          </a:p>
          <a:p>
            <a:pPr algn="just" eaLnBrk="1" hangingPunct="1">
              <a:lnSpc>
                <a:spcPct val="90000"/>
              </a:lnSpc>
              <a:buFontTx/>
              <a:buNone/>
            </a:pPr>
            <a:r>
              <a:rPr lang="en-US" altLang="en-US" sz="2400" dirty="0">
                <a:latin typeface="Times New Roman" panose="02020603050405020304" pitchFamily="18" charset="0"/>
                <a:cs typeface="Times New Roman" panose="02020603050405020304" pitchFamily="18" charset="0"/>
              </a:rPr>
              <a:t>2. Origin vs. Destination Principle? In origin principle, tax imposed on all taxable products produced domestically (so exports are taxable while imports are not). In destination principle, tax applied on all taxable products consumed domestically (imports taxed but not exports).</a:t>
            </a:r>
          </a:p>
          <a:p>
            <a:pPr eaLnBrk="1" hangingPunct="1">
              <a:lnSpc>
                <a:spcPct val="90000"/>
              </a:lnSpc>
              <a:buFontTx/>
              <a:buNone/>
            </a:pPr>
            <a:r>
              <a:rPr lang="en-US" altLang="en-US" sz="2400" dirty="0">
                <a:latin typeface="Times New Roman" panose="02020603050405020304" pitchFamily="18" charset="0"/>
                <a:cs typeface="Times New Roman" panose="02020603050405020304" pitchFamily="18" charset="0"/>
              </a:rPr>
              <a:t> 	Consumption C = Production P – Exports X + Imports M</a:t>
            </a:r>
          </a:p>
          <a:p>
            <a:pPr eaLnBrk="1" hangingPunct="1">
              <a:lnSpc>
                <a:spcPct val="90000"/>
              </a:lnSpc>
              <a:buFontTx/>
              <a:buNone/>
            </a:pPr>
            <a:r>
              <a:rPr lang="en-US" altLang="en-US" sz="2400" dirty="0">
                <a:latin typeface="Times New Roman" panose="02020603050405020304" pitchFamily="18" charset="0"/>
                <a:cs typeface="Times New Roman" panose="02020603050405020304" pitchFamily="18" charset="0"/>
              </a:rPr>
              <a:t>	Alternatively; P = C – M + X</a:t>
            </a:r>
          </a:p>
          <a:p>
            <a:pPr eaLnBrk="1" hangingPunct="1">
              <a:lnSpc>
                <a:spcPct val="90000"/>
              </a:lnSpc>
              <a:buFontTx/>
              <a:buNone/>
            </a:pPr>
            <a:r>
              <a:rPr lang="en-US" altLang="en-US" sz="2400" dirty="0">
                <a:latin typeface="Times New Roman" panose="02020603050405020304" pitchFamily="18" charset="0"/>
                <a:cs typeface="Times New Roman" panose="02020603050405020304" pitchFamily="18" charset="0"/>
              </a:rPr>
              <a:t> 	In destination principle of taxation, C is taxed, in origin principle P is taxed. </a:t>
            </a:r>
          </a:p>
          <a:p>
            <a:pPr eaLnBrk="1" hangingPunct="1">
              <a:lnSpc>
                <a:spcPct val="90000"/>
              </a:lnSpc>
              <a:buFontTx/>
              <a:buNone/>
            </a:pPr>
            <a:r>
              <a:rPr lang="en-US" altLang="en-US" sz="2400" dirty="0">
                <a:solidFill>
                  <a:srgbClr val="FF0000"/>
                </a:solidFill>
                <a:latin typeface="Times New Roman" panose="02020603050405020304" pitchFamily="18" charset="0"/>
                <a:cs typeface="Times New Roman" panose="02020603050405020304" pitchFamily="18" charset="0"/>
              </a:rPr>
              <a:t>	Almost all countries use destination principle. However, OECD and EU countries are re-visiting this issue due to growth of digital commerce.</a:t>
            </a:r>
          </a:p>
        </p:txBody>
      </p:sp>
    </p:spTree>
    <p:extLst>
      <p:ext uri="{BB962C8B-B14F-4D97-AF65-F5344CB8AC3E}">
        <p14:creationId xmlns:p14="http://schemas.microsoft.com/office/powerpoint/2010/main" val="4093599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838200" y="365126"/>
            <a:ext cx="10515600" cy="898410"/>
          </a:xfrm>
        </p:spPr>
        <p:txBody>
          <a:bodyPr/>
          <a:lstStyle/>
          <a:p>
            <a:pPr algn="ctr" eaLnBrk="1" hangingPunct="1"/>
            <a:r>
              <a:rPr lang="en-US" altLang="en-US" sz="3200" b="1" dirty="0">
                <a:latin typeface="Times New Roman" panose="02020603050405020304" pitchFamily="18" charset="0"/>
                <a:cs typeface="Times New Roman" panose="02020603050405020304" pitchFamily="18" charset="0"/>
              </a:rPr>
              <a:t>SOME ISSUES </a:t>
            </a:r>
            <a:r>
              <a:rPr lang="en-US" altLang="en-US" sz="3200" b="1" i="1" dirty="0">
                <a:latin typeface="Times New Roman" panose="02020603050405020304" pitchFamily="18" charset="0"/>
                <a:cs typeface="Times New Roman" panose="02020603050405020304" pitchFamily="18" charset="0"/>
              </a:rPr>
              <a:t>(Contd.)</a:t>
            </a:r>
          </a:p>
        </p:txBody>
      </p:sp>
      <p:sp>
        <p:nvSpPr>
          <p:cNvPr id="14339" name="Rectangle 3"/>
          <p:cNvSpPr>
            <a:spLocks noGrp="1" noChangeArrowheads="1"/>
          </p:cNvSpPr>
          <p:nvPr>
            <p:ph type="body" idx="1"/>
          </p:nvPr>
        </p:nvSpPr>
        <p:spPr>
          <a:xfrm>
            <a:off x="838200" y="1496291"/>
            <a:ext cx="10515600" cy="4680672"/>
          </a:xfrm>
        </p:spPr>
        <p:txBody>
          <a:bodyPr/>
          <a:lstStyle/>
          <a:p>
            <a:pPr eaLnBrk="1" hangingPunct="1">
              <a:lnSpc>
                <a:spcPct val="90000"/>
              </a:lnSpc>
              <a:buFontTx/>
              <a:buNone/>
            </a:pPr>
            <a:r>
              <a:rPr lang="en-US" altLang="en-US" sz="2400" dirty="0">
                <a:latin typeface="Times New Roman" panose="02020603050405020304" pitchFamily="18" charset="0"/>
                <a:cs typeface="Times New Roman" panose="02020603050405020304" pitchFamily="18" charset="0"/>
              </a:rPr>
              <a:t>3. Single rate or multiple rates? Relevant for administration. </a:t>
            </a:r>
            <a:r>
              <a:rPr lang="en-US" altLang="en-US" sz="2400" dirty="0">
                <a:solidFill>
                  <a:srgbClr val="FF0000"/>
                </a:solidFill>
                <a:latin typeface="Times New Roman" panose="02020603050405020304" pitchFamily="18" charset="0"/>
                <a:cs typeface="Times New Roman" panose="02020603050405020304" pitchFamily="18" charset="0"/>
              </a:rPr>
              <a:t>Fewer rates improve administration and compliance.</a:t>
            </a:r>
          </a:p>
          <a:p>
            <a:pPr algn="just" eaLnBrk="1" hangingPunct="1">
              <a:lnSpc>
                <a:spcPct val="90000"/>
              </a:lnSpc>
              <a:buFontTx/>
              <a:buNone/>
            </a:pPr>
            <a:r>
              <a:rPr lang="en-US" altLang="en-US" sz="2400" dirty="0">
                <a:latin typeface="Times New Roman" panose="02020603050405020304" pitchFamily="18" charset="0"/>
                <a:cs typeface="Times New Roman" panose="02020603050405020304" pitchFamily="18" charset="0"/>
              </a:rPr>
              <a:t>4. </a:t>
            </a:r>
            <a:r>
              <a:rPr lang="en-US" altLang="en-US" sz="2400" dirty="0">
                <a:solidFill>
                  <a:srgbClr val="FF0000"/>
                </a:solidFill>
                <a:latin typeface="Times New Roman" panose="02020603050405020304" pitchFamily="18" charset="0"/>
                <a:cs typeface="Times New Roman" panose="02020603050405020304" pitchFamily="18" charset="0"/>
              </a:rPr>
              <a:t>Selective Vs general</a:t>
            </a:r>
            <a:r>
              <a:rPr lang="en-US" altLang="en-US" sz="2400" dirty="0">
                <a:latin typeface="Times New Roman" panose="02020603050405020304" pitchFamily="18" charset="0"/>
                <a:cs typeface="Times New Roman" panose="02020603050405020304" pitchFamily="18" charset="0"/>
              </a:rPr>
              <a:t>? Tax base wide (sales tax or VAT) or narrow (excises)? </a:t>
            </a:r>
          </a:p>
          <a:p>
            <a:pPr algn="just" eaLnBrk="1" hangingPunct="1">
              <a:lnSpc>
                <a:spcPct val="90000"/>
              </a:lnSpc>
              <a:buFontTx/>
              <a:buNone/>
            </a:pPr>
            <a:r>
              <a:rPr lang="en-US" altLang="en-US" sz="2400" dirty="0">
                <a:latin typeface="Times New Roman" panose="02020603050405020304" pitchFamily="18" charset="0"/>
                <a:cs typeface="Times New Roman" panose="02020603050405020304" pitchFamily="18" charset="0"/>
              </a:rPr>
              <a:t>5. </a:t>
            </a:r>
            <a:r>
              <a:rPr lang="en-US" altLang="en-US" sz="2400" dirty="0">
                <a:solidFill>
                  <a:srgbClr val="FF0000"/>
                </a:solidFill>
                <a:latin typeface="Times New Roman" panose="02020603050405020304" pitchFamily="18" charset="0"/>
                <a:cs typeface="Times New Roman" panose="02020603050405020304" pitchFamily="18" charset="0"/>
              </a:rPr>
              <a:t>Single stage or multiple stage in production chain?</a:t>
            </a:r>
          </a:p>
          <a:p>
            <a:pPr algn="just">
              <a:buNone/>
            </a:pPr>
            <a:r>
              <a:rPr lang="en-US" altLang="en-US" sz="2400" dirty="0">
                <a:latin typeface="Times New Roman" panose="02020603050405020304" pitchFamily="18" charset="0"/>
                <a:cs typeface="Times New Roman" panose="02020603050405020304" pitchFamily="18" charset="0"/>
              </a:rPr>
              <a:t>	Imposed only at one point in production/ distribution chain or at several points? Is it applied at manufacturing, wholesale, retail level or at all levels? (e.g. retail sales tax at the last point of sale vs. turnover tax or VAT at every stage). </a:t>
            </a:r>
          </a:p>
          <a:p>
            <a:pPr algn="just" eaLnBrk="1" hangingPunct="1">
              <a:lnSpc>
                <a:spcPct val="90000"/>
              </a:lnSpc>
              <a:buFontTx/>
              <a:buNone/>
            </a:pPr>
            <a:r>
              <a:rPr lang="en-US" altLang="en-US" sz="2400" dirty="0">
                <a:latin typeface="Times New Roman" panose="02020603050405020304" pitchFamily="18" charset="0"/>
                <a:cs typeface="Times New Roman" panose="02020603050405020304" pitchFamily="18" charset="0"/>
              </a:rPr>
              <a:t>6. </a:t>
            </a:r>
            <a:r>
              <a:rPr lang="en-US" altLang="en-US" sz="2400" dirty="0">
                <a:solidFill>
                  <a:srgbClr val="FF0000"/>
                </a:solidFill>
                <a:latin typeface="Times New Roman" panose="02020603050405020304" pitchFamily="18" charset="0"/>
                <a:cs typeface="Times New Roman" panose="02020603050405020304" pitchFamily="18" charset="0"/>
              </a:rPr>
              <a:t>Unit (specific) tax or ad valorem</a:t>
            </a:r>
            <a:r>
              <a:rPr lang="en-US" altLang="en-US" sz="2400" dirty="0">
                <a:latin typeface="Times New Roman" panose="02020603050405020304" pitchFamily="18" charset="0"/>
                <a:cs typeface="Times New Roman" panose="02020603050405020304" pitchFamily="18" charset="0"/>
              </a:rPr>
              <a:t>?</a:t>
            </a:r>
          </a:p>
          <a:p>
            <a:pPr algn="just" eaLnBrk="1" hangingPunct="1">
              <a:lnSpc>
                <a:spcPct val="90000"/>
              </a:lnSpc>
              <a:buFontTx/>
              <a:buNone/>
            </a:pPr>
            <a:r>
              <a:rPr lang="en-US" altLang="en-US" sz="2400" i="1" dirty="0">
                <a:latin typeface="Times New Roman" panose="02020603050405020304" pitchFamily="18" charset="0"/>
                <a:cs typeface="Times New Roman" panose="02020603050405020304" pitchFamily="18" charset="0"/>
              </a:rPr>
              <a:t>	Tax per unit</a:t>
            </a:r>
            <a:r>
              <a:rPr lang="en-US" altLang="en-US" sz="2400" dirty="0">
                <a:latin typeface="Times New Roman" panose="02020603050405020304" pitchFamily="18" charset="0"/>
                <a:cs typeface="Times New Roman" panose="02020603050405020304" pitchFamily="18" charset="0"/>
              </a:rPr>
              <a:t> (measured in weight, volume, or length)</a:t>
            </a:r>
          </a:p>
          <a:p>
            <a:pPr algn="just" eaLnBrk="1" hangingPunct="1">
              <a:lnSpc>
                <a:spcPct val="90000"/>
              </a:lnSpc>
              <a:buFontTx/>
              <a:buNone/>
            </a:pPr>
            <a:r>
              <a:rPr lang="en-US" altLang="en-US" sz="2400" dirty="0">
                <a:latin typeface="Times New Roman" panose="02020603050405020304" pitchFamily="18" charset="0"/>
                <a:cs typeface="Times New Roman" panose="02020603050405020304" pitchFamily="18" charset="0"/>
              </a:rPr>
              <a:t>	Tax liability = Quantity * Tax per unit = Q * T</a:t>
            </a:r>
          </a:p>
          <a:p>
            <a:pPr eaLnBrk="1" hangingPunct="1">
              <a:lnSpc>
                <a:spcPct val="90000"/>
              </a:lnSpc>
              <a:buFontTx/>
              <a:buNone/>
            </a:pPr>
            <a:endParaRPr lang="en-US" altLang="en-US" sz="2400" dirty="0"/>
          </a:p>
        </p:txBody>
      </p:sp>
    </p:spTree>
    <p:extLst>
      <p:ext uri="{BB962C8B-B14F-4D97-AF65-F5344CB8AC3E}">
        <p14:creationId xmlns:p14="http://schemas.microsoft.com/office/powerpoint/2010/main" val="1716089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209800" y="152400"/>
            <a:ext cx="7772400" cy="828502"/>
          </a:xfrm>
        </p:spPr>
        <p:txBody>
          <a:bodyPr>
            <a:normAutofit fontScale="90000"/>
          </a:bodyPr>
          <a:lstStyle/>
          <a:p>
            <a:pPr algn="ctr" eaLnBrk="1" hangingPunct="1"/>
            <a:r>
              <a:rPr lang="en-US" altLang="en-US" sz="3200" b="1" dirty="0">
                <a:latin typeface="Times New Roman" panose="02020603050405020304" pitchFamily="18" charset="0"/>
                <a:cs typeface="Times New Roman" panose="02020603050405020304" pitchFamily="18" charset="0"/>
              </a:rPr>
              <a:t>UNIT VERSUS </a:t>
            </a:r>
            <a:r>
              <a:rPr lang="en-US" altLang="en-US" sz="3600" b="1" dirty="0">
                <a:latin typeface="Times New Roman" panose="02020603050405020304" pitchFamily="18" charset="0"/>
                <a:cs typeface="Times New Roman" panose="02020603050405020304" pitchFamily="18" charset="0"/>
              </a:rPr>
              <a:t>AD</a:t>
            </a:r>
            <a:r>
              <a:rPr lang="en-US" altLang="en-US" sz="3200" b="1" dirty="0">
                <a:latin typeface="Times New Roman" panose="02020603050405020304" pitchFamily="18" charset="0"/>
                <a:cs typeface="Times New Roman" panose="02020603050405020304" pitchFamily="18" charset="0"/>
              </a:rPr>
              <a:t> VALOREM TAX RATES</a:t>
            </a:r>
          </a:p>
        </p:txBody>
      </p:sp>
      <p:sp>
        <p:nvSpPr>
          <p:cNvPr id="15363" name="Rectangle 3"/>
          <p:cNvSpPr>
            <a:spLocks noGrp="1" noChangeArrowheads="1"/>
          </p:cNvSpPr>
          <p:nvPr>
            <p:ph type="body" idx="1"/>
          </p:nvPr>
        </p:nvSpPr>
        <p:spPr>
          <a:xfrm>
            <a:off x="1579419" y="1163781"/>
            <a:ext cx="9110748" cy="5137265"/>
          </a:xfrm>
        </p:spPr>
        <p:txBody>
          <a:bodyPr>
            <a:normAutofit lnSpcReduction="10000"/>
          </a:bodyPr>
          <a:lstStyle/>
          <a:p>
            <a:pPr algn="just" eaLnBrk="1" hangingPunct="1">
              <a:lnSpc>
                <a:spcPct val="90000"/>
              </a:lnSpc>
              <a:buFontTx/>
              <a:buNone/>
            </a:pPr>
            <a:r>
              <a:rPr lang="en-US" altLang="en-US" sz="2400" u="sng" dirty="0">
                <a:latin typeface="Times New Roman" panose="02020603050405020304" pitchFamily="18" charset="0"/>
                <a:cs typeface="Times New Roman" panose="02020603050405020304" pitchFamily="18" charset="0"/>
              </a:rPr>
              <a:t>Advantages of Unit tax:</a:t>
            </a:r>
            <a:r>
              <a:rPr lang="en-US" altLang="en-US" sz="2400" dirty="0">
                <a:latin typeface="Times New Roman" panose="02020603050405020304" pitchFamily="18" charset="0"/>
                <a:cs typeface="Times New Roman" panose="02020603050405020304" pitchFamily="18" charset="0"/>
              </a:rPr>
              <a:t> </a:t>
            </a:r>
          </a:p>
          <a:p>
            <a:pPr algn="just" eaLnBrk="1" hangingPunct="1">
              <a:lnSpc>
                <a:spcPct val="90000"/>
              </a:lnSpc>
            </a:pPr>
            <a:r>
              <a:rPr lang="en-US" altLang="en-US" sz="2400" dirty="0">
                <a:latin typeface="Times New Roman" panose="02020603050405020304" pitchFamily="18" charset="0"/>
                <a:cs typeface="Times New Roman" panose="02020603050405020304" pitchFamily="18" charset="0"/>
              </a:rPr>
              <a:t>Easy to administer, need to estimate only the quantity of goods/services transacted.</a:t>
            </a:r>
          </a:p>
          <a:p>
            <a:pPr algn="just" eaLnBrk="1" hangingPunct="1">
              <a:lnSpc>
                <a:spcPct val="90000"/>
              </a:lnSpc>
            </a:pPr>
            <a:r>
              <a:rPr lang="en-US" altLang="en-US" sz="2400" dirty="0">
                <a:latin typeface="Times New Roman" panose="02020603050405020304" pitchFamily="18" charset="0"/>
                <a:cs typeface="Times New Roman" panose="02020603050405020304" pitchFamily="18" charset="0"/>
              </a:rPr>
              <a:t>Helps tax externality or external costs created by a fixed amount of good (‘sin’ goods such as alcohol, cigarette).</a:t>
            </a:r>
          </a:p>
          <a:p>
            <a:pPr algn="just" eaLnBrk="1" hangingPunct="1">
              <a:lnSpc>
                <a:spcPct val="90000"/>
              </a:lnSpc>
              <a:buFontTx/>
              <a:buNone/>
            </a:pPr>
            <a:r>
              <a:rPr lang="en-US" altLang="en-US" sz="2400" dirty="0">
                <a:latin typeface="Times New Roman" panose="02020603050405020304" pitchFamily="18" charset="0"/>
                <a:cs typeface="Times New Roman" panose="02020603050405020304" pitchFamily="18" charset="0"/>
              </a:rPr>
              <a:t> </a:t>
            </a:r>
            <a:r>
              <a:rPr lang="en-US" altLang="en-US" sz="2400" u="sng" dirty="0">
                <a:latin typeface="Times New Roman" panose="02020603050405020304" pitchFamily="18" charset="0"/>
                <a:cs typeface="Times New Roman" panose="02020603050405020304" pitchFamily="18" charset="0"/>
              </a:rPr>
              <a:t>Disadvantages:</a:t>
            </a:r>
            <a:r>
              <a:rPr lang="en-US" altLang="en-US" sz="2400" dirty="0">
                <a:latin typeface="Times New Roman" panose="02020603050405020304" pitchFamily="18" charset="0"/>
                <a:cs typeface="Times New Roman" panose="02020603050405020304" pitchFamily="18" charset="0"/>
              </a:rPr>
              <a:t>	</a:t>
            </a:r>
          </a:p>
          <a:p>
            <a:pPr algn="just" eaLnBrk="1" hangingPunct="1">
              <a:lnSpc>
                <a:spcPct val="90000"/>
              </a:lnSpc>
            </a:pPr>
            <a:r>
              <a:rPr lang="en-US" altLang="en-US" sz="2400" dirty="0">
                <a:latin typeface="Times New Roman" panose="02020603050405020304" pitchFamily="18" charset="0"/>
                <a:cs typeface="Times New Roman" panose="02020603050405020304" pitchFamily="18" charset="0"/>
              </a:rPr>
              <a:t>As prices increase (with inflation), tax revenue unchanged. Tax revenue decreases in real terms </a:t>
            </a:r>
            <a:r>
              <a:rPr lang="en-US" altLang="en-US" sz="2400" b="1" i="1" dirty="0">
                <a:latin typeface="Times New Roman" panose="02020603050405020304" pitchFamily="18" charset="0"/>
                <a:cs typeface="Times New Roman" panose="02020603050405020304" pitchFamily="18" charset="0"/>
              </a:rPr>
              <a:t>unless tax rate indexed to inflation</a:t>
            </a:r>
            <a:r>
              <a:rPr lang="en-US" altLang="en-US" sz="2400" dirty="0">
                <a:latin typeface="Times New Roman" panose="02020603050405020304" pitchFamily="18" charset="0"/>
                <a:cs typeface="Times New Roman" panose="02020603050405020304" pitchFamily="18" charset="0"/>
              </a:rPr>
              <a:t>.</a:t>
            </a:r>
          </a:p>
          <a:p>
            <a:pPr eaLnBrk="1" hangingPunct="1">
              <a:lnSpc>
                <a:spcPct val="90000"/>
              </a:lnSpc>
            </a:pPr>
            <a:r>
              <a:rPr lang="en-US" altLang="en-US" sz="2400" dirty="0">
                <a:latin typeface="Times New Roman" panose="02020603050405020304" pitchFamily="18" charset="0"/>
                <a:cs typeface="Times New Roman" panose="02020603050405020304" pitchFamily="18" charset="0"/>
              </a:rPr>
              <a:t>Same tax burden on high quality (high priced) goods and low quality (low priced) goods; thus a regressive tax.</a:t>
            </a:r>
          </a:p>
          <a:p>
            <a:pPr eaLnBrk="1" hangingPunct="1">
              <a:lnSpc>
                <a:spcPct val="90000"/>
              </a:lnSpc>
            </a:pPr>
            <a:r>
              <a:rPr lang="en-US" altLang="en-US" sz="2400" dirty="0">
                <a:latin typeface="Times New Roman" panose="02020603050405020304" pitchFamily="18" charset="0"/>
                <a:cs typeface="Times New Roman" panose="02020603050405020304" pitchFamily="18" charset="0"/>
              </a:rPr>
              <a:t>Problem at the formal – informal sector boundary; switching to formal sector means that tax impact would rise steeply (unit tax on low cost goods implies high tax rate; ad valorem rate means same percentage for low and high priced goods).</a:t>
            </a:r>
          </a:p>
          <a:p>
            <a:pPr eaLnBrk="1" hangingPunct="1">
              <a:lnSpc>
                <a:spcPct val="90000"/>
              </a:lnSpc>
              <a:buFontTx/>
              <a:buNone/>
            </a:pPr>
            <a:endParaRPr lang="en-US" altLang="en-US" sz="2400" dirty="0"/>
          </a:p>
        </p:txBody>
      </p:sp>
    </p:spTree>
    <p:extLst>
      <p:ext uri="{BB962C8B-B14F-4D97-AF65-F5344CB8AC3E}">
        <p14:creationId xmlns:p14="http://schemas.microsoft.com/office/powerpoint/2010/main" val="1562779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838200" y="133005"/>
            <a:ext cx="10515600" cy="1097280"/>
          </a:xfrm>
        </p:spPr>
        <p:txBody>
          <a:bodyPr/>
          <a:lstStyle/>
          <a:p>
            <a:pPr algn="ctr" eaLnBrk="1" hangingPunct="1"/>
            <a:r>
              <a:rPr lang="en-US" altLang="en-US" sz="3200" b="1" dirty="0">
                <a:latin typeface="Times New Roman" panose="02020603050405020304" pitchFamily="18" charset="0"/>
                <a:cs typeface="Times New Roman" panose="02020603050405020304" pitchFamily="18" charset="0"/>
              </a:rPr>
              <a:t>UNIT VERSUS AD </a:t>
            </a:r>
            <a:r>
              <a:rPr lang="en-US" altLang="en-US" sz="3600" b="1" dirty="0">
                <a:latin typeface="Times New Roman" panose="02020603050405020304" pitchFamily="18" charset="0"/>
                <a:cs typeface="Times New Roman" panose="02020603050405020304" pitchFamily="18" charset="0"/>
              </a:rPr>
              <a:t>VALOREM</a:t>
            </a:r>
            <a:r>
              <a:rPr lang="en-US" altLang="en-US" sz="3200" b="1" dirty="0">
                <a:latin typeface="Times New Roman" panose="02020603050405020304" pitchFamily="18" charset="0"/>
                <a:cs typeface="Times New Roman" panose="02020603050405020304" pitchFamily="18" charset="0"/>
              </a:rPr>
              <a:t> TAX RATES (Contd.)</a:t>
            </a:r>
          </a:p>
        </p:txBody>
      </p:sp>
      <p:sp>
        <p:nvSpPr>
          <p:cNvPr id="16387" name="Rectangle 3"/>
          <p:cNvSpPr>
            <a:spLocks noGrp="1" noChangeArrowheads="1"/>
          </p:cNvSpPr>
          <p:nvPr>
            <p:ph type="body" idx="1"/>
          </p:nvPr>
        </p:nvSpPr>
        <p:spPr>
          <a:xfrm>
            <a:off x="838200" y="1429789"/>
            <a:ext cx="10515600" cy="4638502"/>
          </a:xfrm>
        </p:spPr>
        <p:txBody>
          <a:bodyPr/>
          <a:lstStyle/>
          <a:p>
            <a:pPr algn="just" eaLnBrk="1" hangingPunct="1">
              <a:lnSpc>
                <a:spcPct val="90000"/>
              </a:lnSpc>
              <a:buFontTx/>
              <a:buNone/>
            </a:pPr>
            <a:r>
              <a:rPr lang="en-US" altLang="en-US" sz="2400" i="1" dirty="0">
                <a:cs typeface="Times New Roman" panose="02020603050405020304" pitchFamily="18" charset="0"/>
              </a:rPr>
              <a:t> </a:t>
            </a:r>
            <a:endParaRPr lang="en-US" altLang="en-US" sz="2400" dirty="0">
              <a:cs typeface="Times New Roman" panose="02020603050405020304" pitchFamily="18" charset="0"/>
            </a:endParaRPr>
          </a:p>
          <a:p>
            <a:pPr algn="just" eaLnBrk="1" hangingPunct="1">
              <a:lnSpc>
                <a:spcPct val="90000"/>
              </a:lnSpc>
              <a:buFontTx/>
              <a:buNone/>
            </a:pPr>
            <a:r>
              <a:rPr lang="en-US" altLang="en-US" i="1" dirty="0">
                <a:latin typeface="Times New Roman" panose="02020603050405020304" pitchFamily="18" charset="0"/>
                <a:cs typeface="Times New Roman" panose="02020603050405020304" pitchFamily="18" charset="0"/>
              </a:rPr>
              <a:t>Ad-valorem tax: </a:t>
            </a:r>
            <a:r>
              <a:rPr lang="en-US" altLang="en-US" dirty="0">
                <a:latin typeface="Times New Roman" panose="02020603050405020304" pitchFamily="18" charset="0"/>
                <a:cs typeface="Times New Roman" panose="02020603050405020304" pitchFamily="18" charset="0"/>
              </a:rPr>
              <a:t>Tax levied </a:t>
            </a:r>
            <a:r>
              <a:rPr lang="en-US" altLang="en-US" i="1" dirty="0">
                <a:latin typeface="Times New Roman" panose="02020603050405020304" pitchFamily="18" charset="0"/>
                <a:cs typeface="Times New Roman" panose="02020603050405020304" pitchFamily="18" charset="0"/>
              </a:rPr>
              <a:t>at value</a:t>
            </a:r>
            <a:r>
              <a:rPr lang="en-US" altLang="en-US" dirty="0">
                <a:latin typeface="Times New Roman" panose="02020603050405020304" pitchFamily="18" charset="0"/>
                <a:cs typeface="Times New Roman" panose="02020603050405020304" pitchFamily="18" charset="0"/>
              </a:rPr>
              <a:t>; rate a percentage of the price of good/service. As price goes up, tax revenue also increases.</a:t>
            </a:r>
          </a:p>
          <a:p>
            <a:pPr algn="just" eaLnBrk="1" hangingPunct="1">
              <a:lnSpc>
                <a:spcPct val="90000"/>
              </a:lnSpc>
              <a:buFontTx/>
              <a:buNone/>
            </a:pPr>
            <a:r>
              <a:rPr lang="en-US" altLang="en-US" dirty="0">
                <a:latin typeface="Times New Roman" panose="02020603050405020304" pitchFamily="18" charset="0"/>
                <a:cs typeface="Times New Roman" panose="02020603050405020304" pitchFamily="18" charset="0"/>
              </a:rPr>
              <a:t>	Tax liability = Quantity * Tax rate * Price of the good = t*P*Q</a:t>
            </a:r>
          </a:p>
          <a:p>
            <a:pPr eaLnBrk="1" hangingPunct="1">
              <a:lnSpc>
                <a:spcPct val="90000"/>
              </a:lnSpc>
              <a:buFontTx/>
              <a:buNone/>
            </a:pPr>
            <a:r>
              <a:rPr lang="en-US" altLang="en-US" u="sng" dirty="0">
                <a:latin typeface="Times New Roman" panose="02020603050405020304" pitchFamily="18" charset="0"/>
                <a:cs typeface="Times New Roman" panose="02020603050405020304" pitchFamily="18" charset="0"/>
              </a:rPr>
              <a:t>Advantage:</a:t>
            </a:r>
            <a:r>
              <a:rPr lang="en-US" altLang="en-US" dirty="0">
                <a:latin typeface="Times New Roman" panose="02020603050405020304" pitchFamily="18" charset="0"/>
                <a:cs typeface="Times New Roman" panose="02020603050405020304" pitchFamily="18" charset="0"/>
              </a:rPr>
              <a:t>	</a:t>
            </a:r>
          </a:p>
          <a:p>
            <a:pPr eaLnBrk="1" hangingPunct="1">
              <a:lnSpc>
                <a:spcPct val="90000"/>
              </a:lnSpc>
              <a:buFontTx/>
              <a:buNone/>
            </a:pPr>
            <a:r>
              <a:rPr lang="en-US" altLang="en-US" dirty="0">
                <a:latin typeface="Times New Roman" panose="02020603050405020304" pitchFamily="18" charset="0"/>
                <a:cs typeface="Times New Roman" panose="02020603050405020304" pitchFamily="18" charset="0"/>
              </a:rPr>
              <a:t>	No need for indexing of tax rates. </a:t>
            </a:r>
          </a:p>
          <a:p>
            <a:pPr eaLnBrk="1" hangingPunct="1">
              <a:lnSpc>
                <a:spcPct val="90000"/>
              </a:lnSpc>
              <a:buFontTx/>
              <a:buNone/>
            </a:pPr>
            <a:r>
              <a:rPr lang="en-US" altLang="en-US" u="sng" dirty="0">
                <a:latin typeface="Times New Roman" panose="02020603050405020304" pitchFamily="18" charset="0"/>
                <a:cs typeface="Times New Roman" panose="02020603050405020304" pitchFamily="18" charset="0"/>
              </a:rPr>
              <a:t>Disadvantage:</a:t>
            </a:r>
            <a:r>
              <a:rPr lang="en-US" altLang="en-US" dirty="0">
                <a:latin typeface="Times New Roman" panose="02020603050405020304" pitchFamily="18" charset="0"/>
                <a:cs typeface="Times New Roman" panose="02020603050405020304" pitchFamily="18" charset="0"/>
              </a:rPr>
              <a:t>	</a:t>
            </a:r>
          </a:p>
          <a:p>
            <a:pPr>
              <a:buNone/>
            </a:pPr>
            <a:r>
              <a:rPr lang="en-US" altLang="en-US" dirty="0">
                <a:latin typeface="Times New Roman" panose="02020603050405020304" pitchFamily="18" charset="0"/>
                <a:cs typeface="Times New Roman" panose="02020603050405020304" pitchFamily="18" charset="0"/>
              </a:rPr>
              <a:t>	Administration more complicated; accounting of sales valuation becomes necessary as greater possibility of transfer pricing. </a:t>
            </a:r>
          </a:p>
        </p:txBody>
      </p:sp>
    </p:spTree>
    <p:extLst>
      <p:ext uri="{BB962C8B-B14F-4D97-AF65-F5344CB8AC3E}">
        <p14:creationId xmlns:p14="http://schemas.microsoft.com/office/powerpoint/2010/main" val="4023363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21808"/>
          </a:xfrm>
        </p:spPr>
        <p:txBody>
          <a:bodyPr>
            <a:normAutofit/>
          </a:bodyPr>
          <a:lstStyle/>
          <a:p>
            <a:pPr algn="ctr"/>
            <a:r>
              <a:rPr lang="en-US" sz="4000" b="1" dirty="0">
                <a:latin typeface="Times New Roman" panose="02020603050405020304" pitchFamily="18" charset="0"/>
                <a:cs typeface="Times New Roman" panose="02020603050405020304" pitchFamily="18" charset="0"/>
              </a:rPr>
              <a:t>Designing of Indirect Taxes</a:t>
            </a:r>
          </a:p>
        </p:txBody>
      </p:sp>
      <p:sp>
        <p:nvSpPr>
          <p:cNvPr id="3" name="Content Placeholder 2"/>
          <p:cNvSpPr>
            <a:spLocks noGrp="1"/>
          </p:cNvSpPr>
          <p:nvPr>
            <p:ph idx="1"/>
          </p:nvPr>
        </p:nvSpPr>
        <p:spPr>
          <a:xfrm>
            <a:off x="838200" y="1286934"/>
            <a:ext cx="10515600" cy="4890029"/>
          </a:xfrm>
        </p:spPr>
        <p:txBody>
          <a:bodyPr/>
          <a:lstStyle/>
          <a:p>
            <a:r>
              <a:rPr lang="en-US" sz="3000" dirty="0">
                <a:latin typeface="Times New Roman" panose="02020603050405020304" pitchFamily="18" charset="0"/>
                <a:cs typeface="Times New Roman" panose="02020603050405020304" pitchFamily="18" charset="0"/>
              </a:rPr>
              <a:t>Design of Excises, Sales Tax and VAT from the perspective of revenues, economic efficiency, equity and administrative feasibility.</a:t>
            </a:r>
          </a:p>
          <a:p>
            <a:r>
              <a:rPr lang="en-US" sz="3000" dirty="0">
                <a:latin typeface="Times New Roman" panose="02020603050405020304" pitchFamily="18" charset="0"/>
                <a:cs typeface="Times New Roman" panose="02020603050405020304" pitchFamily="18" charset="0"/>
              </a:rPr>
              <a:t>Excises</a:t>
            </a:r>
          </a:p>
          <a:p>
            <a:r>
              <a:rPr lang="en-US" sz="3000" dirty="0">
                <a:latin typeface="Times New Roman" panose="02020603050405020304" pitchFamily="18" charset="0"/>
                <a:cs typeface="Times New Roman" panose="02020603050405020304" pitchFamily="18" charset="0"/>
              </a:rPr>
              <a:t>Turnover tax and Sales tax</a:t>
            </a:r>
          </a:p>
          <a:p>
            <a:r>
              <a:rPr lang="en-US" sz="3000" dirty="0">
                <a:latin typeface="Times New Roman" panose="02020603050405020304" pitchFamily="18" charset="0"/>
                <a:cs typeface="Times New Roman" panose="02020603050405020304" pitchFamily="18" charset="0"/>
              </a:rPr>
              <a:t>Value added tax</a:t>
            </a:r>
          </a:p>
          <a:p>
            <a:r>
              <a:rPr lang="en-US" sz="3000" dirty="0">
                <a:latin typeface="Times New Roman" panose="02020603050405020304" pitchFamily="18" charset="0"/>
                <a:cs typeface="Times New Roman" panose="02020603050405020304" pitchFamily="18" charset="0"/>
              </a:rPr>
              <a:t>Credit and subtraction methods</a:t>
            </a:r>
          </a:p>
          <a:p>
            <a:r>
              <a:rPr lang="en-US" sz="3000" dirty="0">
                <a:latin typeface="Times New Roman" panose="02020603050405020304" pitchFamily="18" charset="0"/>
                <a:cs typeface="Times New Roman" panose="02020603050405020304" pitchFamily="18" charset="0"/>
              </a:rPr>
              <a:t>Exemption and zero-rating</a:t>
            </a:r>
          </a:p>
          <a:p>
            <a:r>
              <a:rPr lang="en-US" sz="3000" dirty="0">
                <a:latin typeface="Times New Roman" panose="02020603050405020304" pitchFamily="18" charset="0"/>
                <a:cs typeface="Times New Roman" panose="02020603050405020304" pitchFamily="18" charset="0"/>
              </a:rPr>
              <a:t>Policy issues in VAT </a:t>
            </a:r>
          </a:p>
          <a:p>
            <a:endParaRPr lang="en-US" dirty="0"/>
          </a:p>
        </p:txBody>
      </p:sp>
    </p:spTree>
    <p:extLst>
      <p:ext uri="{BB962C8B-B14F-4D97-AF65-F5344CB8AC3E}">
        <p14:creationId xmlns:p14="http://schemas.microsoft.com/office/powerpoint/2010/main" val="2118424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838200" y="365126"/>
            <a:ext cx="10515600" cy="748780"/>
          </a:xfrm>
        </p:spPr>
        <p:txBody>
          <a:bodyPr>
            <a:normAutofit/>
          </a:bodyPr>
          <a:lstStyle/>
          <a:p>
            <a:pPr algn="ctr" eaLnBrk="1" hangingPunct="1"/>
            <a:r>
              <a:rPr lang="en-US" altLang="en-US" sz="3600" b="1" dirty="0">
                <a:latin typeface="Times New Roman" panose="02020603050405020304" pitchFamily="18" charset="0"/>
                <a:cs typeface="Times New Roman" panose="02020603050405020304" pitchFamily="18" charset="0"/>
              </a:rPr>
              <a:t>EXCISE TAXES</a:t>
            </a:r>
          </a:p>
        </p:txBody>
      </p:sp>
      <p:sp>
        <p:nvSpPr>
          <p:cNvPr id="17411" name="Rectangle 3"/>
          <p:cNvSpPr>
            <a:spLocks noGrp="1" noChangeArrowheads="1"/>
          </p:cNvSpPr>
          <p:nvPr>
            <p:ph type="body" idx="1"/>
          </p:nvPr>
        </p:nvSpPr>
        <p:spPr>
          <a:xfrm>
            <a:off x="1729047" y="1296785"/>
            <a:ext cx="8578735" cy="4848834"/>
          </a:xfrm>
        </p:spPr>
        <p:txBody>
          <a:bodyPr>
            <a:normAutofit lnSpcReduction="10000"/>
          </a:bodyPr>
          <a:lstStyle/>
          <a:p>
            <a:pPr algn="just" eaLnBrk="1" hangingPunct="1">
              <a:lnSpc>
                <a:spcPct val="90000"/>
              </a:lnSpc>
              <a:buFontTx/>
              <a:buNone/>
            </a:pPr>
            <a:r>
              <a:rPr lang="en-US" altLang="en-US" sz="2400" dirty="0">
                <a:latin typeface="Symbol" panose="05050102010706020507" pitchFamily="18" charset="2"/>
                <a:cs typeface="Times New Roman" panose="02020603050405020304" pitchFamily="18" charset="0"/>
              </a:rPr>
              <a:t>·</a:t>
            </a:r>
            <a:r>
              <a:rPr lang="en-US" altLang="en-US" sz="2400" dirty="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Usually a selective, single stage, single rate, per unit or ad valorem tax. </a:t>
            </a:r>
          </a:p>
          <a:p>
            <a:pPr algn="just"/>
            <a:r>
              <a:rPr lang="en-US" altLang="en-US" sz="2400" dirty="0">
                <a:latin typeface="Times New Roman" panose="02020603050405020304" pitchFamily="18" charset="0"/>
                <a:cs typeface="Times New Roman" panose="02020603050405020304" pitchFamily="18" charset="0"/>
              </a:rPr>
              <a:t>Generally used in combination with a VAT.</a:t>
            </a:r>
          </a:p>
          <a:p>
            <a:pPr algn="just" eaLnBrk="1" hangingPunct="1">
              <a:lnSpc>
                <a:spcPct val="90000"/>
              </a:lnSpc>
              <a:buFontTx/>
              <a:buNone/>
            </a:pPr>
            <a:endParaRPr lang="en-US" altLang="en-US" sz="2400" b="1" u="sng" dirty="0">
              <a:latin typeface="Times New Roman" panose="02020603050405020304" pitchFamily="18" charset="0"/>
              <a:cs typeface="Times New Roman" panose="02020603050405020304" pitchFamily="18" charset="0"/>
            </a:endParaRPr>
          </a:p>
          <a:p>
            <a:pPr algn="just" eaLnBrk="1" hangingPunct="1">
              <a:lnSpc>
                <a:spcPct val="90000"/>
              </a:lnSpc>
              <a:buFontTx/>
              <a:buNone/>
            </a:pPr>
            <a:r>
              <a:rPr lang="en-US" altLang="en-US" sz="2400" b="1" u="sng" dirty="0">
                <a:latin typeface="Times New Roman" panose="02020603050405020304" pitchFamily="18" charset="0"/>
                <a:cs typeface="Times New Roman" panose="02020603050405020304" pitchFamily="18" charset="0"/>
              </a:rPr>
              <a:t>Why levy excises?</a:t>
            </a:r>
            <a:endParaRPr lang="en-US" altLang="en-US" sz="2400" b="1" dirty="0">
              <a:latin typeface="Times New Roman" panose="02020603050405020304" pitchFamily="18" charset="0"/>
              <a:cs typeface="Times New Roman" panose="02020603050405020304" pitchFamily="18" charset="0"/>
            </a:endParaRPr>
          </a:p>
          <a:p>
            <a:pPr algn="just" eaLnBrk="1" hangingPunct="1">
              <a:lnSpc>
                <a:spcPct val="90000"/>
              </a:lnSpc>
              <a:buFontTx/>
              <a:buNone/>
            </a:pPr>
            <a:r>
              <a:rPr lang="en-US" altLang="en-US" sz="2400" dirty="0">
                <a:latin typeface="Times New Roman" panose="02020603050405020304" pitchFamily="18" charset="0"/>
                <a:cs typeface="Times New Roman" panose="02020603050405020304" pitchFamily="18" charset="0"/>
              </a:rPr>
              <a:t>1) Revenue generation: levied on goods/services with inelastic demand (‘sin’ goods), cost of collection low.</a:t>
            </a:r>
          </a:p>
          <a:p>
            <a:pPr algn="just" eaLnBrk="1" hangingPunct="1">
              <a:lnSpc>
                <a:spcPct val="90000"/>
              </a:lnSpc>
              <a:buFontTx/>
              <a:buNone/>
            </a:pPr>
            <a:r>
              <a:rPr lang="en-US" altLang="en-US" sz="2400" dirty="0">
                <a:latin typeface="Times New Roman" panose="02020603050405020304" pitchFamily="18" charset="0"/>
                <a:cs typeface="Times New Roman" panose="02020603050405020304" pitchFamily="18" charset="0"/>
              </a:rPr>
              <a:t>2) Progressive: Being a consumption tax, not progressive by nature; however, Can be made progressive by levying higher taxes on luxury goods but demand for luxury goods not inelastic. </a:t>
            </a:r>
          </a:p>
          <a:p>
            <a:pPr eaLnBrk="1" hangingPunct="1">
              <a:lnSpc>
                <a:spcPct val="90000"/>
              </a:lnSpc>
              <a:buFontTx/>
              <a:buNone/>
            </a:pPr>
            <a:r>
              <a:rPr lang="en-US" altLang="en-US" sz="2400" dirty="0">
                <a:latin typeface="Times New Roman" panose="02020603050405020304" pitchFamily="18" charset="0"/>
                <a:cs typeface="Times New Roman" panose="02020603050405020304" pitchFamily="18" charset="0"/>
              </a:rPr>
              <a:t>3) </a:t>
            </a:r>
            <a:r>
              <a:rPr lang="en-US" altLang="en-US" sz="2400" dirty="0">
                <a:solidFill>
                  <a:srgbClr val="FF0000"/>
                </a:solidFill>
                <a:latin typeface="Times New Roman" panose="02020603050405020304" pitchFamily="18" charset="0"/>
                <a:cs typeface="Times New Roman" panose="02020603050405020304" pitchFamily="18" charset="0"/>
              </a:rPr>
              <a:t>Easy to handle and tax: Excise taxes imposed on selected high value goods and generally collected from producers whose number is small. </a:t>
            </a:r>
          </a:p>
        </p:txBody>
      </p:sp>
    </p:spTree>
    <p:extLst>
      <p:ext uri="{BB962C8B-B14F-4D97-AF65-F5344CB8AC3E}">
        <p14:creationId xmlns:p14="http://schemas.microsoft.com/office/powerpoint/2010/main" val="1954618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838200" y="0"/>
            <a:ext cx="10515600" cy="1117600"/>
          </a:xfrm>
        </p:spPr>
        <p:txBody>
          <a:bodyPr/>
          <a:lstStyle/>
          <a:p>
            <a:pPr algn="ctr"/>
            <a:r>
              <a:rPr lang="en-US" altLang="en-US" sz="3200" b="1" dirty="0">
                <a:latin typeface="Times New Roman" panose="02020603050405020304" pitchFamily="18" charset="0"/>
                <a:cs typeface="Times New Roman" panose="02020603050405020304" pitchFamily="18" charset="0"/>
              </a:rPr>
              <a:t>TURNOVER TAX</a:t>
            </a:r>
          </a:p>
        </p:txBody>
      </p:sp>
      <p:sp>
        <p:nvSpPr>
          <p:cNvPr id="12291" name="Rectangle 3"/>
          <p:cNvSpPr>
            <a:spLocks noGrp="1" noChangeArrowheads="1"/>
          </p:cNvSpPr>
          <p:nvPr>
            <p:ph type="body" idx="1"/>
          </p:nvPr>
        </p:nvSpPr>
        <p:spPr>
          <a:xfrm>
            <a:off x="838200" y="1117600"/>
            <a:ext cx="10515600" cy="5317067"/>
          </a:xfrm>
        </p:spPr>
        <p:txBody>
          <a:bodyPr>
            <a:noAutofit/>
          </a:bodyPr>
          <a:lstStyle/>
          <a:p>
            <a:pPr algn="just">
              <a:lnSpc>
                <a:spcPct val="80000"/>
              </a:lnSpc>
              <a:buFontTx/>
              <a:buNone/>
            </a:pPr>
            <a:r>
              <a:rPr lang="en-US" altLang="en-US" sz="2400" dirty="0">
                <a:cs typeface="Times New Roman" panose="02020603050405020304" pitchFamily="18" charset="0"/>
              </a:rPr>
              <a:t> </a:t>
            </a:r>
            <a:r>
              <a:rPr lang="en-US" altLang="en-US" sz="2400" i="1" dirty="0">
                <a:latin typeface="Times New Roman" panose="02020603050405020304" pitchFamily="18" charset="0"/>
                <a:cs typeface="Times New Roman" panose="02020603050405020304" pitchFamily="18" charset="0"/>
              </a:rPr>
              <a:t>Turnover tax</a:t>
            </a:r>
            <a:endParaRPr lang="en-US" altLang="en-US" sz="2400" dirty="0">
              <a:latin typeface="Times New Roman" panose="02020603050405020304" pitchFamily="18" charset="0"/>
              <a:cs typeface="Times New Roman" panose="02020603050405020304" pitchFamily="18" charset="0"/>
            </a:endParaRPr>
          </a:p>
          <a:p>
            <a:pPr algn="just">
              <a:lnSpc>
                <a:spcPct val="80000"/>
              </a:lnSpc>
            </a:pPr>
            <a:r>
              <a:rPr lang="en-US" altLang="en-US" sz="2400" dirty="0">
                <a:latin typeface="Times New Roman" panose="02020603050405020304" pitchFamily="18" charset="0"/>
                <a:cs typeface="Times New Roman" panose="02020603050405020304" pitchFamily="18" charset="0"/>
              </a:rPr>
              <a:t>A single rate, ad valorem, multi-stage general tax imposed on every transaction or sales between firms. Tax base and number of taxpayers obviously large and, therefore, high cost of administration and compliance.</a:t>
            </a:r>
          </a:p>
          <a:p>
            <a:pPr>
              <a:lnSpc>
                <a:spcPct val="80000"/>
              </a:lnSpc>
            </a:pPr>
            <a:r>
              <a:rPr lang="en-US" altLang="en-US" sz="2400" dirty="0">
                <a:latin typeface="Times New Roman" panose="02020603050405020304" pitchFamily="18" charset="0"/>
                <a:cs typeface="Times New Roman" panose="02020603050405020304" pitchFamily="18" charset="0"/>
              </a:rPr>
              <a:t>With large tax base, rate need not be high to raise given amount of revenues. So politically more attractive.</a:t>
            </a:r>
          </a:p>
          <a:p>
            <a:pPr>
              <a:lnSpc>
                <a:spcPct val="80000"/>
              </a:lnSpc>
            </a:pPr>
            <a:r>
              <a:rPr lang="en-US" altLang="en-US" sz="2400" dirty="0">
                <a:solidFill>
                  <a:srgbClr val="FF0000"/>
                </a:solidFill>
                <a:latin typeface="Times New Roman" panose="02020603050405020304" pitchFamily="18" charset="0"/>
                <a:cs typeface="Times New Roman" panose="02020603050405020304" pitchFamily="18" charset="0"/>
              </a:rPr>
              <a:t>Turnover tax may be viewed as a precursor to Value Added Tax.</a:t>
            </a:r>
          </a:p>
          <a:p>
            <a:pPr algn="just">
              <a:lnSpc>
                <a:spcPct val="80000"/>
              </a:lnSpc>
              <a:buFontTx/>
              <a:buNone/>
            </a:pPr>
            <a:endParaRPr lang="en-US" altLang="en-US" sz="2400" u="sng" dirty="0">
              <a:latin typeface="Times New Roman" panose="02020603050405020304" pitchFamily="18" charset="0"/>
              <a:cs typeface="Times New Roman" panose="02020603050405020304" pitchFamily="18" charset="0"/>
            </a:endParaRPr>
          </a:p>
          <a:p>
            <a:pPr algn="just">
              <a:lnSpc>
                <a:spcPct val="80000"/>
              </a:lnSpc>
              <a:buFontTx/>
              <a:buNone/>
            </a:pPr>
            <a:r>
              <a:rPr lang="en-US" altLang="en-US" sz="2400" u="sng" dirty="0">
                <a:latin typeface="Times New Roman" panose="02020603050405020304" pitchFamily="18" charset="0"/>
                <a:cs typeface="Times New Roman" panose="02020603050405020304" pitchFamily="18" charset="0"/>
              </a:rPr>
              <a:t>Disadvantages:</a:t>
            </a:r>
            <a:endParaRPr lang="en-US" altLang="en-US" sz="2400" dirty="0">
              <a:latin typeface="Times New Roman" panose="02020603050405020304" pitchFamily="18" charset="0"/>
              <a:cs typeface="Times New Roman" panose="02020603050405020304" pitchFamily="18" charset="0"/>
            </a:endParaRPr>
          </a:p>
          <a:p>
            <a:pPr algn="just">
              <a:lnSpc>
                <a:spcPct val="80000"/>
              </a:lnSpc>
            </a:pPr>
            <a:r>
              <a:rPr lang="en-US" altLang="en-US" sz="2400" dirty="0">
                <a:latin typeface="Times New Roman" panose="02020603050405020304" pitchFamily="18" charset="0"/>
                <a:cs typeface="Times New Roman" panose="02020603050405020304" pitchFamily="18" charset="0"/>
              </a:rPr>
              <a:t>Avoidance of tax possible through tax integration. If all stages of production (producer/retailer/wholesaler) integrated in a single firm even  on paper, total tax revenue will fall.</a:t>
            </a:r>
          </a:p>
          <a:p>
            <a:pPr algn="just">
              <a:lnSpc>
                <a:spcPct val="80000"/>
              </a:lnSpc>
            </a:pPr>
            <a:r>
              <a:rPr lang="en-US" altLang="en-US" sz="2400" dirty="0">
                <a:latin typeface="Times New Roman" panose="02020603050405020304" pitchFamily="18" charset="0"/>
                <a:cs typeface="Times New Roman" panose="02020603050405020304" pitchFamily="18" charset="0"/>
              </a:rPr>
              <a:t>Main problem is it involves “tax on tax”, or cascading effect, therefore inefficient. </a:t>
            </a:r>
          </a:p>
          <a:p>
            <a:pPr algn="just">
              <a:lnSpc>
                <a:spcPct val="80000"/>
              </a:lnSpc>
            </a:pPr>
            <a:r>
              <a:rPr lang="en-US" altLang="en-US" sz="2400" dirty="0">
                <a:latin typeface="Times New Roman" panose="02020603050405020304" pitchFamily="18" charset="0"/>
                <a:cs typeface="Times New Roman" panose="02020603050405020304" pitchFamily="18" charset="0"/>
              </a:rPr>
              <a:t>Due to cascading and the possibility of tax integration, there may be differential tax rates on the same input when used by different industries.</a:t>
            </a:r>
          </a:p>
        </p:txBody>
      </p:sp>
    </p:spTree>
    <p:extLst>
      <p:ext uri="{BB962C8B-B14F-4D97-AF65-F5344CB8AC3E}">
        <p14:creationId xmlns:p14="http://schemas.microsoft.com/office/powerpoint/2010/main" val="2862782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838200" y="365126"/>
            <a:ext cx="10515600" cy="735542"/>
          </a:xfrm>
        </p:spPr>
        <p:txBody>
          <a:bodyPr/>
          <a:lstStyle/>
          <a:p>
            <a:pPr algn="ctr"/>
            <a:r>
              <a:rPr lang="en-US" altLang="en-US" sz="3200" b="1" dirty="0">
                <a:latin typeface="Times New Roman" panose="02020603050405020304" pitchFamily="18" charset="0"/>
                <a:cs typeface="Times New Roman" panose="02020603050405020304" pitchFamily="18" charset="0"/>
              </a:rPr>
              <a:t>NUMERICAL EXAMPE OF TURNOVER TAX</a:t>
            </a:r>
          </a:p>
        </p:txBody>
      </p:sp>
      <p:graphicFrame>
        <p:nvGraphicFramePr>
          <p:cNvPr id="14339" name="Object 3"/>
          <p:cNvGraphicFramePr>
            <a:graphicFrameLocks noGrp="1" noChangeAspect="1"/>
          </p:cNvGraphicFramePr>
          <p:nvPr>
            <p:ph type="body" idx="1"/>
          </p:nvPr>
        </p:nvGraphicFramePr>
        <p:xfrm>
          <a:off x="2411414" y="1642533"/>
          <a:ext cx="7799387" cy="4369331"/>
        </p:xfrm>
        <a:graphic>
          <a:graphicData uri="http://schemas.openxmlformats.org/presentationml/2006/ole">
            <mc:AlternateContent xmlns:mc="http://schemas.openxmlformats.org/markup-compatibility/2006">
              <mc:Choice xmlns:v="urn:schemas-microsoft-com:vml" Requires="v">
                <p:oleObj name="Document" r:id="rId2" imgW="7888304" imgH="4409515" progId="Word.Document.8">
                  <p:embed/>
                </p:oleObj>
              </mc:Choice>
              <mc:Fallback>
                <p:oleObj name="Document" r:id="rId2" imgW="7888304" imgH="4409515" progId="Word.Document.8">
                  <p:embed/>
                  <p:pic>
                    <p:nvPicPr>
                      <p:cNvPr id="1433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4" y="1642533"/>
                        <a:ext cx="7799387" cy="4369331"/>
                      </a:xfrm>
                      <a:prstGeom prst="rect">
                        <a:avLst/>
                      </a:prstGeom>
                    </p:spPr>
                  </p:pic>
                </p:oleObj>
              </mc:Fallback>
            </mc:AlternateContent>
          </a:graphicData>
        </a:graphic>
      </p:graphicFrame>
    </p:spTree>
    <p:extLst>
      <p:ext uri="{BB962C8B-B14F-4D97-AF65-F5344CB8AC3E}">
        <p14:creationId xmlns:p14="http://schemas.microsoft.com/office/powerpoint/2010/main" val="21360887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838200" y="216132"/>
            <a:ext cx="10515600" cy="1055716"/>
          </a:xfrm>
        </p:spPr>
        <p:txBody>
          <a:bodyPr/>
          <a:lstStyle/>
          <a:p>
            <a:pPr algn="ctr"/>
            <a:r>
              <a:rPr lang="en-US" altLang="en-US" sz="3200" b="1" dirty="0">
                <a:latin typeface="Times New Roman" panose="02020603050405020304" pitchFamily="18" charset="0"/>
                <a:cs typeface="Times New Roman" panose="02020603050405020304" pitchFamily="18" charset="0"/>
              </a:rPr>
              <a:t>SINGLE STAGE TAX:  SALES TAX</a:t>
            </a:r>
          </a:p>
        </p:txBody>
      </p:sp>
      <p:sp>
        <p:nvSpPr>
          <p:cNvPr id="15363" name="Rectangle 3"/>
          <p:cNvSpPr>
            <a:spLocks noGrp="1" noChangeArrowheads="1"/>
          </p:cNvSpPr>
          <p:nvPr>
            <p:ph type="body" idx="1"/>
          </p:nvPr>
        </p:nvSpPr>
        <p:spPr>
          <a:xfrm>
            <a:off x="838200" y="1271848"/>
            <a:ext cx="10515600" cy="4905115"/>
          </a:xfrm>
        </p:spPr>
        <p:txBody>
          <a:bodyPr>
            <a:normAutofit fontScale="92500" lnSpcReduction="10000"/>
          </a:bodyPr>
          <a:lstStyle/>
          <a:p>
            <a:pPr algn="just">
              <a:lnSpc>
                <a:spcPct val="90000"/>
              </a:lnSpc>
              <a:buFontTx/>
              <a:buNone/>
            </a:pPr>
            <a:r>
              <a:rPr lang="en-US" altLang="en-US" i="1" dirty="0">
                <a:latin typeface="Times New Roman" panose="02020603050405020304" pitchFamily="18" charset="0"/>
                <a:cs typeface="Times New Roman" panose="02020603050405020304" pitchFamily="18" charset="0"/>
              </a:rPr>
              <a:t>Sales Tax</a:t>
            </a:r>
            <a:endParaRPr lang="en-US" altLang="en-US" dirty="0">
              <a:latin typeface="Times New Roman" panose="02020603050405020304" pitchFamily="18" charset="0"/>
              <a:cs typeface="Times New Roman" panose="02020603050405020304" pitchFamily="18" charset="0"/>
            </a:endParaRPr>
          </a:p>
          <a:p>
            <a:pPr>
              <a:lnSpc>
                <a:spcPct val="90000"/>
              </a:lnSpc>
            </a:pPr>
            <a:r>
              <a:rPr lang="en-US" altLang="en-US" dirty="0">
                <a:latin typeface="Times New Roman" panose="02020603050405020304" pitchFamily="18" charset="0"/>
                <a:cs typeface="Times New Roman" panose="02020603050405020304" pitchFamily="18" charset="0"/>
              </a:rPr>
              <a:t>Sales tax was quite common in most parts of the world about forty years back but now it has been gradually replaced by VAT. USA still holding on to State level sales taxes due to infeasibility of VAT in a federal structure.</a:t>
            </a:r>
          </a:p>
          <a:p>
            <a:pPr>
              <a:lnSpc>
                <a:spcPct val="90000"/>
              </a:lnSpc>
            </a:pPr>
            <a:r>
              <a:rPr lang="en-US" altLang="en-US" dirty="0">
                <a:latin typeface="Times New Roman" panose="02020603050405020304" pitchFamily="18" charset="0"/>
                <a:cs typeface="Times New Roman" panose="02020603050405020304" pitchFamily="18" charset="0"/>
              </a:rPr>
              <a:t>Can be levied either at manufacturing, or retail stage. Wholesale level not well defined. Most wholesalers could also be manufacturers or retailers. </a:t>
            </a:r>
          </a:p>
          <a:p>
            <a:pPr>
              <a:lnSpc>
                <a:spcPct val="90000"/>
              </a:lnSpc>
            </a:pPr>
            <a:r>
              <a:rPr lang="en-US" altLang="en-US" dirty="0">
                <a:latin typeface="Times New Roman" panose="02020603050405020304" pitchFamily="18" charset="0"/>
                <a:cs typeface="Times New Roman" panose="02020603050405020304" pitchFamily="18" charset="0"/>
              </a:rPr>
              <a:t>Manufacturing level sales tax easy to administer (few taxpayers); as tax base expands to wholesale and retail levels, administration gets complicated and chances of evasion increase.</a:t>
            </a:r>
          </a:p>
          <a:p>
            <a:pPr algn="just">
              <a:lnSpc>
                <a:spcPct val="90000"/>
              </a:lnSpc>
            </a:pPr>
            <a:r>
              <a:rPr lang="en-US" altLang="en-US" b="1" i="1" dirty="0">
                <a:latin typeface="Times New Roman" panose="02020603050405020304" pitchFamily="18" charset="0"/>
                <a:cs typeface="Times New Roman" panose="02020603050405020304" pitchFamily="18" charset="0"/>
              </a:rPr>
              <a:t>Because of ease of administration most developing countries applied sales tax at manufacturing level and corporate income tax on foreign firms.</a:t>
            </a:r>
          </a:p>
          <a:p>
            <a:pPr>
              <a:lnSpc>
                <a:spcPct val="90000"/>
              </a:lnSpc>
            </a:pPr>
            <a:r>
              <a:rPr lang="en-US" altLang="en-US" dirty="0">
                <a:solidFill>
                  <a:srgbClr val="FF0000"/>
                </a:solidFill>
                <a:latin typeface="Times New Roman" panose="02020603050405020304" pitchFamily="18" charset="0"/>
                <a:cs typeface="Times New Roman" panose="02020603050405020304" pitchFamily="18" charset="0"/>
              </a:rPr>
              <a:t>As a matter of general rule, high tax rates and multiple rates encourage tax evasion. </a:t>
            </a:r>
          </a:p>
          <a:p>
            <a:pPr>
              <a:lnSpc>
                <a:spcPct val="90000"/>
              </a:lnSpc>
              <a:buFontTx/>
              <a:buNone/>
            </a:pPr>
            <a:endParaRPr lang="en-US" altLang="en-US" dirty="0"/>
          </a:p>
        </p:txBody>
      </p:sp>
    </p:spTree>
    <p:extLst>
      <p:ext uri="{BB962C8B-B14F-4D97-AF65-F5344CB8AC3E}">
        <p14:creationId xmlns:p14="http://schemas.microsoft.com/office/powerpoint/2010/main" val="3264301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209800" y="381000"/>
            <a:ext cx="7772400" cy="1143000"/>
          </a:xfrm>
        </p:spPr>
        <p:txBody>
          <a:bodyPr/>
          <a:lstStyle/>
          <a:p>
            <a:pPr algn="ctr"/>
            <a:r>
              <a:rPr lang="en-US" altLang="en-US" sz="3200" b="1" dirty="0">
                <a:latin typeface="Times New Roman" panose="02020603050405020304" pitchFamily="18" charset="0"/>
                <a:cs typeface="Times New Roman" panose="02020603050405020304" pitchFamily="18" charset="0"/>
              </a:rPr>
              <a:t>MANUFACTURING LEVEL SALES TAX</a:t>
            </a:r>
          </a:p>
        </p:txBody>
      </p:sp>
      <p:sp>
        <p:nvSpPr>
          <p:cNvPr id="16387" name="Rectangle 3"/>
          <p:cNvSpPr>
            <a:spLocks noGrp="1" noChangeArrowheads="1"/>
          </p:cNvSpPr>
          <p:nvPr>
            <p:ph type="body" idx="1"/>
          </p:nvPr>
        </p:nvSpPr>
        <p:spPr>
          <a:xfrm>
            <a:off x="1296785" y="1524000"/>
            <a:ext cx="8914015" cy="4572000"/>
          </a:xfrm>
        </p:spPr>
        <p:txBody>
          <a:bodyPr>
            <a:normAutofit lnSpcReduction="10000"/>
          </a:bodyPr>
          <a:lstStyle/>
          <a:p>
            <a:pPr algn="just">
              <a:lnSpc>
                <a:spcPct val="90000"/>
              </a:lnSpc>
              <a:buFontTx/>
              <a:buNone/>
            </a:pPr>
            <a:r>
              <a:rPr lang="en-US" altLang="en-US" sz="2400" dirty="0">
                <a:cs typeface="Times New Roman" panose="02020603050405020304" pitchFamily="18" charset="0"/>
              </a:rPr>
              <a:t>1. </a:t>
            </a:r>
            <a:r>
              <a:rPr lang="en-US" altLang="en-US" sz="2400" u="sng" dirty="0">
                <a:latin typeface="Times New Roman" panose="02020603050405020304" pitchFamily="18" charset="0"/>
                <a:cs typeface="Times New Roman" panose="02020603050405020304" pitchFamily="18" charset="0"/>
              </a:rPr>
              <a:t>Tax at the manufacturing level</a:t>
            </a:r>
            <a:r>
              <a:rPr lang="en-US" altLang="en-US" sz="2400" dirty="0">
                <a:latin typeface="Times New Roman" panose="02020603050405020304" pitchFamily="18" charset="0"/>
                <a:cs typeface="Times New Roman" panose="02020603050405020304" pitchFamily="18" charset="0"/>
              </a:rPr>
              <a:t>  </a:t>
            </a:r>
          </a:p>
          <a:p>
            <a:pPr algn="just">
              <a:lnSpc>
                <a:spcPct val="90000"/>
              </a:lnSpc>
              <a:buFontTx/>
              <a:buNone/>
            </a:pPr>
            <a:r>
              <a:rPr lang="en-US" altLang="en-US" sz="2400" i="1" dirty="0">
                <a:latin typeface="Times New Roman" panose="02020603050405020304" pitchFamily="18" charset="0"/>
                <a:cs typeface="Times New Roman" panose="02020603050405020304" pitchFamily="18" charset="0"/>
              </a:rPr>
              <a:t>Implications:</a:t>
            </a:r>
            <a:r>
              <a:rPr lang="en-US" altLang="en-US" sz="2400" dirty="0">
                <a:latin typeface="Times New Roman" panose="02020603050405020304" pitchFamily="18" charset="0"/>
                <a:cs typeface="Times New Roman" panose="02020603050405020304" pitchFamily="18" charset="0"/>
              </a:rPr>
              <a:t> </a:t>
            </a:r>
          </a:p>
          <a:p>
            <a:pPr algn="just">
              <a:lnSpc>
                <a:spcPct val="90000"/>
              </a:lnSpc>
            </a:pPr>
            <a:r>
              <a:rPr lang="en-US" altLang="en-US" sz="2400" dirty="0">
                <a:latin typeface="Times New Roman" panose="02020603050405020304" pitchFamily="18" charset="0"/>
                <a:cs typeface="Times New Roman" panose="02020603050405020304" pitchFamily="18" charset="0"/>
              </a:rPr>
              <a:t>All inputs used by capital goods producers taxed, thus increasing cost of capital goods. Necessary that manufacturers of capital goods exempted from tax on their inputs to avoid cascading. Hence  licensing of genuine manufacturers (Ring Fence System) necessary. </a:t>
            </a:r>
          </a:p>
          <a:p>
            <a:pPr algn="just">
              <a:lnSpc>
                <a:spcPct val="90000"/>
              </a:lnSpc>
            </a:pPr>
            <a:r>
              <a:rPr lang="en-US" altLang="en-US" sz="2400" dirty="0">
                <a:latin typeface="Times New Roman" panose="02020603050405020304" pitchFamily="18" charset="0"/>
                <a:cs typeface="Times New Roman" panose="02020603050405020304" pitchFamily="18" charset="0"/>
              </a:rPr>
              <a:t>Should be levied both on domestic production (final) and imports to avoid discrimination. However, imported inputs should be tax exempt to avoid cost escalation.</a:t>
            </a:r>
          </a:p>
          <a:p>
            <a:pPr algn="just">
              <a:lnSpc>
                <a:spcPct val="90000"/>
              </a:lnSpc>
            </a:pPr>
            <a:r>
              <a:rPr lang="en-US" altLang="en-US" sz="2400" dirty="0">
                <a:latin typeface="Times New Roman" panose="02020603050405020304" pitchFamily="18" charset="0"/>
                <a:cs typeface="Times New Roman" panose="02020603050405020304" pitchFamily="18" charset="0"/>
              </a:rPr>
              <a:t>Normally services, agricultural products (unprocessed) and exports kept exempt.</a:t>
            </a:r>
          </a:p>
          <a:p>
            <a:pPr algn="just">
              <a:lnSpc>
                <a:spcPct val="90000"/>
              </a:lnSpc>
            </a:pPr>
            <a:r>
              <a:rPr lang="en-US" altLang="en-US" sz="2400" b="1" i="1" dirty="0">
                <a:latin typeface="Times New Roman" panose="02020603050405020304" pitchFamily="18" charset="0"/>
                <a:cs typeface="Times New Roman" panose="02020603050405020304" pitchFamily="18" charset="0"/>
              </a:rPr>
              <a:t>Incentive to reduce manufacturing price and increase wholesale price, thus reducing tax base. </a:t>
            </a:r>
          </a:p>
          <a:p>
            <a:pPr>
              <a:lnSpc>
                <a:spcPct val="90000"/>
              </a:lnSpc>
              <a:buFontTx/>
              <a:buNone/>
            </a:pPr>
            <a:endParaRPr lang="en-US" altLang="en-US" sz="2400" dirty="0"/>
          </a:p>
        </p:txBody>
      </p:sp>
    </p:spTree>
    <p:extLst>
      <p:ext uri="{BB962C8B-B14F-4D97-AF65-F5344CB8AC3E}">
        <p14:creationId xmlns:p14="http://schemas.microsoft.com/office/powerpoint/2010/main" val="437167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838200" y="199505"/>
            <a:ext cx="10515600" cy="831273"/>
          </a:xfrm>
        </p:spPr>
        <p:txBody>
          <a:bodyPr/>
          <a:lstStyle/>
          <a:p>
            <a:pPr algn="ctr"/>
            <a:r>
              <a:rPr lang="en-US" altLang="en-US" sz="3200" b="1" dirty="0">
                <a:latin typeface="Times New Roman" panose="02020603050405020304" pitchFamily="18" charset="0"/>
                <a:cs typeface="Times New Roman" panose="02020603050405020304" pitchFamily="18" charset="0"/>
              </a:rPr>
              <a:t>RETAIL SALES TAX</a:t>
            </a:r>
          </a:p>
        </p:txBody>
      </p:sp>
      <p:sp>
        <p:nvSpPr>
          <p:cNvPr id="18435" name="Rectangle 3"/>
          <p:cNvSpPr>
            <a:spLocks noGrp="1" noChangeArrowheads="1"/>
          </p:cNvSpPr>
          <p:nvPr>
            <p:ph type="body" idx="1"/>
          </p:nvPr>
        </p:nvSpPr>
        <p:spPr>
          <a:xfrm>
            <a:off x="1379913" y="1246909"/>
            <a:ext cx="8915553" cy="5237018"/>
          </a:xfrm>
        </p:spPr>
        <p:txBody>
          <a:bodyPr>
            <a:normAutofit fontScale="92500"/>
          </a:bodyPr>
          <a:lstStyle/>
          <a:p>
            <a:pPr marL="0" indent="0" algn="just">
              <a:lnSpc>
                <a:spcPct val="80000"/>
              </a:lnSpc>
              <a:buNone/>
            </a:pPr>
            <a:r>
              <a:rPr lang="en-US" altLang="en-US" sz="2400" i="1" dirty="0">
                <a:latin typeface="Times New Roman" panose="02020603050405020304" pitchFamily="18" charset="0"/>
                <a:cs typeface="Times New Roman" panose="02020603050405020304" pitchFamily="18" charset="0"/>
              </a:rPr>
              <a:t>Illustration:</a:t>
            </a:r>
            <a:r>
              <a:rPr lang="en-US" altLang="en-US" sz="2400" dirty="0">
                <a:latin typeface="Times New Roman" panose="02020603050405020304" pitchFamily="18" charset="0"/>
                <a:cs typeface="Times New Roman" panose="02020603050405020304" pitchFamily="18" charset="0"/>
              </a:rPr>
              <a:t> 	100 (M) + 10% = 110  +  15 (W) =  125</a:t>
            </a:r>
          </a:p>
          <a:p>
            <a:pPr marL="0" indent="0" algn="just">
              <a:lnSpc>
                <a:spcPct val="80000"/>
              </a:lnSpc>
              <a:buNone/>
            </a:pPr>
            <a:r>
              <a:rPr lang="en-US" altLang="en-US" sz="2400" dirty="0">
                <a:latin typeface="Times New Roman" panose="02020603050405020304" pitchFamily="18" charset="0"/>
                <a:cs typeface="Times New Roman" panose="02020603050405020304" pitchFamily="18" charset="0"/>
              </a:rPr>
              <a:t>		If invoice of only 80, tax savings feasible,</a:t>
            </a:r>
          </a:p>
          <a:p>
            <a:pPr marL="0" indent="0" algn="just">
              <a:lnSpc>
                <a:spcPct val="80000"/>
              </a:lnSpc>
              <a:buNone/>
            </a:pPr>
            <a:r>
              <a:rPr lang="en-US" altLang="en-US" sz="2400" dirty="0">
                <a:latin typeface="Times New Roman" panose="02020603050405020304" pitchFamily="18" charset="0"/>
                <a:cs typeface="Times New Roman" panose="02020603050405020304" pitchFamily="18" charset="0"/>
              </a:rPr>
              <a:t>		80  +  10%  =  88  +  20 + 15 = 123</a:t>
            </a:r>
          </a:p>
          <a:p>
            <a:pPr marL="0" indent="0" algn="just">
              <a:lnSpc>
                <a:spcPct val="80000"/>
              </a:lnSpc>
              <a:buNone/>
            </a:pPr>
            <a:r>
              <a:rPr lang="en-US" altLang="en-US" sz="2400" dirty="0">
                <a:latin typeface="Times New Roman" panose="02020603050405020304" pitchFamily="18" charset="0"/>
                <a:cs typeface="Times New Roman" panose="02020603050405020304" pitchFamily="18" charset="0"/>
              </a:rPr>
              <a:t>Tax saving of 2 that may be shared between manufacturer and wholesaler.</a:t>
            </a:r>
          </a:p>
          <a:p>
            <a:pPr marL="0" indent="0" algn="just">
              <a:lnSpc>
                <a:spcPct val="80000"/>
              </a:lnSpc>
              <a:buNone/>
            </a:pPr>
            <a:endParaRPr lang="en-US" altLang="en-US" sz="2400" dirty="0">
              <a:latin typeface="Times New Roman" panose="02020603050405020304" pitchFamily="18" charset="0"/>
              <a:cs typeface="Times New Roman" panose="02020603050405020304" pitchFamily="18" charset="0"/>
            </a:endParaRPr>
          </a:p>
          <a:p>
            <a:pPr marL="0" indent="0" algn="just">
              <a:lnSpc>
                <a:spcPct val="80000"/>
              </a:lnSpc>
              <a:buNone/>
            </a:pPr>
            <a:r>
              <a:rPr lang="en-US" altLang="en-US" sz="2400" dirty="0">
                <a:latin typeface="Times New Roman" panose="02020603050405020304" pitchFamily="18" charset="0"/>
                <a:cs typeface="Times New Roman" panose="02020603050405020304" pitchFamily="18" charset="0"/>
              </a:rPr>
              <a:t>2.  </a:t>
            </a:r>
            <a:r>
              <a:rPr lang="en-US" altLang="en-US" sz="2400" u="sng" dirty="0">
                <a:latin typeface="Times New Roman" panose="02020603050405020304" pitchFamily="18" charset="0"/>
                <a:cs typeface="Times New Roman" panose="02020603050405020304" pitchFamily="18" charset="0"/>
              </a:rPr>
              <a:t>Tax at the retail level</a:t>
            </a:r>
            <a:endParaRPr lang="en-US" altLang="en-US" sz="2400" dirty="0">
              <a:latin typeface="Times New Roman" panose="02020603050405020304" pitchFamily="18" charset="0"/>
              <a:cs typeface="Times New Roman" panose="02020603050405020304" pitchFamily="18" charset="0"/>
            </a:endParaRPr>
          </a:p>
          <a:p>
            <a:pPr algn="just">
              <a:lnSpc>
                <a:spcPct val="80000"/>
              </a:lnSpc>
            </a:pPr>
            <a:r>
              <a:rPr lang="en-US" altLang="en-US" sz="2400" dirty="0">
                <a:latin typeface="Times New Roman" panose="02020603050405020304" pitchFamily="18" charset="0"/>
                <a:cs typeface="Times New Roman" panose="02020603050405020304" pitchFamily="18" charset="0"/>
              </a:rPr>
              <a:t>Tax base largest, higher tax revenue. Alternatively, a lower tax rate may be levied and same revenues maintained. </a:t>
            </a:r>
          </a:p>
          <a:p>
            <a:pPr algn="just">
              <a:lnSpc>
                <a:spcPct val="80000"/>
              </a:lnSpc>
            </a:pPr>
            <a:r>
              <a:rPr lang="en-US" altLang="en-US" sz="2400" dirty="0">
                <a:latin typeface="Times New Roman" panose="02020603050405020304" pitchFamily="18" charset="0"/>
                <a:cs typeface="Times New Roman" panose="02020603050405020304" pitchFamily="18" charset="0"/>
              </a:rPr>
              <a:t>As number of taxpayers large,  higher administrative costs. </a:t>
            </a:r>
            <a:r>
              <a:rPr lang="en-US" altLang="en-US" sz="2400" dirty="0">
                <a:solidFill>
                  <a:srgbClr val="FF0000"/>
                </a:solidFill>
                <a:latin typeface="Times New Roman" panose="02020603050405020304" pitchFamily="18" charset="0"/>
                <a:cs typeface="Times New Roman" panose="02020603050405020304" pitchFamily="18" charset="0"/>
              </a:rPr>
              <a:t>Application of multiple rates specially problematic.</a:t>
            </a:r>
          </a:p>
          <a:p>
            <a:pPr algn="just">
              <a:lnSpc>
                <a:spcPct val="80000"/>
              </a:lnSpc>
            </a:pPr>
            <a:r>
              <a:rPr lang="en-US" altLang="en-US" sz="2400" dirty="0">
                <a:latin typeface="Times New Roman" panose="02020603050405020304" pitchFamily="18" charset="0"/>
                <a:cs typeface="Times New Roman" panose="02020603050405020304" pitchFamily="18" charset="0"/>
              </a:rPr>
              <a:t>All retailers (taxpayers) must be registered.</a:t>
            </a:r>
          </a:p>
          <a:p>
            <a:pPr algn="just">
              <a:lnSpc>
                <a:spcPct val="80000"/>
              </a:lnSpc>
            </a:pPr>
            <a:r>
              <a:rPr lang="en-US" altLang="en-US" sz="2400" dirty="0">
                <a:latin typeface="Times New Roman" panose="02020603050405020304" pitchFamily="18" charset="0"/>
                <a:cs typeface="Times New Roman" panose="02020603050405020304" pitchFamily="18" charset="0"/>
              </a:rPr>
              <a:t>If large number of informal sector retailers and record keeping unsatisfactory, chances of large scale tax evasion. </a:t>
            </a:r>
          </a:p>
          <a:p>
            <a:r>
              <a:rPr lang="en-US" altLang="en-US" sz="2400" dirty="0">
                <a:solidFill>
                  <a:srgbClr val="FF0000"/>
                </a:solidFill>
                <a:latin typeface="Times New Roman" panose="02020603050405020304" pitchFamily="18" charset="0"/>
                <a:cs typeface="Times New Roman" panose="02020603050405020304" pitchFamily="18" charset="0"/>
              </a:rPr>
              <a:t>If taxes lost at retail level, no way to recapture it.</a:t>
            </a:r>
          </a:p>
        </p:txBody>
      </p:sp>
    </p:spTree>
    <p:extLst>
      <p:ext uri="{BB962C8B-B14F-4D97-AF65-F5344CB8AC3E}">
        <p14:creationId xmlns:p14="http://schemas.microsoft.com/office/powerpoint/2010/main" val="1772231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209800" y="124692"/>
            <a:ext cx="7772400" cy="1147156"/>
          </a:xfrm>
        </p:spPr>
        <p:txBody>
          <a:bodyPr/>
          <a:lstStyle/>
          <a:p>
            <a:pPr algn="ctr"/>
            <a:r>
              <a:rPr lang="en-US" altLang="en-US" sz="3200" b="1" dirty="0">
                <a:latin typeface="Times New Roman" panose="02020603050405020304" pitchFamily="18" charset="0"/>
                <a:cs typeface="Times New Roman" panose="02020603050405020304" pitchFamily="18" charset="0"/>
              </a:rPr>
              <a:t>EVASION IN RETAIL SALES TAX</a:t>
            </a:r>
          </a:p>
        </p:txBody>
      </p:sp>
      <p:sp>
        <p:nvSpPr>
          <p:cNvPr id="20483" name="Rectangle 3"/>
          <p:cNvSpPr>
            <a:spLocks noGrp="1" noChangeArrowheads="1"/>
          </p:cNvSpPr>
          <p:nvPr>
            <p:ph type="body" idx="1"/>
          </p:nvPr>
        </p:nvSpPr>
        <p:spPr>
          <a:xfrm>
            <a:off x="1903615" y="1413164"/>
            <a:ext cx="8078585" cy="4378036"/>
          </a:xfrm>
        </p:spPr>
        <p:txBody>
          <a:bodyPr>
            <a:normAutofit lnSpcReduction="10000"/>
          </a:bodyPr>
          <a:lstStyle/>
          <a:p>
            <a:pPr>
              <a:lnSpc>
                <a:spcPct val="90000"/>
              </a:lnSpc>
            </a:pPr>
            <a:r>
              <a:rPr lang="en-US" altLang="en-US" sz="2400" dirty="0">
                <a:latin typeface="Times New Roman" panose="02020603050405020304" pitchFamily="18" charset="0"/>
                <a:cs typeface="Times New Roman" panose="02020603050405020304" pitchFamily="18" charset="0"/>
              </a:rPr>
              <a:t>High incentive to escape registration. </a:t>
            </a:r>
            <a:r>
              <a:rPr lang="en-US" altLang="en-US" sz="2400" b="1" i="1" dirty="0">
                <a:latin typeface="Times New Roman" panose="02020603050405020304" pitchFamily="18" charset="0"/>
                <a:cs typeface="Times New Roman" panose="02020603050405020304" pitchFamily="18" charset="0"/>
              </a:rPr>
              <a:t>Hence retailers should be policed properly.</a:t>
            </a:r>
          </a:p>
          <a:p>
            <a:pPr algn="just">
              <a:lnSpc>
                <a:spcPct val="90000"/>
              </a:lnSpc>
              <a:buFontTx/>
              <a:buNone/>
            </a:pPr>
            <a:endParaRPr lang="en-US" altLang="en-US" sz="2400" i="1" dirty="0">
              <a:latin typeface="Times New Roman" panose="02020603050405020304" pitchFamily="18" charset="0"/>
              <a:cs typeface="Times New Roman" panose="02020603050405020304" pitchFamily="18" charset="0"/>
            </a:endParaRPr>
          </a:p>
          <a:p>
            <a:pPr algn="just">
              <a:lnSpc>
                <a:spcPct val="90000"/>
              </a:lnSpc>
              <a:buFontTx/>
              <a:buNone/>
            </a:pPr>
            <a:r>
              <a:rPr lang="en-US" altLang="en-US" sz="2400" i="1" dirty="0">
                <a:latin typeface="Times New Roman" panose="02020603050405020304" pitchFamily="18" charset="0"/>
                <a:cs typeface="Times New Roman" panose="02020603050405020304" pitchFamily="18" charset="0"/>
              </a:rPr>
              <a:t>Illustration</a:t>
            </a:r>
            <a:r>
              <a:rPr lang="en-US" altLang="en-US" sz="2400" dirty="0">
                <a:latin typeface="Times New Roman" panose="02020603050405020304" pitchFamily="18" charset="0"/>
                <a:cs typeface="Times New Roman" panose="02020603050405020304" pitchFamily="18" charset="0"/>
              </a:rPr>
              <a:t>: </a:t>
            </a: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Manufacturer sells to wholesaler for $150, wholesaler to retailer for $180 and retailer sells at a margin of $20 ($200). A 5% tax makes the price $210. Margin of exempt retailers or those who can evade taxation becomes $30, an increase or subsidy of 50%.  </a:t>
            </a: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	</a:t>
            </a:r>
          </a:p>
          <a:p>
            <a:pPr algn="just">
              <a:lnSpc>
                <a:spcPct val="90000"/>
              </a:lnSpc>
              <a:buFontTx/>
              <a:buNone/>
            </a:pPr>
            <a:r>
              <a:rPr lang="en-US" altLang="en-US" sz="2400" i="1" dirty="0">
                <a:latin typeface="Times New Roman" panose="02020603050405020304" pitchFamily="18" charset="0"/>
                <a:cs typeface="Times New Roman" panose="02020603050405020304" pitchFamily="18" charset="0"/>
              </a:rPr>
              <a:t>Solution:</a:t>
            </a:r>
            <a:r>
              <a:rPr lang="en-US" altLang="en-US" sz="2400" dirty="0">
                <a:latin typeface="Times New Roman" panose="02020603050405020304" pitchFamily="18" charset="0"/>
                <a:cs typeface="Times New Roman" panose="02020603050405020304" pitchFamily="18" charset="0"/>
              </a:rPr>
              <a:t> treat unregistered retailers as consumers and charge tax on sales to them by manufacturers/ wholesalers.</a:t>
            </a:r>
          </a:p>
          <a:p>
            <a:pPr>
              <a:lnSpc>
                <a:spcPct val="90000"/>
              </a:lnSpc>
              <a:buFontTx/>
              <a:buNone/>
            </a:pPr>
            <a:endParaRPr lang="en-US" altLang="en-US" sz="2400" dirty="0"/>
          </a:p>
        </p:txBody>
      </p:sp>
    </p:spTree>
    <p:extLst>
      <p:ext uri="{BB962C8B-B14F-4D97-AF65-F5344CB8AC3E}">
        <p14:creationId xmlns:p14="http://schemas.microsoft.com/office/powerpoint/2010/main" val="6056954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133600" y="381000"/>
            <a:ext cx="7772400" cy="584200"/>
          </a:xfrm>
        </p:spPr>
        <p:txBody>
          <a:bodyPr/>
          <a:lstStyle/>
          <a:p>
            <a:pPr algn="ctr"/>
            <a:r>
              <a:rPr lang="en-US" altLang="en-US" sz="3200" b="1" dirty="0">
                <a:latin typeface="Times New Roman" panose="02020603050405020304" pitchFamily="18" charset="0"/>
                <a:cs typeface="Times New Roman" panose="02020603050405020304" pitchFamily="18" charset="0"/>
              </a:rPr>
              <a:t>Value Added Tax</a:t>
            </a:r>
          </a:p>
        </p:txBody>
      </p:sp>
      <p:sp>
        <p:nvSpPr>
          <p:cNvPr id="21507" name="Rectangle 3"/>
          <p:cNvSpPr>
            <a:spLocks noGrp="1" noChangeArrowheads="1"/>
          </p:cNvSpPr>
          <p:nvPr>
            <p:ph type="body" idx="1"/>
          </p:nvPr>
        </p:nvSpPr>
        <p:spPr>
          <a:xfrm>
            <a:off x="1659467" y="1286932"/>
            <a:ext cx="8568265" cy="4853891"/>
          </a:xfrm>
        </p:spPr>
        <p:txBody>
          <a:bodyPr>
            <a:normAutofit lnSpcReduction="10000"/>
          </a:bodyPr>
          <a:lstStyle/>
          <a:p>
            <a:pPr algn="just">
              <a:lnSpc>
                <a:spcPct val="90000"/>
              </a:lnSpc>
              <a:buFontTx/>
              <a:buNone/>
            </a:pPr>
            <a:r>
              <a:rPr lang="en-US" altLang="en-US" sz="2400" i="1" dirty="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Value added tax (VAT)</a:t>
            </a:r>
            <a:endParaRPr lang="en-US" altLang="en-US" dirty="0">
              <a:latin typeface="Times New Roman" panose="02020603050405020304" pitchFamily="18" charset="0"/>
              <a:cs typeface="Times New Roman" panose="02020603050405020304" pitchFamily="18" charset="0"/>
            </a:endParaRPr>
          </a:p>
          <a:p>
            <a:pPr algn="just">
              <a:lnSpc>
                <a:spcPct val="90000"/>
              </a:lnSpc>
            </a:pPr>
            <a:r>
              <a:rPr lang="en-US" altLang="en-US" sz="2400" dirty="0">
                <a:latin typeface="Times New Roman" panose="02020603050405020304" pitchFamily="18" charset="0"/>
                <a:cs typeface="Times New Roman" panose="02020603050405020304" pitchFamily="18" charset="0"/>
              </a:rPr>
              <a:t>An indirect tax collected at various stages based on the value added at each stage.  </a:t>
            </a:r>
          </a:p>
          <a:p>
            <a:pPr algn="just">
              <a:lnSpc>
                <a:spcPct val="90000"/>
              </a:lnSpc>
            </a:pPr>
            <a:r>
              <a:rPr lang="en-US" altLang="en-US" sz="2400" dirty="0">
                <a:latin typeface="Times New Roman" panose="02020603050405020304" pitchFamily="18" charset="0"/>
                <a:cs typeface="Times New Roman" panose="02020603050405020304" pitchFamily="18" charset="0"/>
              </a:rPr>
              <a:t>In effect, a sales tax administered in a different way.  </a:t>
            </a:r>
          </a:p>
          <a:p>
            <a:pPr algn="just">
              <a:lnSpc>
                <a:spcPct val="90000"/>
              </a:lnSpc>
            </a:pPr>
            <a:r>
              <a:rPr lang="en-US" altLang="en-US" sz="2400" dirty="0">
                <a:latin typeface="Times New Roman" panose="02020603050405020304" pitchFamily="18" charset="0"/>
                <a:cs typeface="Times New Roman" panose="02020603050405020304" pitchFamily="18" charset="0"/>
              </a:rPr>
              <a:t>When properly implemented, equivalent to single stage tax.  </a:t>
            </a:r>
          </a:p>
          <a:p>
            <a:pPr algn="just">
              <a:lnSpc>
                <a:spcPct val="90000"/>
              </a:lnSpc>
              <a:buFontTx/>
              <a:buNone/>
            </a:pPr>
            <a:r>
              <a:rPr lang="en-US" altLang="en-US" sz="2400" i="1"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What is Value Added?</a:t>
            </a:r>
            <a:r>
              <a:rPr lang="en-US" altLang="en-US" dirty="0">
                <a:latin typeface="Times New Roman" panose="02020603050405020304" pitchFamily="18" charset="0"/>
                <a:cs typeface="Times New Roman" panose="02020603050405020304" pitchFamily="18" charset="0"/>
              </a:rPr>
              <a:t>   </a:t>
            </a: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	Value that a producer adds to the raw materials or purchases before selling the new or improved good/service; inputs (raw materials, transport, utilities, etc.) purchased by a firm, and then factors of production – labor, capital, land paid to work on inputs. When final good/service sold, some profits are left. </a:t>
            </a:r>
            <a:r>
              <a:rPr lang="en-US" altLang="en-US" sz="2400" dirty="0">
                <a:solidFill>
                  <a:srgbClr val="FF0000"/>
                </a:solidFill>
                <a:latin typeface="Times New Roman" panose="02020603050405020304" pitchFamily="18" charset="0"/>
                <a:cs typeface="Times New Roman" panose="02020603050405020304" pitchFamily="18" charset="0"/>
              </a:rPr>
              <a:t>Difference in the value of inputs and value of final product is value added. This is exactly equal to sum  of payments to labor, capital and land. </a:t>
            </a:r>
          </a:p>
        </p:txBody>
      </p:sp>
    </p:spTree>
    <p:extLst>
      <p:ext uri="{BB962C8B-B14F-4D97-AF65-F5344CB8AC3E}">
        <p14:creationId xmlns:p14="http://schemas.microsoft.com/office/powerpoint/2010/main" val="3595300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64276" y="85725"/>
            <a:ext cx="9692640" cy="861927"/>
          </a:xfrm>
        </p:spPr>
        <p:txBody>
          <a:bodyPr/>
          <a:lstStyle/>
          <a:p>
            <a:pPr algn="ctr"/>
            <a:r>
              <a:rPr lang="en-US" altLang="en-US" sz="3200" b="1" dirty="0">
                <a:latin typeface="Times New Roman" panose="02020603050405020304" pitchFamily="18" charset="0"/>
                <a:cs typeface="Times New Roman" panose="02020603050405020304" pitchFamily="18" charset="0"/>
              </a:rPr>
              <a:t>TWO PERSPECTIVES ON VALUE ADDED</a:t>
            </a:r>
          </a:p>
        </p:txBody>
      </p:sp>
      <p:sp>
        <p:nvSpPr>
          <p:cNvPr id="22531" name="Rectangle 3"/>
          <p:cNvSpPr>
            <a:spLocks noGrp="1" noChangeArrowheads="1"/>
          </p:cNvSpPr>
          <p:nvPr>
            <p:ph type="body" idx="1"/>
          </p:nvPr>
        </p:nvSpPr>
        <p:spPr>
          <a:xfrm>
            <a:off x="838200" y="1147481"/>
            <a:ext cx="9951720" cy="5620871"/>
          </a:xfrm>
        </p:spPr>
        <p:txBody>
          <a:bodyPr>
            <a:normAutofit fontScale="92500"/>
          </a:bodyPr>
          <a:lstStyle/>
          <a:p>
            <a:pPr algn="just">
              <a:lnSpc>
                <a:spcPct val="90000"/>
              </a:lnSpc>
              <a:buFontTx/>
              <a:buNone/>
            </a:pPr>
            <a:r>
              <a:rPr lang="en-US" altLang="en-US" i="1" dirty="0">
                <a:latin typeface="Times New Roman" panose="02020603050405020304" pitchFamily="18" charset="0"/>
                <a:cs typeface="Times New Roman" panose="02020603050405020304" pitchFamily="18" charset="0"/>
              </a:rPr>
              <a:t>Two ways of looking at value added:</a:t>
            </a:r>
            <a:endParaRPr lang="en-US" altLang="en-US" dirty="0">
              <a:latin typeface="Times New Roman" panose="02020603050405020304" pitchFamily="18" charset="0"/>
              <a:cs typeface="Times New Roman" panose="02020603050405020304" pitchFamily="18" charset="0"/>
            </a:endParaRPr>
          </a:p>
          <a:p>
            <a:pPr algn="just">
              <a:lnSpc>
                <a:spcPct val="90000"/>
              </a:lnSpc>
            </a:pPr>
            <a:r>
              <a:rPr lang="en-US" altLang="en-US" sz="2400" dirty="0">
                <a:latin typeface="Times New Roman" panose="02020603050405020304" pitchFamily="18" charset="0"/>
                <a:cs typeface="Times New Roman" panose="02020603050405020304" pitchFamily="18" charset="0"/>
              </a:rPr>
              <a:t>Value added at different stages of production of goods and services.	</a:t>
            </a: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    Value added   = wages + gross profits + interest + rent,	 </a:t>
            </a:r>
          </a:p>
          <a:p>
            <a:pPr algn="just">
              <a:lnSpc>
                <a:spcPct val="90000"/>
              </a:lnSpc>
            </a:pPr>
            <a:r>
              <a:rPr lang="en-US" altLang="en-US" sz="2400" dirty="0">
                <a:latin typeface="Times New Roman" panose="02020603050405020304" pitchFamily="18" charset="0"/>
                <a:cs typeface="Times New Roman" panose="02020603050405020304" pitchFamily="18" charset="0"/>
              </a:rPr>
              <a:t>Or: 	Value added = price of output - cost of inputs </a:t>
            </a:r>
          </a:p>
          <a:p>
            <a:pPr>
              <a:lnSpc>
                <a:spcPct val="90000"/>
              </a:lnSpc>
            </a:pPr>
            <a:r>
              <a:rPr lang="en-US" altLang="en-US" sz="2400" dirty="0">
                <a:latin typeface="Times New Roman" panose="02020603050405020304" pitchFamily="18" charset="0"/>
                <a:cs typeface="Times New Roman" panose="02020603050405020304" pitchFamily="18" charset="0"/>
              </a:rPr>
              <a:t> For simplicity, sometimes only wages and gross profits included in value added: Value added   = wages + gross profits; here gross profit meant to include interest and rent as well.</a:t>
            </a:r>
          </a:p>
          <a:p>
            <a:pPr>
              <a:buFontTx/>
              <a:buNone/>
            </a:pPr>
            <a:r>
              <a:rPr lang="en-US" altLang="en-US" i="1" dirty="0">
                <a:latin typeface="Times New Roman" panose="02020603050405020304" pitchFamily="18" charset="0"/>
                <a:cs typeface="Times New Roman" panose="02020603050405020304" pitchFamily="18" charset="0"/>
              </a:rPr>
              <a:t>Why adopt a VAT?</a:t>
            </a:r>
            <a:r>
              <a:rPr lang="en-US" altLang="en-US" dirty="0">
                <a:latin typeface="Times New Roman" panose="02020603050405020304" pitchFamily="18" charset="0"/>
                <a:cs typeface="Times New Roman" panose="02020603050405020304" pitchFamily="18" charset="0"/>
              </a:rPr>
              <a:t>  About 160 out of 195 countries have adopted VAT</a:t>
            </a:r>
          </a:p>
          <a:p>
            <a:pPr>
              <a:buFontTx/>
              <a:buNone/>
            </a:pPr>
            <a:r>
              <a:rPr lang="en-US" altLang="en-US" sz="2400" dirty="0">
                <a:latin typeface="Times New Roman" panose="02020603050405020304" pitchFamily="18" charset="0"/>
                <a:cs typeface="Times New Roman" panose="02020603050405020304" pitchFamily="18" charset="0"/>
              </a:rPr>
              <a:t>(a) Existing tax laws may be unsatisfactory,  </a:t>
            </a:r>
          </a:p>
          <a:p>
            <a:pPr>
              <a:buFontTx/>
              <a:buNone/>
            </a:pPr>
            <a:r>
              <a:rPr lang="en-US" altLang="en-US" sz="2400" dirty="0">
                <a:latin typeface="Times New Roman" panose="02020603050405020304" pitchFamily="18" charset="0"/>
                <a:cs typeface="Times New Roman" panose="02020603050405020304" pitchFamily="18" charset="0"/>
              </a:rPr>
              <a:t>(b) Custom union requirement (replacement of border taxes).</a:t>
            </a:r>
          </a:p>
          <a:p>
            <a:pPr>
              <a:buFontTx/>
              <a:buNone/>
            </a:pPr>
            <a:r>
              <a:rPr lang="en-US" altLang="en-US" sz="2400" dirty="0">
                <a:latin typeface="Times New Roman" panose="02020603050405020304" pitchFamily="18" charset="0"/>
                <a:cs typeface="Times New Roman" panose="02020603050405020304" pitchFamily="18" charset="0"/>
              </a:rPr>
              <a:t>(c) </a:t>
            </a:r>
            <a:r>
              <a:rPr lang="en-US" altLang="en-US" sz="2400" dirty="0">
                <a:solidFill>
                  <a:srgbClr val="FF0000"/>
                </a:solidFill>
                <a:latin typeface="Times New Roman" panose="02020603050405020304" pitchFamily="18" charset="0"/>
                <a:cs typeface="Times New Roman" panose="02020603050405020304" pitchFamily="18" charset="0"/>
              </a:rPr>
              <a:t>VAT helpful in increasing tax revenue or reducing other taxes; for instance, replace corporate income tax. VAT has been called the “workhorse” of taxation.</a:t>
            </a:r>
          </a:p>
          <a:p>
            <a:pPr algn="just">
              <a:lnSpc>
                <a:spcPct val="90000"/>
              </a:lnSpc>
              <a:buFontTx/>
              <a:buNone/>
            </a:pPr>
            <a:r>
              <a:rPr lang="en-US" altLang="en-US" sz="2400" dirty="0">
                <a:cs typeface="Times New Roman" panose="02020603050405020304" pitchFamily="18" charset="0"/>
              </a:rPr>
              <a:t> </a:t>
            </a:r>
          </a:p>
          <a:p>
            <a:pPr>
              <a:lnSpc>
                <a:spcPct val="90000"/>
              </a:lnSpc>
              <a:buFontTx/>
              <a:buNone/>
            </a:pPr>
            <a:endParaRPr lang="en-US" altLang="en-US" sz="2400" dirty="0"/>
          </a:p>
        </p:txBody>
      </p:sp>
    </p:spTree>
    <p:extLst>
      <p:ext uri="{BB962C8B-B14F-4D97-AF65-F5344CB8AC3E}">
        <p14:creationId xmlns:p14="http://schemas.microsoft.com/office/powerpoint/2010/main" val="17861302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676400" y="152400"/>
            <a:ext cx="8839200" cy="533400"/>
          </a:xfrm>
          <a:noFill/>
        </p:spPr>
        <p:txBody>
          <a:bodyPr vert="horz" lIns="90488" tIns="44450" rIns="90488" bIns="44450" rtlCol="0" anchor="ctr">
            <a:noAutofit/>
          </a:bodyPr>
          <a:lstStyle/>
          <a:p>
            <a:pPr algn="ctr"/>
            <a:r>
              <a:rPr lang="en-US" altLang="en-US" sz="4000" b="1" dirty="0">
                <a:latin typeface="Times New Roman" panose="02020603050405020304" pitchFamily="18" charset="0"/>
                <a:cs typeface="Times New Roman" panose="02020603050405020304" pitchFamily="18" charset="0"/>
              </a:rPr>
              <a:t>Two ways of looking at Value Added?</a:t>
            </a:r>
          </a:p>
        </p:txBody>
      </p:sp>
      <p:sp>
        <p:nvSpPr>
          <p:cNvPr id="28676" name="Rectangle 4"/>
          <p:cNvSpPr>
            <a:spLocks noChangeArrowheads="1"/>
          </p:cNvSpPr>
          <p:nvPr/>
        </p:nvSpPr>
        <p:spPr bwMode="auto">
          <a:xfrm>
            <a:off x="3042458" y="1238596"/>
            <a:ext cx="93102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800" dirty="0"/>
              <a:t>Price</a:t>
            </a:r>
          </a:p>
        </p:txBody>
      </p:sp>
      <p:sp>
        <p:nvSpPr>
          <p:cNvPr id="28678" name="Rectangle 6"/>
          <p:cNvSpPr>
            <a:spLocks noChangeArrowheads="1"/>
          </p:cNvSpPr>
          <p:nvPr/>
        </p:nvSpPr>
        <p:spPr bwMode="auto">
          <a:xfrm>
            <a:off x="3276601" y="4588137"/>
            <a:ext cx="6274723" cy="92076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None/>
            </a:pPr>
            <a:r>
              <a:rPr lang="en-US" sz="1800" dirty="0">
                <a:solidFill>
                  <a:schemeClr val="accent5">
                    <a:lumMod val="75000"/>
                  </a:schemeClr>
                </a:solidFill>
              </a:rPr>
              <a:t>Payment to labor (wages), capital (interest to lenders and profits to share holders) and land lord (rent) taken together is value added (VA). Cost of inputs </a:t>
            </a:r>
            <a:r>
              <a:rPr lang="en-US" altLang="en-US" sz="1800" dirty="0">
                <a:solidFill>
                  <a:schemeClr val="accent5">
                    <a:lumMod val="75000"/>
                  </a:schemeClr>
                </a:solidFill>
              </a:rPr>
              <a:t>P</a:t>
            </a:r>
            <a:r>
              <a:rPr lang="en-US" altLang="en-US" sz="1800" baseline="-25000" dirty="0">
                <a:solidFill>
                  <a:schemeClr val="accent5">
                    <a:lumMod val="75000"/>
                  </a:schemeClr>
                </a:solidFill>
              </a:rPr>
              <a:t>1</a:t>
            </a:r>
            <a:r>
              <a:rPr lang="en-US" sz="1800" dirty="0">
                <a:solidFill>
                  <a:schemeClr val="accent5">
                    <a:lumMod val="75000"/>
                  </a:schemeClr>
                </a:solidFill>
              </a:rPr>
              <a:t> plus value added equals sale price </a:t>
            </a:r>
            <a:r>
              <a:rPr lang="en-US" altLang="en-US" sz="1800" dirty="0">
                <a:solidFill>
                  <a:schemeClr val="accent5">
                    <a:lumMod val="75000"/>
                  </a:schemeClr>
                </a:solidFill>
              </a:rPr>
              <a:t>P</a:t>
            </a:r>
            <a:r>
              <a:rPr lang="en-US" altLang="en-US" sz="1800" baseline="-25000" dirty="0">
                <a:solidFill>
                  <a:schemeClr val="accent5">
                    <a:lumMod val="75000"/>
                  </a:schemeClr>
                </a:solidFill>
              </a:rPr>
              <a:t>2</a:t>
            </a:r>
            <a:r>
              <a:rPr lang="en-US" sz="1800" dirty="0">
                <a:solidFill>
                  <a:schemeClr val="accent5">
                    <a:lumMod val="75000"/>
                  </a:schemeClr>
                </a:solidFill>
              </a:rPr>
              <a:t>.</a:t>
            </a:r>
          </a:p>
        </p:txBody>
      </p:sp>
      <p:sp>
        <p:nvSpPr>
          <p:cNvPr id="28679" name="Rectangle 7"/>
          <p:cNvSpPr>
            <a:spLocks noChangeArrowheads="1"/>
          </p:cNvSpPr>
          <p:nvPr/>
        </p:nvSpPr>
        <p:spPr bwMode="auto">
          <a:xfrm>
            <a:off x="3261851" y="5610252"/>
            <a:ext cx="6274723" cy="92076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800" dirty="0">
                <a:solidFill>
                  <a:schemeClr val="accent5">
                    <a:lumMod val="75000"/>
                  </a:schemeClr>
                </a:solidFill>
              </a:rPr>
              <a:t>Value Added = P</a:t>
            </a:r>
            <a:r>
              <a:rPr lang="en-US" altLang="en-US" sz="1800" baseline="-25000" dirty="0">
                <a:solidFill>
                  <a:schemeClr val="accent5">
                    <a:lumMod val="75000"/>
                  </a:schemeClr>
                </a:solidFill>
              </a:rPr>
              <a:t>2</a:t>
            </a:r>
            <a:r>
              <a:rPr lang="en-US" altLang="en-US" sz="1800" dirty="0">
                <a:solidFill>
                  <a:schemeClr val="accent5">
                    <a:lumMod val="75000"/>
                  </a:schemeClr>
                </a:solidFill>
              </a:rPr>
              <a:t>  - P</a:t>
            </a:r>
            <a:r>
              <a:rPr lang="en-US" altLang="en-US" sz="1800" baseline="-25000" dirty="0">
                <a:solidFill>
                  <a:schemeClr val="accent5">
                    <a:lumMod val="75000"/>
                  </a:schemeClr>
                </a:solidFill>
              </a:rPr>
              <a:t>1</a:t>
            </a:r>
            <a:r>
              <a:rPr lang="en-US" altLang="en-US" sz="1800" dirty="0">
                <a:solidFill>
                  <a:schemeClr val="accent5">
                    <a:lumMod val="75000"/>
                  </a:schemeClr>
                </a:solidFill>
              </a:rPr>
              <a:t>  . </a:t>
            </a:r>
            <a:r>
              <a:rPr lang="en-US" altLang="en-US" sz="1800" dirty="0">
                <a:solidFill>
                  <a:srgbClr val="FF0000"/>
                </a:solidFill>
              </a:rPr>
              <a:t>It also equals sum of wages, interest payment, profits and rent to land lord which are all taxed under income taxes. Double taxation!   </a:t>
            </a:r>
            <a:r>
              <a:rPr lang="en-US" altLang="en-US" sz="1400" dirty="0"/>
              <a:t>	 	</a:t>
            </a:r>
          </a:p>
        </p:txBody>
      </p:sp>
      <p:sp>
        <p:nvSpPr>
          <p:cNvPr id="28683" name="Line 11"/>
          <p:cNvSpPr>
            <a:spLocks noChangeShapeType="1"/>
          </p:cNvSpPr>
          <p:nvPr/>
        </p:nvSpPr>
        <p:spPr bwMode="auto">
          <a:xfrm>
            <a:off x="3750831" y="1759527"/>
            <a:ext cx="0" cy="24257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84" name="Line 12"/>
          <p:cNvSpPr>
            <a:spLocks noChangeShapeType="1"/>
          </p:cNvSpPr>
          <p:nvPr/>
        </p:nvSpPr>
        <p:spPr bwMode="auto">
          <a:xfrm>
            <a:off x="3748060" y="4148051"/>
            <a:ext cx="31877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685" name="Rectangle 13"/>
          <p:cNvSpPr>
            <a:spLocks noChangeArrowheads="1"/>
          </p:cNvSpPr>
          <p:nvPr/>
        </p:nvSpPr>
        <p:spPr bwMode="auto">
          <a:xfrm>
            <a:off x="7182196" y="3981796"/>
            <a:ext cx="191192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800" dirty="0"/>
              <a:t>Quantity per year</a:t>
            </a:r>
          </a:p>
        </p:txBody>
      </p:sp>
      <p:sp>
        <p:nvSpPr>
          <p:cNvPr id="28691" name="Line 22"/>
          <p:cNvSpPr>
            <a:spLocks noChangeShapeType="1"/>
          </p:cNvSpPr>
          <p:nvPr/>
        </p:nvSpPr>
        <p:spPr bwMode="auto">
          <a:xfrm flipH="1">
            <a:off x="3889375" y="2130426"/>
            <a:ext cx="1960563" cy="1358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94" name="Rectangle 25"/>
          <p:cNvSpPr>
            <a:spLocks noChangeArrowheads="1"/>
          </p:cNvSpPr>
          <p:nvPr/>
        </p:nvSpPr>
        <p:spPr bwMode="auto">
          <a:xfrm>
            <a:off x="5719156" y="1653831"/>
            <a:ext cx="44888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800" dirty="0"/>
              <a:t>S</a:t>
            </a:r>
          </a:p>
        </p:txBody>
      </p:sp>
      <p:sp>
        <p:nvSpPr>
          <p:cNvPr id="28701" name="Line 32"/>
          <p:cNvSpPr>
            <a:spLocks noChangeShapeType="1"/>
          </p:cNvSpPr>
          <p:nvPr/>
        </p:nvSpPr>
        <p:spPr bwMode="auto">
          <a:xfrm>
            <a:off x="4783932" y="2852651"/>
            <a:ext cx="0" cy="1295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 name="Right Brace 3"/>
          <p:cNvSpPr/>
          <p:nvPr/>
        </p:nvSpPr>
        <p:spPr>
          <a:xfrm>
            <a:off x="4922475" y="2864315"/>
            <a:ext cx="173227" cy="734839"/>
          </a:xfrm>
          <a:prstGeom prst="rightBrace">
            <a:avLst/>
          </a:prstGeom>
          <a:ln w="190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Right Bracket 4"/>
          <p:cNvSpPr/>
          <p:nvPr/>
        </p:nvSpPr>
        <p:spPr>
          <a:xfrm>
            <a:off x="4922476" y="3668574"/>
            <a:ext cx="107893" cy="442302"/>
          </a:xfrm>
          <a:prstGeom prst="rightBracket">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p:cNvSpPr txBox="1"/>
          <p:nvPr/>
        </p:nvSpPr>
        <p:spPr>
          <a:xfrm>
            <a:off x="5311833" y="3668574"/>
            <a:ext cx="1870363" cy="379724"/>
          </a:xfrm>
          <a:prstGeom prst="rect">
            <a:avLst/>
          </a:prstGeom>
          <a:noFill/>
        </p:spPr>
        <p:txBody>
          <a:bodyPr wrap="square" rtlCol="0">
            <a:spAutoFit/>
          </a:bodyPr>
          <a:lstStyle/>
          <a:p>
            <a:r>
              <a:rPr lang="en-US" dirty="0">
                <a:solidFill>
                  <a:srgbClr val="FF0000"/>
                </a:solidFill>
              </a:rPr>
              <a:t>Cost of inputs</a:t>
            </a:r>
          </a:p>
        </p:txBody>
      </p:sp>
      <p:sp>
        <p:nvSpPr>
          <p:cNvPr id="7" name="TextBox 6"/>
          <p:cNvSpPr txBox="1"/>
          <p:nvPr/>
        </p:nvSpPr>
        <p:spPr>
          <a:xfrm>
            <a:off x="5403272" y="2864315"/>
            <a:ext cx="4006735" cy="646331"/>
          </a:xfrm>
          <a:prstGeom prst="rect">
            <a:avLst/>
          </a:prstGeom>
          <a:noFill/>
        </p:spPr>
        <p:txBody>
          <a:bodyPr wrap="square" rtlCol="0">
            <a:spAutoFit/>
          </a:bodyPr>
          <a:lstStyle/>
          <a:p>
            <a:r>
              <a:rPr lang="en-US" dirty="0">
                <a:solidFill>
                  <a:schemeClr val="accent5">
                    <a:lumMod val="75000"/>
                  </a:schemeClr>
                </a:solidFill>
              </a:rPr>
              <a:t>Payment to labor - wage, capital - profit &amp; interest and land lord - rent</a:t>
            </a:r>
          </a:p>
        </p:txBody>
      </p:sp>
      <p:cxnSp>
        <p:nvCxnSpPr>
          <p:cNvPr id="9" name="Straight Connector 8"/>
          <p:cNvCxnSpPr/>
          <p:nvPr/>
        </p:nvCxnSpPr>
        <p:spPr>
          <a:xfrm flipH="1">
            <a:off x="3748060" y="3668574"/>
            <a:ext cx="1035872"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3748060" y="2852651"/>
            <a:ext cx="1035872" cy="11664"/>
          </a:xfrm>
          <a:prstGeom prst="line">
            <a:avLst/>
          </a:prstGeom>
          <a:ln w="28575">
            <a:prstDash val="lgDash"/>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361474" y="2651760"/>
            <a:ext cx="527899" cy="369332"/>
          </a:xfrm>
          <a:prstGeom prst="rect">
            <a:avLst/>
          </a:prstGeom>
          <a:noFill/>
        </p:spPr>
        <p:txBody>
          <a:bodyPr wrap="square" rtlCol="0">
            <a:spAutoFit/>
          </a:bodyPr>
          <a:lstStyle/>
          <a:p>
            <a:r>
              <a:rPr lang="en-US" dirty="0"/>
              <a:t>P</a:t>
            </a:r>
            <a:r>
              <a:rPr lang="en-US" baseline="-25000" dirty="0"/>
              <a:t>2</a:t>
            </a:r>
          </a:p>
        </p:txBody>
      </p:sp>
      <p:sp>
        <p:nvSpPr>
          <p:cNvPr id="13" name="TextBox 12"/>
          <p:cNvSpPr txBox="1"/>
          <p:nvPr/>
        </p:nvSpPr>
        <p:spPr>
          <a:xfrm>
            <a:off x="3276601" y="3489326"/>
            <a:ext cx="441326" cy="369332"/>
          </a:xfrm>
          <a:prstGeom prst="rect">
            <a:avLst/>
          </a:prstGeom>
          <a:noFill/>
        </p:spPr>
        <p:txBody>
          <a:bodyPr wrap="square" rtlCol="0">
            <a:spAutoFit/>
          </a:bodyPr>
          <a:lstStyle/>
          <a:p>
            <a:r>
              <a:rPr lang="en-US" dirty="0"/>
              <a:t>P</a:t>
            </a:r>
            <a:r>
              <a:rPr lang="en-US" baseline="-25000" dirty="0"/>
              <a:t>1</a:t>
            </a:r>
          </a:p>
        </p:txBody>
      </p:sp>
    </p:spTree>
    <p:extLst>
      <p:ext uri="{BB962C8B-B14F-4D97-AF65-F5344CB8AC3E}">
        <p14:creationId xmlns:p14="http://schemas.microsoft.com/office/powerpoint/2010/main" val="3448339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036618" y="365126"/>
            <a:ext cx="7963593" cy="732154"/>
          </a:xfrm>
        </p:spPr>
        <p:txBody>
          <a:bodyPr>
            <a:normAutofit/>
          </a:bodyPr>
          <a:lstStyle/>
          <a:p>
            <a:pPr algn="ctr"/>
            <a:r>
              <a:rPr lang="en-US" altLang="en-US" sz="4000" b="1" dirty="0">
                <a:latin typeface="Times New Roman" panose="02020603050405020304" pitchFamily="18" charset="0"/>
                <a:cs typeface="Times New Roman" panose="02020603050405020304" pitchFamily="18" charset="0"/>
              </a:rPr>
              <a:t>VAT BASES</a:t>
            </a:r>
          </a:p>
        </p:txBody>
      </p:sp>
      <p:sp>
        <p:nvSpPr>
          <p:cNvPr id="25603" name="Rectangle 3"/>
          <p:cNvSpPr>
            <a:spLocks noGrp="1" noChangeArrowheads="1"/>
          </p:cNvSpPr>
          <p:nvPr>
            <p:ph type="body" idx="1"/>
          </p:nvPr>
        </p:nvSpPr>
        <p:spPr>
          <a:xfrm>
            <a:off x="1762298" y="1429789"/>
            <a:ext cx="8448502" cy="4854633"/>
          </a:xfrm>
        </p:spPr>
        <p:txBody>
          <a:bodyPr>
            <a:normAutofit fontScale="92500"/>
          </a:bodyPr>
          <a:lstStyle/>
          <a:p>
            <a:pPr>
              <a:lnSpc>
                <a:spcPct val="90000"/>
              </a:lnSpc>
              <a:buFontTx/>
              <a:buNone/>
            </a:pPr>
            <a:r>
              <a:rPr lang="en-US" altLang="en-US" sz="2400" i="1" dirty="0">
                <a:latin typeface="Times New Roman" panose="02020603050405020304" pitchFamily="18" charset="0"/>
                <a:cs typeface="Times New Roman" panose="02020603050405020304" pitchFamily="18" charset="0"/>
              </a:rPr>
              <a:t>Types of VAT Bases</a:t>
            </a:r>
            <a:r>
              <a:rPr lang="en-US" altLang="en-US" sz="2400" dirty="0">
                <a:latin typeface="Times New Roman" panose="02020603050405020304" pitchFamily="18" charset="0"/>
                <a:cs typeface="Times New Roman" panose="02020603050405020304" pitchFamily="18" charset="0"/>
              </a:rPr>
              <a:t>  </a:t>
            </a:r>
          </a:p>
          <a:p>
            <a:pPr>
              <a:lnSpc>
                <a:spcPct val="90000"/>
              </a:lnSpc>
              <a:buFontTx/>
              <a:buNone/>
            </a:pPr>
            <a:r>
              <a:rPr lang="en-US" altLang="en-US" sz="2400" dirty="0">
                <a:latin typeface="Times New Roman" panose="02020603050405020304" pitchFamily="18" charset="0"/>
                <a:cs typeface="Times New Roman" panose="02020603050405020304" pitchFamily="18" charset="0"/>
              </a:rPr>
              <a:t> (a) Consumption type. Base is gross receipts from all sales minus intermediate goods or inputs minus capital expenditures. Remainder is consumer goods; </a:t>
            </a:r>
            <a:r>
              <a:rPr lang="en-US" altLang="en-US" sz="2400" b="1" i="1" dirty="0">
                <a:latin typeface="Times New Roman" panose="02020603050405020304" pitchFamily="18" charset="0"/>
                <a:cs typeface="Times New Roman" panose="02020603050405020304" pitchFamily="18" charset="0"/>
              </a:rPr>
              <a:t>same base as that of retail sales tax</a:t>
            </a:r>
            <a:r>
              <a:rPr lang="en-US" altLang="en-US" sz="2400" dirty="0">
                <a:latin typeface="Times New Roman" panose="02020603050405020304" pitchFamily="18" charset="0"/>
                <a:cs typeface="Times New Roman" panose="02020603050405020304" pitchFamily="18" charset="0"/>
              </a:rPr>
              <a:t>. </a:t>
            </a:r>
            <a:r>
              <a:rPr lang="en-US" altLang="en-US" sz="2400" dirty="0">
                <a:solidFill>
                  <a:srgbClr val="FF0000"/>
                </a:solidFill>
                <a:latin typeface="Times New Roman" panose="02020603050405020304" pitchFamily="18" charset="0"/>
                <a:cs typeface="Times New Roman" panose="02020603050405020304" pitchFamily="18" charset="0"/>
              </a:rPr>
              <a:t>Almost all countries having VAT use the consumption base.</a:t>
            </a:r>
          </a:p>
          <a:p>
            <a:pPr>
              <a:lnSpc>
                <a:spcPct val="90000"/>
              </a:lnSpc>
              <a:buFontTx/>
              <a:buNone/>
            </a:pPr>
            <a:r>
              <a:rPr lang="en-US" altLang="en-US" sz="2400" dirty="0">
                <a:latin typeface="Times New Roman" panose="02020603050405020304" pitchFamily="18" charset="0"/>
                <a:cs typeface="Times New Roman" panose="02020603050405020304" pitchFamily="18" charset="0"/>
              </a:rPr>
              <a:t>(b) NNP (Net National Product) type.  VAT applied to gross receipts minus intermediate goods (inputs) minus depreciation; same base as the income tax. </a:t>
            </a:r>
            <a:r>
              <a:rPr lang="en-US" altLang="en-US" sz="2400" b="1" i="1" dirty="0">
                <a:latin typeface="Times New Roman" panose="02020603050405020304" pitchFamily="18" charset="0"/>
                <a:cs typeface="Times New Roman" panose="02020603050405020304" pitchFamily="18" charset="0"/>
              </a:rPr>
              <a:t>Capital goods not deducted but depreciation is. </a:t>
            </a:r>
            <a:r>
              <a:rPr lang="en-US" altLang="en-US" sz="2400" dirty="0">
                <a:latin typeface="Times New Roman" panose="02020603050405020304" pitchFamily="18" charset="0"/>
                <a:cs typeface="Times New Roman" panose="02020603050405020304" pitchFamily="18" charset="0"/>
              </a:rPr>
              <a:t>Initially, some countries tried it but later switched to consumption base.</a:t>
            </a:r>
          </a:p>
          <a:p>
            <a:pPr>
              <a:lnSpc>
                <a:spcPct val="90000"/>
              </a:lnSpc>
              <a:buFontTx/>
              <a:buNone/>
            </a:pPr>
            <a:r>
              <a:rPr lang="en-US" altLang="en-US" sz="2400" dirty="0">
                <a:latin typeface="Times New Roman" panose="02020603050405020304" pitchFamily="18" charset="0"/>
                <a:cs typeface="Times New Roman" panose="02020603050405020304" pitchFamily="18" charset="0"/>
              </a:rPr>
              <a:t>(c) GNP (Gross National Product) type: All </a:t>
            </a:r>
            <a:r>
              <a:rPr lang="en-US" altLang="en-US" sz="2400" u="sng" dirty="0">
                <a:latin typeface="Times New Roman" panose="02020603050405020304" pitchFamily="18" charset="0"/>
                <a:cs typeface="Times New Roman" panose="02020603050405020304" pitchFamily="18" charset="0"/>
              </a:rPr>
              <a:t>final goods and services</a:t>
            </a:r>
            <a:r>
              <a:rPr lang="en-US" altLang="en-US" sz="2400" dirty="0">
                <a:latin typeface="Times New Roman" panose="02020603050405020304" pitchFamily="18" charset="0"/>
                <a:cs typeface="Times New Roman" panose="02020603050405020304" pitchFamily="18" charset="0"/>
              </a:rPr>
              <a:t> sold, both capital goods and consumer goods are taxed. Tax base simply gross receipts minus cost of intermediate goods. </a:t>
            </a:r>
            <a:r>
              <a:rPr lang="en-US" altLang="en-US" sz="2400" b="1" i="1" dirty="0">
                <a:latin typeface="Times New Roman" panose="02020603050405020304" pitchFamily="18" charset="0"/>
                <a:cs typeface="Times New Roman" panose="02020603050405020304" pitchFamily="18" charset="0"/>
              </a:rPr>
              <a:t>No deduction for capital goods and not even for depreciation. </a:t>
            </a:r>
          </a:p>
          <a:p>
            <a:pPr>
              <a:lnSpc>
                <a:spcPct val="90000"/>
              </a:lnSpc>
              <a:buFontTx/>
              <a:buNone/>
            </a:pPr>
            <a:r>
              <a:rPr lang="en-US" altLang="en-US" sz="2400" dirty="0">
                <a:latin typeface="Times New Roman" panose="02020603050405020304" pitchFamily="18" charset="0"/>
                <a:cs typeface="Times New Roman" panose="02020603050405020304" pitchFamily="18" charset="0"/>
              </a:rPr>
              <a:t> 	Tax Base = Wage + Interest + Profit + Rent + Depreciation</a:t>
            </a:r>
          </a:p>
          <a:p>
            <a:pPr>
              <a:lnSpc>
                <a:spcPct val="90000"/>
              </a:lnSpc>
              <a:buFontTx/>
              <a:buNone/>
            </a:pPr>
            <a:endParaRPr lang="en-US" altLang="en-US" sz="2400" dirty="0">
              <a:cs typeface="Times New Roman" panose="02020603050405020304" pitchFamily="18" charset="0"/>
            </a:endParaRPr>
          </a:p>
          <a:p>
            <a:pPr algn="just">
              <a:lnSpc>
                <a:spcPct val="90000"/>
              </a:lnSpc>
              <a:buFontTx/>
              <a:buNone/>
            </a:pPr>
            <a:endParaRPr lang="en-US" altLang="en-US" sz="2400" dirty="0">
              <a:cs typeface="Times New Roman" panose="02020603050405020304" pitchFamily="18" charset="0"/>
            </a:endParaRPr>
          </a:p>
        </p:txBody>
      </p:sp>
    </p:spTree>
    <p:extLst>
      <p:ext uri="{BB962C8B-B14F-4D97-AF65-F5344CB8AC3E}">
        <p14:creationId xmlns:p14="http://schemas.microsoft.com/office/powerpoint/2010/main" val="33688481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0" y="166255"/>
            <a:ext cx="10515600" cy="1155469"/>
          </a:xfrm>
        </p:spPr>
        <p:txBody>
          <a:bodyPr/>
          <a:lstStyle/>
          <a:p>
            <a:pPr algn="ctr"/>
            <a:r>
              <a:rPr lang="en-US" altLang="en-US" sz="3200" b="1" dirty="0">
                <a:latin typeface="Times New Roman" panose="02020603050405020304" pitchFamily="18" charset="0"/>
                <a:cs typeface="Times New Roman" panose="02020603050405020304" pitchFamily="18" charset="0"/>
              </a:rPr>
              <a:t>VAT COMPUTATION</a:t>
            </a:r>
          </a:p>
        </p:txBody>
      </p:sp>
      <p:sp>
        <p:nvSpPr>
          <p:cNvPr id="27651" name="Rectangle 3"/>
          <p:cNvSpPr>
            <a:spLocks noGrp="1" noChangeArrowheads="1"/>
          </p:cNvSpPr>
          <p:nvPr>
            <p:ph type="body" idx="1"/>
          </p:nvPr>
        </p:nvSpPr>
        <p:spPr>
          <a:xfrm>
            <a:off x="1579418" y="1770611"/>
            <a:ext cx="8402782" cy="4020589"/>
          </a:xfrm>
        </p:spPr>
        <p:txBody>
          <a:bodyPr>
            <a:normAutofit lnSpcReduction="10000"/>
          </a:bodyPr>
          <a:lstStyle/>
          <a:p>
            <a:pPr algn="just">
              <a:lnSpc>
                <a:spcPct val="90000"/>
              </a:lnSpc>
              <a:buFontTx/>
              <a:buNone/>
            </a:pPr>
            <a:r>
              <a:rPr lang="en-US" altLang="en-US" i="1" dirty="0">
                <a:latin typeface="Times New Roman" panose="02020603050405020304" pitchFamily="18" charset="0"/>
                <a:cs typeface="Times New Roman" panose="02020603050405020304" pitchFamily="18" charset="0"/>
              </a:rPr>
              <a:t>Three Computation Methods:</a:t>
            </a:r>
            <a:endParaRPr lang="en-US" altLang="en-US" dirty="0">
              <a:latin typeface="Times New Roman" panose="02020603050405020304" pitchFamily="18" charset="0"/>
              <a:cs typeface="Times New Roman" panose="02020603050405020304" pitchFamily="18" charset="0"/>
            </a:endParaRPr>
          </a:p>
          <a:p>
            <a:pPr algn="just">
              <a:lnSpc>
                <a:spcPct val="90000"/>
              </a:lnSpc>
              <a:buFontTx/>
              <a:buNone/>
            </a:pPr>
            <a:r>
              <a:rPr lang="en-US" altLang="en-US" dirty="0">
                <a:latin typeface="Times New Roman" panose="02020603050405020304" pitchFamily="18" charset="0"/>
                <a:cs typeface="Times New Roman" panose="02020603050405020304" pitchFamily="18" charset="0"/>
              </a:rPr>
              <a:t>1.  </a:t>
            </a:r>
            <a:r>
              <a:rPr lang="en-US" altLang="en-US" u="sng" dirty="0">
                <a:latin typeface="Times New Roman" panose="02020603050405020304" pitchFamily="18" charset="0"/>
                <a:cs typeface="Times New Roman" panose="02020603050405020304" pitchFamily="18" charset="0"/>
              </a:rPr>
              <a:t>Addition method</a:t>
            </a:r>
            <a:r>
              <a:rPr lang="en-US" altLang="en-US" dirty="0">
                <a:latin typeface="Times New Roman" panose="02020603050405020304" pitchFamily="18" charset="0"/>
                <a:cs typeface="Times New Roman" panose="02020603050405020304" pitchFamily="18" charset="0"/>
              </a:rPr>
              <a:t>  Value added (wages + gross profits) taxed. Tax at each stage = t</a:t>
            </a:r>
            <a:r>
              <a:rPr lang="en-US" altLang="en-US" baseline="-30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*wages+ t</a:t>
            </a:r>
            <a:r>
              <a:rPr lang="en-US" altLang="en-US" baseline="-30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*gross profits.</a:t>
            </a:r>
          </a:p>
          <a:p>
            <a:pPr>
              <a:lnSpc>
                <a:spcPct val="90000"/>
              </a:lnSpc>
              <a:buFontTx/>
              <a:buNone/>
            </a:pPr>
            <a:r>
              <a:rPr lang="en-US" altLang="en-US" dirty="0">
                <a:latin typeface="Times New Roman" panose="02020603050405020304" pitchFamily="18" charset="0"/>
                <a:cs typeface="Times New Roman" panose="02020603050405020304" pitchFamily="18" charset="0"/>
              </a:rPr>
              <a:t>	</a:t>
            </a:r>
            <a:r>
              <a:rPr lang="en-US" altLang="en-US" u="sng" dirty="0">
                <a:latin typeface="Times New Roman" panose="02020603050405020304" pitchFamily="18" charset="0"/>
                <a:cs typeface="Times New Roman" panose="02020603050405020304" pitchFamily="18" charset="0"/>
              </a:rPr>
              <a:t>Disadvantage</a:t>
            </a:r>
            <a:r>
              <a:rPr lang="en-US" altLang="en-US" dirty="0">
                <a:latin typeface="Times New Roman" panose="02020603050405020304" pitchFamily="18" charset="0"/>
                <a:cs typeface="Times New Roman" panose="02020603050405020304" pitchFamily="18" charset="0"/>
              </a:rPr>
              <a:t> A combination of payroll and corporate income tax (CIT). Estimating profits has the same administrative problems as faced in case of CIT. </a:t>
            </a:r>
          </a:p>
          <a:p>
            <a:pPr algn="just">
              <a:lnSpc>
                <a:spcPct val="90000"/>
              </a:lnSpc>
              <a:buFontTx/>
              <a:buNone/>
            </a:pPr>
            <a:r>
              <a:rPr lang="en-US" altLang="en-US" dirty="0">
                <a:latin typeface="Times New Roman" panose="02020603050405020304" pitchFamily="18" charset="0"/>
                <a:cs typeface="Times New Roman" panose="02020603050405020304" pitchFamily="18" charset="0"/>
              </a:rPr>
              <a:t>2.   </a:t>
            </a:r>
            <a:r>
              <a:rPr lang="en-US" altLang="en-US" u="sng" dirty="0">
                <a:latin typeface="Times New Roman" panose="02020603050405020304" pitchFamily="18" charset="0"/>
                <a:cs typeface="Times New Roman" panose="02020603050405020304" pitchFamily="18" charset="0"/>
              </a:rPr>
              <a:t>Subtraction method </a:t>
            </a:r>
            <a:r>
              <a:rPr lang="en-US" altLang="en-US" dirty="0">
                <a:latin typeface="Times New Roman" panose="02020603050405020304" pitchFamily="18" charset="0"/>
                <a:cs typeface="Times New Roman" panose="02020603050405020304" pitchFamily="18" charset="0"/>
              </a:rPr>
              <a:t>Base is price of output minus costs of inputs and </a:t>
            </a:r>
          </a:p>
          <a:p>
            <a:pPr algn="just">
              <a:buNone/>
            </a:pPr>
            <a:r>
              <a:rPr lang="en-US" altLang="en-US" dirty="0">
                <a:latin typeface="Times New Roman" panose="02020603050405020304" pitchFamily="18" charset="0"/>
                <a:cs typeface="Times New Roman" panose="02020603050405020304" pitchFamily="18" charset="0"/>
              </a:rPr>
              <a:t>	Revenue = tax rate*(Price of output </a:t>
            </a:r>
            <a:r>
              <a:rPr lang="en-US" altLang="en-US" dirty="0">
                <a:solidFill>
                  <a:schemeClr val="accent5">
                    <a:lumMod val="75000"/>
                  </a:schemeClr>
                </a:solidFill>
              </a:rPr>
              <a:t>P</a:t>
            </a:r>
            <a:r>
              <a:rPr lang="en-US" altLang="en-US" baseline="-25000" dirty="0">
                <a:solidFill>
                  <a:schemeClr val="accent5">
                    <a:lumMod val="75000"/>
                  </a:schemeClr>
                </a:solidFill>
              </a:rPr>
              <a:t>2</a:t>
            </a:r>
            <a:r>
              <a:rPr lang="en-US" altLang="en-US" dirty="0">
                <a:solidFill>
                  <a:schemeClr val="accent5">
                    <a:lumMod val="75000"/>
                  </a:schemeClr>
                </a:solidFill>
              </a:rPr>
              <a:t>  </a:t>
            </a:r>
            <a:r>
              <a:rPr lang="en-US" altLang="en-US" dirty="0">
                <a:latin typeface="Times New Roman" panose="02020603050405020304" pitchFamily="18" charset="0"/>
                <a:cs typeface="Times New Roman" panose="02020603050405020304" pitchFamily="18" charset="0"/>
              </a:rPr>
              <a:t>- cost of inputs </a:t>
            </a:r>
            <a:r>
              <a:rPr lang="en-US" altLang="en-US" dirty="0">
                <a:solidFill>
                  <a:schemeClr val="accent5">
                    <a:lumMod val="75000"/>
                  </a:schemeClr>
                </a:solidFill>
              </a:rPr>
              <a:t> P</a:t>
            </a:r>
            <a:r>
              <a:rPr lang="en-US" altLang="en-US" baseline="-25000" dirty="0">
                <a:solidFill>
                  <a:schemeClr val="accent5">
                    <a:lumMod val="75000"/>
                  </a:schemeClr>
                </a:solidFill>
              </a:rPr>
              <a:t>1</a:t>
            </a:r>
            <a:r>
              <a:rPr lang="en-US" altLang="en-US" dirty="0">
                <a:latin typeface="Times New Roman" panose="02020603050405020304" pitchFamily="18" charset="0"/>
                <a:cs typeface="Times New Roman" panose="02020603050405020304" pitchFamily="18" charset="0"/>
              </a:rPr>
              <a:t>)</a:t>
            </a:r>
          </a:p>
          <a:p>
            <a:pPr>
              <a:lnSpc>
                <a:spcPct val="90000"/>
              </a:lnSpc>
              <a:buFontTx/>
              <a:buNone/>
            </a:pPr>
            <a:endParaRPr lang="en-US" altLang="en-US" dirty="0"/>
          </a:p>
        </p:txBody>
      </p:sp>
    </p:spTree>
    <p:extLst>
      <p:ext uri="{BB962C8B-B14F-4D97-AF65-F5344CB8AC3E}">
        <p14:creationId xmlns:p14="http://schemas.microsoft.com/office/powerpoint/2010/main" val="3471294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838200" y="249382"/>
            <a:ext cx="10515600" cy="864523"/>
          </a:xfrm>
        </p:spPr>
        <p:txBody>
          <a:bodyPr/>
          <a:lstStyle/>
          <a:p>
            <a:pPr algn="ctr"/>
            <a:r>
              <a:rPr lang="en-US" altLang="en-US" sz="3200" b="1" dirty="0">
                <a:latin typeface="Times New Roman" panose="02020603050405020304" pitchFamily="18" charset="0"/>
                <a:cs typeface="Times New Roman" panose="02020603050405020304" pitchFamily="18" charset="0"/>
              </a:rPr>
              <a:t>INVOICE OR CREDIT METHOD</a:t>
            </a:r>
          </a:p>
        </p:txBody>
      </p:sp>
      <p:sp>
        <p:nvSpPr>
          <p:cNvPr id="28675" name="Rectangle 3"/>
          <p:cNvSpPr>
            <a:spLocks noGrp="1" noChangeArrowheads="1"/>
          </p:cNvSpPr>
          <p:nvPr>
            <p:ph type="body" idx="1"/>
          </p:nvPr>
        </p:nvSpPr>
        <p:spPr>
          <a:xfrm>
            <a:off x="838200" y="1379913"/>
            <a:ext cx="10515600" cy="4797050"/>
          </a:xfrm>
        </p:spPr>
        <p:txBody>
          <a:bodyPr>
            <a:normAutofit/>
          </a:bodyPr>
          <a:lstStyle/>
          <a:p>
            <a:pPr algn="just">
              <a:lnSpc>
                <a:spcPct val="80000"/>
              </a:lnSpc>
              <a:buFontTx/>
              <a:buNone/>
            </a:pPr>
            <a:r>
              <a:rPr lang="en-US" altLang="en-US" sz="2600" dirty="0">
                <a:latin typeface="Times New Roman" panose="02020603050405020304" pitchFamily="18" charset="0"/>
                <a:cs typeface="Times New Roman" panose="02020603050405020304" pitchFamily="18" charset="0"/>
              </a:rPr>
              <a:t>3.  </a:t>
            </a:r>
            <a:r>
              <a:rPr lang="en-US" altLang="en-US" sz="2600" u="sng" dirty="0">
                <a:latin typeface="Times New Roman" panose="02020603050405020304" pitchFamily="18" charset="0"/>
                <a:cs typeface="Times New Roman" panose="02020603050405020304" pitchFamily="18" charset="0"/>
              </a:rPr>
              <a:t>Invoice or credit method</a:t>
            </a:r>
            <a:endParaRPr lang="en-US" altLang="en-US" sz="2600" dirty="0">
              <a:latin typeface="Times New Roman" panose="02020603050405020304" pitchFamily="18" charset="0"/>
              <a:cs typeface="Times New Roman" panose="02020603050405020304" pitchFamily="18" charset="0"/>
            </a:endParaRPr>
          </a:p>
          <a:p>
            <a:pPr algn="just">
              <a:lnSpc>
                <a:spcPct val="80000"/>
              </a:lnSpc>
              <a:buFontTx/>
              <a:buNone/>
            </a:pPr>
            <a:r>
              <a:rPr lang="en-US" altLang="en-US" sz="2600" dirty="0">
                <a:latin typeface="Times New Roman" panose="02020603050405020304" pitchFamily="18" charset="0"/>
                <a:cs typeface="Times New Roman" panose="02020603050405020304" pitchFamily="18" charset="0"/>
              </a:rPr>
              <a:t>	Output is taxed and a credit given for taxes paid on inputs.  If t</a:t>
            </a:r>
            <a:r>
              <a:rPr lang="en-US" altLang="en-US" sz="2600" baseline="-30000" dirty="0">
                <a:latin typeface="Times New Roman" panose="02020603050405020304" pitchFamily="18" charset="0"/>
                <a:cs typeface="Times New Roman" panose="02020603050405020304" pitchFamily="18" charset="0"/>
              </a:rPr>
              <a:t>1</a:t>
            </a:r>
            <a:r>
              <a:rPr lang="en-US" altLang="en-US" sz="2600" dirty="0">
                <a:latin typeface="Times New Roman" panose="02020603050405020304" pitchFamily="18" charset="0"/>
                <a:cs typeface="Times New Roman" panose="02020603050405020304" pitchFamily="18" charset="0"/>
              </a:rPr>
              <a:t>, t</a:t>
            </a:r>
            <a:r>
              <a:rPr lang="en-US" altLang="en-US" sz="2600" baseline="-30000" dirty="0">
                <a:latin typeface="Times New Roman" panose="02020603050405020304" pitchFamily="18" charset="0"/>
                <a:cs typeface="Times New Roman" panose="02020603050405020304" pitchFamily="18" charset="0"/>
              </a:rPr>
              <a:t>2</a:t>
            </a:r>
            <a:r>
              <a:rPr lang="en-US" altLang="en-US" sz="2600" dirty="0">
                <a:latin typeface="Times New Roman" panose="02020603050405020304" pitchFamily="18" charset="0"/>
                <a:cs typeface="Times New Roman" panose="02020603050405020304" pitchFamily="18" charset="0"/>
              </a:rPr>
              <a:t> are taxes on input and output:</a:t>
            </a:r>
          </a:p>
          <a:p>
            <a:pPr algn="just">
              <a:lnSpc>
                <a:spcPct val="80000"/>
              </a:lnSpc>
              <a:buFontTx/>
              <a:buNone/>
            </a:pPr>
            <a:r>
              <a:rPr lang="en-US" altLang="en-US" sz="2600" dirty="0">
                <a:latin typeface="Times New Roman" panose="02020603050405020304" pitchFamily="18" charset="0"/>
                <a:cs typeface="Times New Roman" panose="02020603050405020304" pitchFamily="18" charset="0"/>
              </a:rPr>
              <a:t>	Tax liability = t</a:t>
            </a:r>
            <a:r>
              <a:rPr lang="en-US" altLang="en-US" sz="2600" baseline="-30000" dirty="0">
                <a:latin typeface="Times New Roman" panose="02020603050405020304" pitchFamily="18" charset="0"/>
                <a:cs typeface="Times New Roman" panose="02020603050405020304" pitchFamily="18" charset="0"/>
              </a:rPr>
              <a:t>2</a:t>
            </a:r>
            <a:r>
              <a:rPr lang="en-US" altLang="en-US" sz="2600" dirty="0">
                <a:latin typeface="Times New Roman" panose="02020603050405020304" pitchFamily="18" charset="0"/>
                <a:cs typeface="Times New Roman" panose="02020603050405020304" pitchFamily="18" charset="0"/>
              </a:rPr>
              <a:t> * output – t</a:t>
            </a:r>
            <a:r>
              <a:rPr lang="en-US" altLang="en-US" sz="2600" baseline="-30000" dirty="0">
                <a:latin typeface="Times New Roman" panose="02020603050405020304" pitchFamily="18" charset="0"/>
                <a:cs typeface="Times New Roman" panose="02020603050405020304" pitchFamily="18" charset="0"/>
              </a:rPr>
              <a:t>1</a:t>
            </a:r>
            <a:r>
              <a:rPr lang="en-US" altLang="en-US" sz="2600" dirty="0">
                <a:latin typeface="Times New Roman" panose="02020603050405020304" pitchFamily="18" charset="0"/>
                <a:cs typeface="Times New Roman" panose="02020603050405020304" pitchFamily="18" charset="0"/>
              </a:rPr>
              <a:t> * input</a:t>
            </a:r>
          </a:p>
          <a:p>
            <a:pPr algn="just">
              <a:lnSpc>
                <a:spcPct val="80000"/>
              </a:lnSpc>
              <a:buFontTx/>
              <a:buNone/>
            </a:pPr>
            <a:r>
              <a:rPr lang="en-US" altLang="en-US" sz="2600" i="1" dirty="0">
                <a:latin typeface="Times New Roman" panose="02020603050405020304" pitchFamily="18" charset="0"/>
                <a:cs typeface="Times New Roman" panose="02020603050405020304" pitchFamily="18" charset="0"/>
              </a:rPr>
              <a:t> 	Notice that </a:t>
            </a:r>
            <a:r>
              <a:rPr lang="en-US" altLang="en-US" sz="2600" i="1" u="sng" dirty="0">
                <a:latin typeface="Times New Roman" panose="02020603050405020304" pitchFamily="18" charset="0"/>
                <a:cs typeface="Times New Roman" panose="02020603050405020304" pitchFamily="18" charset="0"/>
              </a:rPr>
              <a:t>tax base</a:t>
            </a:r>
            <a:r>
              <a:rPr lang="en-US" altLang="en-US" sz="2600" i="1" dirty="0">
                <a:latin typeface="Times New Roman" panose="02020603050405020304" pitchFamily="18" charset="0"/>
                <a:cs typeface="Times New Roman" panose="02020603050405020304" pitchFamily="18" charset="0"/>
              </a:rPr>
              <a:t> need not be calculated in this method, only taxes paid on output and input are calculated. </a:t>
            </a:r>
            <a:r>
              <a:rPr lang="en-US" altLang="en-US" sz="2600" b="1" i="1" dirty="0">
                <a:latin typeface="Times New Roman" panose="02020603050405020304" pitchFamily="18" charset="0"/>
                <a:cs typeface="Times New Roman" panose="02020603050405020304" pitchFamily="18" charset="0"/>
              </a:rPr>
              <a:t>This makes administration of VAT all the more simple. Almost all countries with the exception of Japan use it.</a:t>
            </a:r>
            <a:endParaRPr lang="en-US" altLang="en-US" sz="2600" b="1" dirty="0">
              <a:latin typeface="Times New Roman" panose="02020603050405020304" pitchFamily="18" charset="0"/>
              <a:cs typeface="Times New Roman" panose="02020603050405020304" pitchFamily="18" charset="0"/>
            </a:endParaRPr>
          </a:p>
          <a:p>
            <a:pPr algn="just">
              <a:lnSpc>
                <a:spcPct val="80000"/>
              </a:lnSpc>
            </a:pPr>
            <a:r>
              <a:rPr lang="en-US" altLang="en-US" sz="2600" dirty="0">
                <a:latin typeface="Times New Roman" panose="02020603050405020304" pitchFamily="18" charset="0"/>
                <a:cs typeface="Times New Roman" panose="02020603050405020304" pitchFamily="18" charset="0"/>
              </a:rPr>
              <a:t> Invoice or credit method more acceptable because:</a:t>
            </a:r>
          </a:p>
          <a:p>
            <a:pPr lvl="1" algn="just">
              <a:lnSpc>
                <a:spcPct val="80000"/>
              </a:lnSpc>
            </a:pPr>
            <a:r>
              <a:rPr lang="en-US" altLang="en-US" dirty="0">
                <a:latin typeface="Times New Roman" panose="02020603050405020304" pitchFamily="18" charset="0"/>
                <a:cs typeface="Times New Roman" panose="02020603050405020304" pitchFamily="18" charset="0"/>
              </a:rPr>
              <a:t>Invoice a crucial evidence for sale transaction and tax payment, hence better administration</a:t>
            </a:r>
          </a:p>
          <a:p>
            <a:pPr lvl="1" algn="just">
              <a:lnSpc>
                <a:spcPct val="80000"/>
              </a:lnSpc>
            </a:pPr>
            <a:r>
              <a:rPr lang="en-US" altLang="en-US" dirty="0">
                <a:latin typeface="Times New Roman" panose="02020603050405020304" pitchFamily="18" charset="0"/>
                <a:cs typeface="Times New Roman" panose="02020603050405020304" pitchFamily="18" charset="0"/>
              </a:rPr>
              <a:t>Creates a good basis for audit</a:t>
            </a:r>
          </a:p>
          <a:p>
            <a:pPr lvl="1">
              <a:lnSpc>
                <a:spcPct val="80000"/>
              </a:lnSpc>
            </a:pPr>
            <a:r>
              <a:rPr lang="en-US" altLang="en-US" dirty="0">
                <a:latin typeface="Times New Roman" panose="02020603050405020304" pitchFamily="18" charset="0"/>
                <a:cs typeface="Times New Roman" panose="02020603050405020304" pitchFamily="18" charset="0"/>
              </a:rPr>
              <a:t>Multiple tax rates may be easily used; which is more difficult in subtraction method (explained next).</a:t>
            </a:r>
          </a:p>
          <a:p>
            <a:pPr>
              <a:lnSpc>
                <a:spcPct val="80000"/>
              </a:lnSpc>
            </a:pPr>
            <a:endParaRPr lang="en-US" altLang="en-US" sz="2400" dirty="0">
              <a:cs typeface="Times New Roman" panose="02020603050405020304" pitchFamily="18" charset="0"/>
            </a:endParaRPr>
          </a:p>
          <a:p>
            <a:pPr>
              <a:lnSpc>
                <a:spcPct val="80000"/>
              </a:lnSpc>
              <a:buFontTx/>
              <a:buNone/>
            </a:pPr>
            <a:endParaRPr lang="en-US" altLang="en-US" dirty="0"/>
          </a:p>
        </p:txBody>
      </p:sp>
    </p:spTree>
    <p:extLst>
      <p:ext uri="{BB962C8B-B14F-4D97-AF65-F5344CB8AC3E}">
        <p14:creationId xmlns:p14="http://schemas.microsoft.com/office/powerpoint/2010/main" val="3393051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133600" y="228600"/>
            <a:ext cx="7772400" cy="652549"/>
          </a:xfrm>
        </p:spPr>
        <p:txBody>
          <a:bodyPr>
            <a:normAutofit/>
          </a:bodyPr>
          <a:lstStyle/>
          <a:p>
            <a:pPr algn="ctr"/>
            <a:r>
              <a:rPr lang="en-US" altLang="en-US" sz="4000" b="1" dirty="0">
                <a:latin typeface="Times New Roman" panose="02020603050405020304" pitchFamily="18" charset="0"/>
                <a:cs typeface="Times New Roman" panose="02020603050405020304" pitchFamily="18" charset="0"/>
              </a:rPr>
              <a:t>ILLUSTRATION</a:t>
            </a:r>
          </a:p>
        </p:txBody>
      </p:sp>
      <p:sp>
        <p:nvSpPr>
          <p:cNvPr id="29699" name="Rectangle 3"/>
          <p:cNvSpPr>
            <a:spLocks noGrp="1" noChangeArrowheads="1"/>
          </p:cNvSpPr>
          <p:nvPr>
            <p:ph type="body" idx="1"/>
          </p:nvPr>
        </p:nvSpPr>
        <p:spPr>
          <a:xfrm>
            <a:off x="1363287" y="1379913"/>
            <a:ext cx="8618913" cy="4846320"/>
          </a:xfrm>
        </p:spPr>
        <p:txBody>
          <a:bodyPr>
            <a:normAutofit fontScale="32500" lnSpcReduction="20000"/>
          </a:bodyPr>
          <a:lstStyle/>
          <a:p>
            <a:pPr algn="just">
              <a:lnSpc>
                <a:spcPct val="90000"/>
              </a:lnSpc>
              <a:buFontTx/>
              <a:buNone/>
            </a:pPr>
            <a:r>
              <a:rPr lang="en-US" altLang="en-US" sz="8600" i="1" dirty="0">
                <a:latin typeface="Times New Roman" panose="02020603050405020304" pitchFamily="18" charset="0"/>
                <a:cs typeface="Times New Roman" panose="02020603050405020304" pitchFamily="18" charset="0"/>
              </a:rPr>
              <a:t>VAT Calculation: Some Illustrations</a:t>
            </a:r>
          </a:p>
          <a:p>
            <a:pPr algn="just">
              <a:lnSpc>
                <a:spcPct val="90000"/>
              </a:lnSpc>
              <a:buFontTx/>
              <a:buNone/>
            </a:pPr>
            <a:r>
              <a:rPr lang="en-US" altLang="en-US" sz="4500" dirty="0">
                <a:latin typeface="Times New Roman" panose="02020603050405020304" pitchFamily="18" charset="0"/>
                <a:cs typeface="Times New Roman" panose="02020603050405020304" pitchFamily="18" charset="0"/>
              </a:rPr>
              <a:t>	</a:t>
            </a:r>
          </a:p>
          <a:p>
            <a:pPr algn="just">
              <a:lnSpc>
                <a:spcPct val="90000"/>
              </a:lnSpc>
            </a:pPr>
            <a:r>
              <a:rPr lang="en-US" altLang="en-US" sz="6500" dirty="0">
                <a:latin typeface="Times New Roman" panose="02020603050405020304" pitchFamily="18" charset="0"/>
                <a:cs typeface="Times New Roman" panose="02020603050405020304" pitchFamily="18" charset="0"/>
              </a:rPr>
              <a:t>Case of producing bread: farmer sells wheat to miller who sells flour to the baker. Baker sells bread to final consumer.</a:t>
            </a:r>
          </a:p>
          <a:p>
            <a:pPr algn="just">
              <a:lnSpc>
                <a:spcPct val="90000"/>
              </a:lnSpc>
            </a:pPr>
            <a:r>
              <a:rPr lang="en-US" altLang="en-US" sz="6500" dirty="0">
                <a:latin typeface="Times New Roman" panose="02020603050405020304" pitchFamily="18" charset="0"/>
                <a:cs typeface="Times New Roman" panose="02020603050405020304" pitchFamily="18" charset="0"/>
              </a:rPr>
              <a:t>P</a:t>
            </a:r>
            <a:r>
              <a:rPr lang="en-US" altLang="en-US" sz="6500" baseline="-30000" dirty="0">
                <a:latin typeface="Times New Roman" panose="02020603050405020304" pitchFamily="18" charset="0"/>
                <a:cs typeface="Times New Roman" panose="02020603050405020304" pitchFamily="18" charset="0"/>
              </a:rPr>
              <a:t>1</a:t>
            </a:r>
            <a:r>
              <a:rPr lang="en-US" altLang="en-US" sz="6500" dirty="0">
                <a:latin typeface="Times New Roman" panose="02020603050405020304" pitchFamily="18" charset="0"/>
                <a:cs typeface="Times New Roman" panose="02020603050405020304" pitchFamily="18" charset="0"/>
              </a:rPr>
              <a:t>, value added at farmer’s level = </a:t>
            </a:r>
            <a:r>
              <a:rPr lang="en-US" altLang="en-US" sz="6500" dirty="0" err="1">
                <a:latin typeface="Times New Roman" panose="02020603050405020304" pitchFamily="18" charset="0"/>
                <a:cs typeface="Times New Roman" panose="02020603050405020304" pitchFamily="18" charset="0"/>
              </a:rPr>
              <a:t>wL</a:t>
            </a:r>
            <a:r>
              <a:rPr lang="en-US" altLang="en-US" sz="6500" dirty="0">
                <a:latin typeface="Times New Roman" panose="02020603050405020304" pitchFamily="18" charset="0"/>
                <a:cs typeface="Times New Roman" panose="02020603050405020304" pitchFamily="18" charset="0"/>
              </a:rPr>
              <a:t> + </a:t>
            </a:r>
            <a:r>
              <a:rPr lang="en-US" altLang="en-US" sz="6500" dirty="0" err="1">
                <a:latin typeface="Times New Roman" panose="02020603050405020304" pitchFamily="18" charset="0"/>
                <a:cs typeface="Times New Roman" panose="02020603050405020304" pitchFamily="18" charset="0"/>
              </a:rPr>
              <a:t>rK</a:t>
            </a:r>
            <a:r>
              <a:rPr lang="en-US" altLang="en-US" sz="6500" dirty="0">
                <a:latin typeface="Times New Roman" panose="02020603050405020304" pitchFamily="18" charset="0"/>
                <a:cs typeface="Times New Roman" panose="02020603050405020304" pitchFamily="18" charset="0"/>
              </a:rPr>
              <a:t>; presuming negligible inputs;     	Where </a:t>
            </a:r>
          </a:p>
          <a:p>
            <a:pPr marL="1371600" lvl="3" indent="0" algn="just">
              <a:buNone/>
            </a:pPr>
            <a:r>
              <a:rPr lang="en-US" altLang="en-US" sz="6500" dirty="0">
                <a:latin typeface="Times New Roman" panose="02020603050405020304" pitchFamily="18" charset="0"/>
                <a:cs typeface="Times New Roman" panose="02020603050405020304" pitchFamily="18" charset="0"/>
              </a:rPr>
              <a:t>	w = wage rate, 	L = Labor hours</a:t>
            </a:r>
          </a:p>
          <a:p>
            <a:pPr algn="just">
              <a:lnSpc>
                <a:spcPct val="90000"/>
              </a:lnSpc>
              <a:buFontTx/>
              <a:buNone/>
            </a:pPr>
            <a:r>
              <a:rPr lang="en-US" altLang="en-US" sz="6500" dirty="0">
                <a:latin typeface="Times New Roman" panose="02020603050405020304" pitchFamily="18" charset="0"/>
                <a:cs typeface="Times New Roman" panose="02020603050405020304" pitchFamily="18" charset="0"/>
              </a:rPr>
              <a:t>			r = cost of capital,  K = capital used.</a:t>
            </a:r>
          </a:p>
          <a:p>
            <a:pPr>
              <a:lnSpc>
                <a:spcPct val="90000"/>
              </a:lnSpc>
            </a:pPr>
            <a:r>
              <a:rPr lang="en-US" altLang="en-US" sz="6500" dirty="0">
                <a:latin typeface="Times New Roman" panose="02020603050405020304" pitchFamily="18" charset="0"/>
                <a:cs typeface="Times New Roman" panose="02020603050405020304" pitchFamily="18" charset="0"/>
              </a:rPr>
              <a:t>If price of flour P</a:t>
            </a:r>
            <a:r>
              <a:rPr lang="en-US" altLang="en-US" sz="6500" baseline="-30000" dirty="0">
                <a:latin typeface="Times New Roman" panose="02020603050405020304" pitchFamily="18" charset="0"/>
                <a:cs typeface="Times New Roman" panose="02020603050405020304" pitchFamily="18" charset="0"/>
              </a:rPr>
              <a:t>2</a:t>
            </a:r>
            <a:r>
              <a:rPr lang="en-US" altLang="en-US" sz="6500" dirty="0">
                <a:latin typeface="Times New Roman" panose="02020603050405020304" pitchFamily="18" charset="0"/>
                <a:cs typeface="Times New Roman" panose="02020603050405020304" pitchFamily="18" charset="0"/>
              </a:rPr>
              <a:t> and price of bread P</a:t>
            </a:r>
            <a:r>
              <a:rPr lang="en-US" altLang="en-US" sz="6500" baseline="-30000" dirty="0">
                <a:latin typeface="Times New Roman" panose="02020603050405020304" pitchFamily="18" charset="0"/>
                <a:cs typeface="Times New Roman" panose="02020603050405020304" pitchFamily="18" charset="0"/>
              </a:rPr>
              <a:t>3</a:t>
            </a:r>
            <a:r>
              <a:rPr lang="en-US" altLang="en-US" sz="6500" dirty="0">
                <a:latin typeface="Times New Roman" panose="02020603050405020304" pitchFamily="18" charset="0"/>
                <a:cs typeface="Times New Roman" panose="02020603050405020304" pitchFamily="18" charset="0"/>
              </a:rPr>
              <a:t>;</a:t>
            </a:r>
          </a:p>
          <a:p>
            <a:pPr>
              <a:lnSpc>
                <a:spcPct val="90000"/>
              </a:lnSpc>
              <a:buFontTx/>
              <a:buNone/>
            </a:pPr>
            <a:r>
              <a:rPr lang="en-US" altLang="en-US" sz="6500" dirty="0">
                <a:latin typeface="Times New Roman" panose="02020603050405020304" pitchFamily="18" charset="0"/>
                <a:cs typeface="Times New Roman" panose="02020603050405020304" pitchFamily="18" charset="0"/>
              </a:rPr>
              <a:t>	Value added at the farmer’s level  = P</a:t>
            </a:r>
            <a:r>
              <a:rPr lang="en-US" altLang="en-US" sz="6500" baseline="-30000" dirty="0">
                <a:latin typeface="Times New Roman" panose="02020603050405020304" pitchFamily="18" charset="0"/>
                <a:cs typeface="Times New Roman" panose="02020603050405020304" pitchFamily="18" charset="0"/>
              </a:rPr>
              <a:t>1</a:t>
            </a:r>
            <a:endParaRPr lang="en-US" altLang="en-US" sz="6500" dirty="0">
              <a:latin typeface="Times New Roman" panose="02020603050405020304" pitchFamily="18" charset="0"/>
              <a:cs typeface="Times New Roman" panose="02020603050405020304" pitchFamily="18" charset="0"/>
            </a:endParaRPr>
          </a:p>
          <a:p>
            <a:pPr>
              <a:lnSpc>
                <a:spcPct val="90000"/>
              </a:lnSpc>
              <a:buFontTx/>
              <a:buNone/>
            </a:pPr>
            <a:r>
              <a:rPr lang="en-US" altLang="en-US" sz="6500" dirty="0">
                <a:latin typeface="Times New Roman" panose="02020603050405020304" pitchFamily="18" charset="0"/>
                <a:cs typeface="Times New Roman" panose="02020603050405020304" pitchFamily="18" charset="0"/>
              </a:rPr>
              <a:t>	Value added at the miller’s level  = P</a:t>
            </a:r>
            <a:r>
              <a:rPr lang="en-US" altLang="en-US" sz="6500" baseline="-30000" dirty="0">
                <a:latin typeface="Times New Roman" panose="02020603050405020304" pitchFamily="18" charset="0"/>
                <a:cs typeface="Times New Roman" panose="02020603050405020304" pitchFamily="18" charset="0"/>
              </a:rPr>
              <a:t>2</a:t>
            </a:r>
            <a:r>
              <a:rPr lang="en-US" altLang="en-US" sz="6500" dirty="0">
                <a:latin typeface="Times New Roman" panose="02020603050405020304" pitchFamily="18" charset="0"/>
                <a:cs typeface="Times New Roman" panose="02020603050405020304" pitchFamily="18" charset="0"/>
              </a:rPr>
              <a:t> - P</a:t>
            </a:r>
            <a:r>
              <a:rPr lang="en-US" altLang="en-US" sz="6500" baseline="-30000" dirty="0">
                <a:latin typeface="Times New Roman" panose="02020603050405020304" pitchFamily="18" charset="0"/>
                <a:cs typeface="Times New Roman" panose="02020603050405020304" pitchFamily="18" charset="0"/>
              </a:rPr>
              <a:t>1</a:t>
            </a:r>
            <a:endParaRPr lang="en-US" altLang="en-US" sz="6500" dirty="0">
              <a:latin typeface="Times New Roman" panose="02020603050405020304" pitchFamily="18" charset="0"/>
              <a:cs typeface="Times New Roman" panose="02020603050405020304" pitchFamily="18" charset="0"/>
            </a:endParaRPr>
          </a:p>
          <a:p>
            <a:pPr>
              <a:lnSpc>
                <a:spcPct val="90000"/>
              </a:lnSpc>
              <a:buFontTx/>
              <a:buNone/>
            </a:pPr>
            <a:r>
              <a:rPr lang="en-US" altLang="en-US" sz="6500" dirty="0">
                <a:latin typeface="Times New Roman" panose="02020603050405020304" pitchFamily="18" charset="0"/>
                <a:cs typeface="Times New Roman" panose="02020603050405020304" pitchFamily="18" charset="0"/>
              </a:rPr>
              <a:t>	Value added at the baker’s level  = P</a:t>
            </a:r>
            <a:r>
              <a:rPr lang="en-US" altLang="en-US" sz="6500" baseline="-30000" dirty="0">
                <a:latin typeface="Times New Roman" panose="02020603050405020304" pitchFamily="18" charset="0"/>
                <a:cs typeface="Times New Roman" panose="02020603050405020304" pitchFamily="18" charset="0"/>
              </a:rPr>
              <a:t>3</a:t>
            </a:r>
            <a:r>
              <a:rPr lang="en-US" altLang="en-US" sz="6500" dirty="0">
                <a:latin typeface="Times New Roman" panose="02020603050405020304" pitchFamily="18" charset="0"/>
                <a:cs typeface="Times New Roman" panose="02020603050405020304" pitchFamily="18" charset="0"/>
              </a:rPr>
              <a:t> - P</a:t>
            </a:r>
            <a:r>
              <a:rPr lang="en-US" altLang="en-US" sz="6500" baseline="-30000" dirty="0">
                <a:latin typeface="Times New Roman" panose="02020603050405020304" pitchFamily="18" charset="0"/>
                <a:cs typeface="Times New Roman" panose="02020603050405020304" pitchFamily="18" charset="0"/>
              </a:rPr>
              <a:t>2</a:t>
            </a:r>
            <a:endParaRPr lang="en-US" altLang="en-US" sz="6500" dirty="0">
              <a:latin typeface="Times New Roman" panose="02020603050405020304" pitchFamily="18" charset="0"/>
              <a:cs typeface="Times New Roman" panose="02020603050405020304" pitchFamily="18" charset="0"/>
            </a:endParaRPr>
          </a:p>
          <a:p>
            <a:pPr>
              <a:lnSpc>
                <a:spcPct val="90000"/>
              </a:lnSpc>
              <a:buFontTx/>
              <a:buNone/>
            </a:pPr>
            <a:r>
              <a:rPr lang="en-US" altLang="en-US" sz="6500" dirty="0">
                <a:latin typeface="Times New Roman" panose="02020603050405020304" pitchFamily="18" charset="0"/>
                <a:cs typeface="Times New Roman" panose="02020603050405020304" pitchFamily="18" charset="0"/>
              </a:rPr>
              <a:t>			Total value added = P</a:t>
            </a:r>
            <a:r>
              <a:rPr lang="en-US" altLang="en-US" sz="6500" baseline="-30000" dirty="0">
                <a:latin typeface="Times New Roman" panose="02020603050405020304" pitchFamily="18" charset="0"/>
                <a:cs typeface="Times New Roman" panose="02020603050405020304" pitchFamily="18" charset="0"/>
              </a:rPr>
              <a:t>3</a:t>
            </a:r>
            <a:endParaRPr lang="en-US" altLang="en-US" sz="6500" dirty="0">
              <a:latin typeface="Times New Roman" panose="02020603050405020304" pitchFamily="18" charset="0"/>
              <a:cs typeface="Times New Roman" panose="02020603050405020304" pitchFamily="18" charset="0"/>
            </a:endParaRPr>
          </a:p>
          <a:p>
            <a:pPr algn="just">
              <a:lnSpc>
                <a:spcPct val="90000"/>
              </a:lnSpc>
              <a:buFontTx/>
              <a:buNone/>
            </a:pPr>
            <a:endParaRPr lang="en-US" altLang="en-US" sz="4600" dirty="0">
              <a:cs typeface="Times New Roman" panose="02020603050405020304" pitchFamily="18" charset="0"/>
            </a:endParaRPr>
          </a:p>
          <a:p>
            <a:pPr algn="just">
              <a:lnSpc>
                <a:spcPct val="90000"/>
              </a:lnSpc>
              <a:buFontTx/>
              <a:buNone/>
            </a:pPr>
            <a:r>
              <a:rPr lang="en-US" altLang="en-US" sz="2400" dirty="0">
                <a:cs typeface="Times New Roman" panose="02020603050405020304" pitchFamily="18" charset="0"/>
              </a:rPr>
              <a:t> </a:t>
            </a:r>
          </a:p>
          <a:p>
            <a:pPr>
              <a:lnSpc>
                <a:spcPct val="90000"/>
              </a:lnSpc>
              <a:buFontTx/>
              <a:buNone/>
            </a:pPr>
            <a:endParaRPr lang="en-US" altLang="en-US" sz="2400" dirty="0"/>
          </a:p>
        </p:txBody>
      </p:sp>
    </p:spTree>
    <p:extLst>
      <p:ext uri="{BB962C8B-B14F-4D97-AF65-F5344CB8AC3E}">
        <p14:creationId xmlns:p14="http://schemas.microsoft.com/office/powerpoint/2010/main" val="2950433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4445"/>
            <a:ext cx="10515600" cy="997526"/>
          </a:xfrm>
        </p:spPr>
        <p:txBody>
          <a:bodyPr>
            <a:normAutofit/>
          </a:bodyPr>
          <a:lstStyle/>
          <a:p>
            <a:pPr algn="ctr"/>
            <a:r>
              <a:rPr lang="en-US" sz="4000" b="1" dirty="0">
                <a:latin typeface="Times New Roman" panose="02020603050405020304" pitchFamily="18" charset="0"/>
                <a:cs typeface="Times New Roman" panose="02020603050405020304" pitchFamily="18" charset="0"/>
              </a:rPr>
              <a:t>Examples with Three Stages of Production </a:t>
            </a:r>
          </a:p>
        </p:txBody>
      </p:sp>
      <p:sp>
        <p:nvSpPr>
          <p:cNvPr id="3" name="Content Placeholder 2"/>
          <p:cNvSpPr>
            <a:spLocks noGrp="1"/>
          </p:cNvSpPr>
          <p:nvPr>
            <p:ph idx="1"/>
          </p:nvPr>
        </p:nvSpPr>
        <p:spPr>
          <a:xfrm>
            <a:off x="457200" y="1421476"/>
            <a:ext cx="10896600" cy="4755487"/>
          </a:xfrm>
          <a:ln w="38100">
            <a:solidFill>
              <a:srgbClr val="00B050"/>
            </a:solidFill>
          </a:ln>
        </p:spPr>
        <p:txBody>
          <a:bodyPr>
            <a:normAutofit/>
          </a:bodyPr>
          <a:lstStyle/>
          <a:p>
            <a:r>
              <a:rPr lang="en-US" sz="2200" dirty="0">
                <a:latin typeface="Times New Roman" panose="02020603050405020304" pitchFamily="18" charset="0"/>
                <a:cs typeface="Times New Roman" panose="02020603050405020304" pitchFamily="18" charset="0"/>
              </a:rPr>
              <a:t>Famer sells wheat to Miller who sells flour to Baker who finally sells bread to consumers.</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Addition:            t</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(W1+P1)                   	t</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(W</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+P</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t</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(W</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+P</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Subtraction:               t</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t</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t</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a:t>
            </a:r>
            <a:endParaRPr lang="en-US" sz="2000" baseline="-25000" dirty="0">
              <a:latin typeface="Times New Roman" panose="02020603050405020304" pitchFamily="18" charset="0"/>
              <a:cs typeface="Times New Roman" panose="02020603050405020304" pitchFamily="18" charset="0"/>
            </a:endParaRPr>
          </a:p>
          <a:p>
            <a:pPr marL="0" indent="0">
              <a:buNone/>
            </a:pPr>
            <a:r>
              <a:rPr lang="en-US" sz="2000" baseline="-25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Total  	t</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 t</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t</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t * P</a:t>
            </a:r>
            <a:r>
              <a:rPr lang="en-US" sz="2000" baseline="-25000"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 	If t</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t</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t</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t</a:t>
            </a:r>
            <a:endParaRPr lang="en-US" sz="2000" baseline="-25000" dirty="0">
              <a:latin typeface="Times New Roman" panose="02020603050405020304" pitchFamily="18" charset="0"/>
              <a:cs typeface="Times New Roman" panose="02020603050405020304" pitchFamily="18" charset="0"/>
            </a:endParaRPr>
          </a:p>
          <a:p>
            <a:pPr marL="0" indent="0">
              <a:buNone/>
            </a:pPr>
            <a:endParaRPr lang="en-US" sz="2000" baseline="-25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Credit:		 t</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 		 	t</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t</a:t>
            </a:r>
            <a:r>
              <a:rPr lang="en-US" sz="2000" baseline="-25000" dirty="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 P</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t</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t</a:t>
            </a:r>
            <a:r>
              <a:rPr lang="en-US" sz="2000" baseline="-25000" dirty="0">
                <a:latin typeface="Times New Roman" panose="02020603050405020304"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 P</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Total 	 t</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 t</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t</a:t>
            </a:r>
            <a:r>
              <a:rPr lang="en-US" sz="2000" baseline="-25000" dirty="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 P</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t</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t</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*P</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t</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P</a:t>
            </a:r>
            <a:r>
              <a:rPr lang="en-US" sz="2000" baseline="-25000"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 Tax at the last point on consumers</a:t>
            </a:r>
          </a:p>
          <a:p>
            <a:pPr marL="0" indent="0">
              <a:buNone/>
            </a:pPr>
            <a:r>
              <a:rPr lang="en-US" sz="2000" dirty="0">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rPr>
              <a:t>Exactly like a retail level sales tax! </a:t>
            </a:r>
            <a:r>
              <a:rPr lang="en-US" sz="2000" b="1" i="1" dirty="0">
                <a:solidFill>
                  <a:schemeClr val="accent6"/>
                </a:solidFill>
                <a:latin typeface="Times New Roman" panose="02020603050405020304" pitchFamily="18" charset="0"/>
                <a:cs typeface="Times New Roman" panose="02020603050405020304" pitchFamily="18" charset="0"/>
              </a:rPr>
              <a:t>Multiple tax rates easier to use in credit method.</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2280807" y="2110538"/>
            <a:ext cx="1230284" cy="369332"/>
          </a:xfrm>
          <a:prstGeom prst="rect">
            <a:avLst/>
          </a:prstGeom>
          <a:noFill/>
          <a:ln w="19050">
            <a:solidFill>
              <a:schemeClr val="tx1"/>
            </a:solidFill>
          </a:ln>
        </p:spPr>
        <p:txBody>
          <a:bodyPr wrap="square" rtlCol="0">
            <a:spAutoFit/>
          </a:bodyPr>
          <a:lstStyle/>
          <a:p>
            <a:r>
              <a:rPr lang="en-US" dirty="0"/>
              <a:t>Famer</a:t>
            </a:r>
          </a:p>
        </p:txBody>
      </p:sp>
      <p:sp>
        <p:nvSpPr>
          <p:cNvPr id="5" name="TextBox 4"/>
          <p:cNvSpPr txBox="1"/>
          <p:nvPr/>
        </p:nvSpPr>
        <p:spPr>
          <a:xfrm>
            <a:off x="4776911" y="2110538"/>
            <a:ext cx="1246909" cy="369332"/>
          </a:xfrm>
          <a:prstGeom prst="rect">
            <a:avLst/>
          </a:prstGeom>
          <a:noFill/>
          <a:ln w="19050">
            <a:solidFill>
              <a:schemeClr val="tx1"/>
            </a:solidFill>
          </a:ln>
        </p:spPr>
        <p:txBody>
          <a:bodyPr wrap="square" rtlCol="0">
            <a:spAutoFit/>
          </a:bodyPr>
          <a:lstStyle/>
          <a:p>
            <a:r>
              <a:rPr lang="en-US" dirty="0"/>
              <a:t>Miller</a:t>
            </a:r>
          </a:p>
        </p:txBody>
      </p:sp>
      <p:sp>
        <p:nvSpPr>
          <p:cNvPr id="7" name="TextBox 6"/>
          <p:cNvSpPr txBox="1"/>
          <p:nvPr/>
        </p:nvSpPr>
        <p:spPr>
          <a:xfrm>
            <a:off x="7279803" y="2144523"/>
            <a:ext cx="1147156" cy="369332"/>
          </a:xfrm>
          <a:prstGeom prst="rect">
            <a:avLst/>
          </a:prstGeom>
          <a:noFill/>
          <a:ln w="19050">
            <a:solidFill>
              <a:schemeClr val="tx1"/>
            </a:solidFill>
          </a:ln>
        </p:spPr>
        <p:txBody>
          <a:bodyPr wrap="square" rtlCol="0">
            <a:spAutoFit/>
          </a:bodyPr>
          <a:lstStyle/>
          <a:p>
            <a:r>
              <a:rPr lang="en-US" dirty="0"/>
              <a:t>Baker</a:t>
            </a:r>
          </a:p>
        </p:txBody>
      </p:sp>
      <p:sp>
        <p:nvSpPr>
          <p:cNvPr id="8" name="Right Arrow 7"/>
          <p:cNvSpPr/>
          <p:nvPr/>
        </p:nvSpPr>
        <p:spPr>
          <a:xfrm>
            <a:off x="3661733" y="2192772"/>
            <a:ext cx="978408" cy="2879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6204623" y="2151209"/>
            <a:ext cx="978408" cy="287990"/>
          </a:xfrm>
          <a:prstGeom prst="rightArrow">
            <a:avLst/>
          </a:prstGeom>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8573264" y="2185193"/>
            <a:ext cx="978408" cy="2879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9551671" y="2110538"/>
            <a:ext cx="1415313" cy="369332"/>
          </a:xfrm>
          <a:prstGeom prst="rect">
            <a:avLst/>
          </a:prstGeom>
          <a:noFill/>
        </p:spPr>
        <p:txBody>
          <a:bodyPr wrap="square" rtlCol="0">
            <a:spAutoFit/>
          </a:bodyPr>
          <a:lstStyle/>
          <a:p>
            <a:r>
              <a:rPr lang="en-US" dirty="0"/>
              <a:t>Consumers</a:t>
            </a:r>
          </a:p>
        </p:txBody>
      </p:sp>
      <p:cxnSp>
        <p:nvCxnSpPr>
          <p:cNvPr id="15" name="Straight Arrow Connector 14"/>
          <p:cNvCxnSpPr/>
          <p:nvPr/>
        </p:nvCxnSpPr>
        <p:spPr>
          <a:xfrm>
            <a:off x="2915694" y="2510165"/>
            <a:ext cx="0" cy="39069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400365" y="2510165"/>
            <a:ext cx="0" cy="39069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7777250" y="2537164"/>
            <a:ext cx="8313" cy="39069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740726" y="1837113"/>
            <a:ext cx="855381" cy="369332"/>
          </a:xfrm>
          <a:prstGeom prst="rect">
            <a:avLst/>
          </a:prstGeom>
          <a:noFill/>
        </p:spPr>
        <p:txBody>
          <a:bodyPr wrap="square" rtlCol="0">
            <a:spAutoFit/>
          </a:bodyPr>
          <a:lstStyle/>
          <a:p>
            <a:r>
              <a:rPr lang="en-US" dirty="0"/>
              <a:t>P</a:t>
            </a:r>
            <a:r>
              <a:rPr lang="en-US" baseline="-25000" dirty="0"/>
              <a:t>1</a:t>
            </a:r>
            <a:r>
              <a:rPr lang="en-US" dirty="0"/>
              <a:t>     t</a:t>
            </a:r>
            <a:r>
              <a:rPr lang="en-US" baseline="-25000" dirty="0"/>
              <a:t>1</a:t>
            </a:r>
          </a:p>
        </p:txBody>
      </p:sp>
      <p:sp>
        <p:nvSpPr>
          <p:cNvPr id="21" name="TextBox 20"/>
          <p:cNvSpPr txBox="1"/>
          <p:nvPr/>
        </p:nvSpPr>
        <p:spPr>
          <a:xfrm>
            <a:off x="6204622" y="1795549"/>
            <a:ext cx="928876" cy="369332"/>
          </a:xfrm>
          <a:prstGeom prst="rect">
            <a:avLst/>
          </a:prstGeom>
          <a:noFill/>
        </p:spPr>
        <p:txBody>
          <a:bodyPr wrap="square" rtlCol="0">
            <a:spAutoFit/>
          </a:bodyPr>
          <a:lstStyle/>
          <a:p>
            <a:r>
              <a:rPr lang="en-US" dirty="0"/>
              <a:t>P</a:t>
            </a:r>
            <a:r>
              <a:rPr lang="en-US" baseline="-25000" dirty="0"/>
              <a:t>2</a:t>
            </a:r>
            <a:r>
              <a:rPr lang="en-US" dirty="0"/>
              <a:t>       t</a:t>
            </a:r>
            <a:r>
              <a:rPr lang="en-US" baseline="-25000" dirty="0"/>
              <a:t>2</a:t>
            </a:r>
          </a:p>
        </p:txBody>
      </p:sp>
      <p:sp>
        <p:nvSpPr>
          <p:cNvPr id="25" name="TextBox 24"/>
          <p:cNvSpPr txBox="1"/>
          <p:nvPr/>
        </p:nvSpPr>
        <p:spPr>
          <a:xfrm>
            <a:off x="8612961" y="1806335"/>
            <a:ext cx="803492" cy="369332"/>
          </a:xfrm>
          <a:prstGeom prst="rect">
            <a:avLst/>
          </a:prstGeom>
          <a:noFill/>
        </p:spPr>
        <p:txBody>
          <a:bodyPr wrap="square" rtlCol="0">
            <a:spAutoFit/>
          </a:bodyPr>
          <a:lstStyle/>
          <a:p>
            <a:r>
              <a:rPr lang="en-US" dirty="0"/>
              <a:t>P</a:t>
            </a:r>
            <a:r>
              <a:rPr lang="en-US" baseline="-25000" dirty="0"/>
              <a:t>3 </a:t>
            </a:r>
            <a:r>
              <a:rPr lang="en-US" dirty="0"/>
              <a:t>    t</a:t>
            </a:r>
            <a:r>
              <a:rPr lang="en-US" baseline="-25000" dirty="0"/>
              <a:t>3</a:t>
            </a:r>
          </a:p>
        </p:txBody>
      </p:sp>
      <p:cxnSp>
        <p:nvCxnSpPr>
          <p:cNvPr id="10" name="Straight Arrow Connector 9"/>
          <p:cNvCxnSpPr/>
          <p:nvPr/>
        </p:nvCxnSpPr>
        <p:spPr>
          <a:xfrm>
            <a:off x="1330036" y="2299855"/>
            <a:ext cx="950771"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8573264" y="2537164"/>
            <a:ext cx="911395" cy="277754"/>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9416452" y="2653553"/>
            <a:ext cx="641947" cy="369332"/>
          </a:xfrm>
          <a:prstGeom prst="rect">
            <a:avLst/>
          </a:prstGeom>
          <a:noFill/>
          <a:ln>
            <a:solidFill>
              <a:schemeClr val="accent6"/>
            </a:solidFill>
          </a:ln>
        </p:spPr>
        <p:txBody>
          <a:bodyPr wrap="square" rtlCol="0">
            <a:spAutoFit/>
          </a:bodyPr>
          <a:lstStyle/>
          <a:p>
            <a:r>
              <a:rPr lang="en-US" dirty="0">
                <a:solidFill>
                  <a:schemeClr val="accent6"/>
                </a:solidFill>
              </a:rPr>
              <a:t>P</a:t>
            </a:r>
            <a:r>
              <a:rPr lang="en-US" baseline="-25000" dirty="0">
                <a:solidFill>
                  <a:schemeClr val="accent6"/>
                </a:solidFill>
              </a:rPr>
              <a:t>4 </a:t>
            </a:r>
            <a:r>
              <a:rPr lang="en-US" dirty="0">
                <a:solidFill>
                  <a:schemeClr val="accent6"/>
                </a:solidFill>
              </a:rPr>
              <a:t> t</a:t>
            </a:r>
            <a:r>
              <a:rPr lang="en-US" baseline="-25000" dirty="0">
                <a:solidFill>
                  <a:schemeClr val="accent6"/>
                </a:solidFill>
              </a:rPr>
              <a:t>4</a:t>
            </a:r>
          </a:p>
        </p:txBody>
      </p:sp>
    </p:spTree>
    <p:extLst>
      <p:ext uri="{BB962C8B-B14F-4D97-AF65-F5344CB8AC3E}">
        <p14:creationId xmlns:p14="http://schemas.microsoft.com/office/powerpoint/2010/main" val="2283297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787236" y="149630"/>
            <a:ext cx="8312728" cy="665018"/>
          </a:xfrm>
        </p:spPr>
        <p:txBody>
          <a:bodyPr>
            <a:normAutofit/>
          </a:bodyPr>
          <a:lstStyle/>
          <a:p>
            <a:pPr algn="ctr"/>
            <a:r>
              <a:rPr lang="en-US" altLang="en-US" sz="4000" b="1" dirty="0">
                <a:latin typeface="Times New Roman" panose="02020603050405020304" pitchFamily="18" charset="0"/>
                <a:cs typeface="Times New Roman" panose="02020603050405020304" pitchFamily="18" charset="0"/>
              </a:rPr>
              <a:t>VAT REVENUES</a:t>
            </a:r>
          </a:p>
        </p:txBody>
      </p:sp>
      <p:sp>
        <p:nvSpPr>
          <p:cNvPr id="30723" name="Rectangle 3"/>
          <p:cNvSpPr>
            <a:spLocks noGrp="1" noChangeArrowheads="1"/>
          </p:cNvSpPr>
          <p:nvPr>
            <p:ph type="body" idx="1"/>
          </p:nvPr>
        </p:nvSpPr>
        <p:spPr>
          <a:xfrm>
            <a:off x="1676400" y="1047404"/>
            <a:ext cx="8538633" cy="5421129"/>
          </a:xfrm>
        </p:spPr>
        <p:txBody>
          <a:bodyPr>
            <a:normAutofit/>
          </a:bodyPr>
          <a:lstStyle/>
          <a:p>
            <a:pPr algn="just">
              <a:lnSpc>
                <a:spcPct val="90000"/>
              </a:lnSpc>
              <a:buFontTx/>
              <a:buNone/>
            </a:pPr>
            <a:r>
              <a:rPr lang="en-US" altLang="en-US" sz="2400" i="1" dirty="0">
                <a:cs typeface="Times New Roman" panose="02020603050405020304" pitchFamily="18" charset="0"/>
              </a:rPr>
              <a:t> </a:t>
            </a:r>
            <a:r>
              <a:rPr lang="en-US" altLang="en-US" sz="2600" i="1" dirty="0">
                <a:latin typeface="Times New Roman" panose="02020603050405020304" pitchFamily="18" charset="0"/>
                <a:cs typeface="Times New Roman" panose="02020603050405020304" pitchFamily="18" charset="0"/>
              </a:rPr>
              <a:t>Applying the three methods of computation:</a:t>
            </a:r>
            <a:endParaRPr lang="en-US" altLang="en-US" sz="2600" dirty="0">
              <a:latin typeface="Times New Roman" panose="02020603050405020304" pitchFamily="18" charset="0"/>
              <a:cs typeface="Times New Roman" panose="02020603050405020304" pitchFamily="18" charset="0"/>
            </a:endParaRPr>
          </a:p>
          <a:p>
            <a:pPr algn="just">
              <a:lnSpc>
                <a:spcPct val="90000"/>
              </a:lnSpc>
            </a:pPr>
            <a:r>
              <a:rPr lang="en-US" altLang="en-US" sz="2400" dirty="0">
                <a:latin typeface="Times New Roman" panose="02020603050405020304" pitchFamily="18" charset="0"/>
                <a:cs typeface="Times New Roman" panose="02020603050405020304" pitchFamily="18" charset="0"/>
              </a:rPr>
              <a:t>In Addition method, find out payments to labor and capital at each stage; difficult to apply. However, in some cases this can be the only alternative </a:t>
            </a:r>
            <a:r>
              <a:rPr lang="en-US" altLang="en-US" sz="2400" i="1" dirty="0">
                <a:latin typeface="Times New Roman" panose="02020603050405020304" pitchFamily="18" charset="0"/>
                <a:cs typeface="Times New Roman" panose="02020603050405020304" pitchFamily="18" charset="0"/>
              </a:rPr>
              <a:t>(When?)</a:t>
            </a:r>
            <a:r>
              <a:rPr lang="en-US" altLang="en-US" sz="2400" dirty="0">
                <a:latin typeface="Times New Roman" panose="02020603050405020304" pitchFamily="18" charset="0"/>
                <a:cs typeface="Times New Roman" panose="02020603050405020304" pitchFamily="18" charset="0"/>
              </a:rPr>
              <a:t>.</a:t>
            </a:r>
          </a:p>
          <a:p>
            <a:r>
              <a:rPr lang="en-US" altLang="en-US" sz="2400" dirty="0">
                <a:latin typeface="Times New Roman" panose="02020603050405020304" pitchFamily="18" charset="0"/>
                <a:cs typeface="Times New Roman" panose="02020603050405020304" pitchFamily="18" charset="0"/>
              </a:rPr>
              <a:t>Subtraction method. If tax rates t</a:t>
            </a:r>
            <a:r>
              <a:rPr lang="en-US" altLang="en-US" sz="2400" baseline="-30000" dirty="0">
                <a:latin typeface="Times New Roman" panose="02020603050405020304" pitchFamily="18" charset="0"/>
                <a:cs typeface="Times New Roman" panose="02020603050405020304" pitchFamily="18" charset="0"/>
              </a:rPr>
              <a:t>1</a:t>
            </a:r>
            <a:r>
              <a:rPr lang="en-US" altLang="en-US" sz="2400" dirty="0">
                <a:latin typeface="Times New Roman" panose="02020603050405020304" pitchFamily="18" charset="0"/>
                <a:cs typeface="Times New Roman" panose="02020603050405020304" pitchFamily="18" charset="0"/>
              </a:rPr>
              <a:t>, t</a:t>
            </a:r>
            <a:r>
              <a:rPr lang="en-US" altLang="en-US" sz="2400" baseline="-30000" dirty="0">
                <a:latin typeface="Times New Roman" panose="02020603050405020304" pitchFamily="18" charset="0"/>
                <a:cs typeface="Times New Roman" panose="02020603050405020304" pitchFamily="18" charset="0"/>
              </a:rPr>
              <a:t>2</a:t>
            </a:r>
            <a:r>
              <a:rPr lang="en-US" altLang="en-US" sz="2400" dirty="0">
                <a:latin typeface="Times New Roman" panose="02020603050405020304" pitchFamily="18" charset="0"/>
                <a:cs typeface="Times New Roman" panose="02020603050405020304" pitchFamily="18" charset="0"/>
              </a:rPr>
              <a:t>, and t</a:t>
            </a:r>
            <a:r>
              <a:rPr lang="en-US" altLang="en-US" sz="2400" baseline="-30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 total tax is:</a:t>
            </a:r>
          </a:p>
          <a:p>
            <a:pPr>
              <a:buFontTx/>
              <a:buNone/>
            </a:pPr>
            <a:r>
              <a:rPr lang="en-US" altLang="en-US" sz="2400" dirty="0">
                <a:latin typeface="Times New Roman" panose="02020603050405020304" pitchFamily="18" charset="0"/>
                <a:cs typeface="Times New Roman" panose="02020603050405020304" pitchFamily="18" charset="0"/>
              </a:rPr>
              <a:t>		 t</a:t>
            </a:r>
            <a:r>
              <a:rPr lang="en-US" altLang="en-US" sz="2400" baseline="-30000" dirty="0">
                <a:latin typeface="Times New Roman" panose="02020603050405020304" pitchFamily="18" charset="0"/>
                <a:cs typeface="Times New Roman" panose="02020603050405020304" pitchFamily="18" charset="0"/>
              </a:rPr>
              <a:t>1</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1</a:t>
            </a:r>
            <a:r>
              <a:rPr lang="en-US" altLang="en-US" sz="2400" dirty="0">
                <a:latin typeface="Times New Roman" panose="02020603050405020304" pitchFamily="18" charset="0"/>
                <a:cs typeface="Times New Roman" panose="02020603050405020304" pitchFamily="18" charset="0"/>
              </a:rPr>
              <a:t> + t</a:t>
            </a:r>
            <a:r>
              <a:rPr lang="en-US" altLang="en-US" sz="2400" baseline="-30000" dirty="0">
                <a:latin typeface="Times New Roman" panose="02020603050405020304" pitchFamily="18" charset="0"/>
                <a:cs typeface="Times New Roman" panose="02020603050405020304" pitchFamily="18" charset="0"/>
              </a:rPr>
              <a:t>2</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2</a:t>
            </a:r>
            <a:r>
              <a:rPr lang="en-US" altLang="en-US" sz="2400" dirty="0">
                <a:latin typeface="Times New Roman" panose="02020603050405020304" pitchFamily="18" charset="0"/>
                <a:cs typeface="Times New Roman" panose="02020603050405020304" pitchFamily="18" charset="0"/>
              </a:rPr>
              <a:t> - P</a:t>
            </a:r>
            <a:r>
              <a:rPr lang="en-US" altLang="en-US" sz="2400" baseline="-30000" dirty="0">
                <a:latin typeface="Times New Roman" panose="02020603050405020304" pitchFamily="18" charset="0"/>
                <a:cs typeface="Times New Roman" panose="02020603050405020304" pitchFamily="18" charset="0"/>
              </a:rPr>
              <a:t>1</a:t>
            </a:r>
            <a:r>
              <a:rPr lang="en-US" altLang="en-US" sz="2400" dirty="0">
                <a:latin typeface="Times New Roman" panose="02020603050405020304" pitchFamily="18" charset="0"/>
                <a:cs typeface="Times New Roman" panose="02020603050405020304" pitchFamily="18" charset="0"/>
              </a:rPr>
              <a:t>) + t</a:t>
            </a:r>
            <a:r>
              <a:rPr lang="en-US" altLang="en-US" sz="2400" baseline="-30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 - P</a:t>
            </a:r>
            <a:r>
              <a:rPr lang="en-US" altLang="en-US" sz="2400" baseline="-30000" dirty="0">
                <a:latin typeface="Times New Roman" panose="02020603050405020304" pitchFamily="18" charset="0"/>
                <a:cs typeface="Times New Roman" panose="02020603050405020304" pitchFamily="18" charset="0"/>
              </a:rPr>
              <a:t>2</a:t>
            </a:r>
            <a:r>
              <a:rPr lang="en-US" altLang="en-US" sz="2400" dirty="0">
                <a:latin typeface="Times New Roman" panose="02020603050405020304" pitchFamily="18" charset="0"/>
                <a:cs typeface="Times New Roman" panose="02020603050405020304" pitchFamily="18" charset="0"/>
              </a:rPr>
              <a:t>)</a:t>
            </a:r>
          </a:p>
          <a:p>
            <a:pPr>
              <a:buFontTx/>
              <a:buNone/>
            </a:pPr>
            <a:r>
              <a:rPr lang="en-US" altLang="en-US" sz="2400" dirty="0">
                <a:latin typeface="Times New Roman" panose="02020603050405020304" pitchFamily="18" charset="0"/>
                <a:cs typeface="Times New Roman" panose="02020603050405020304" pitchFamily="18" charset="0"/>
              </a:rPr>
              <a:t>	Or 	(t</a:t>
            </a:r>
            <a:r>
              <a:rPr lang="en-US" altLang="en-US" sz="2400" baseline="-30000" dirty="0">
                <a:latin typeface="Times New Roman" panose="02020603050405020304" pitchFamily="18" charset="0"/>
                <a:cs typeface="Times New Roman" panose="02020603050405020304" pitchFamily="18" charset="0"/>
              </a:rPr>
              <a:t>1</a:t>
            </a:r>
            <a:r>
              <a:rPr lang="en-US" altLang="en-US" sz="2400" dirty="0">
                <a:latin typeface="Times New Roman" panose="02020603050405020304" pitchFamily="18" charset="0"/>
                <a:cs typeface="Times New Roman" panose="02020603050405020304" pitchFamily="18" charset="0"/>
              </a:rPr>
              <a:t>-t</a:t>
            </a:r>
            <a:r>
              <a:rPr lang="en-US" altLang="en-US" sz="2400" baseline="-30000" dirty="0">
                <a:latin typeface="Times New Roman" panose="02020603050405020304" pitchFamily="18" charset="0"/>
                <a:cs typeface="Times New Roman" panose="02020603050405020304" pitchFamily="18" charset="0"/>
              </a:rPr>
              <a:t>2</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1 </a:t>
            </a:r>
            <a:r>
              <a:rPr lang="en-US" altLang="en-US" sz="2400" dirty="0">
                <a:latin typeface="Times New Roman" panose="02020603050405020304" pitchFamily="18" charset="0"/>
                <a:cs typeface="Times New Roman" panose="02020603050405020304" pitchFamily="18" charset="0"/>
              </a:rPr>
              <a:t>+ (t</a:t>
            </a:r>
            <a:r>
              <a:rPr lang="en-US" altLang="en-US" sz="2400" baseline="-30000" dirty="0">
                <a:latin typeface="Times New Roman" panose="02020603050405020304" pitchFamily="18" charset="0"/>
                <a:cs typeface="Times New Roman" panose="02020603050405020304" pitchFamily="18" charset="0"/>
              </a:rPr>
              <a:t>2</a:t>
            </a:r>
            <a:r>
              <a:rPr lang="en-US" altLang="en-US" sz="2400" dirty="0">
                <a:latin typeface="Times New Roman" panose="02020603050405020304" pitchFamily="18" charset="0"/>
                <a:cs typeface="Times New Roman" panose="02020603050405020304" pitchFamily="18" charset="0"/>
              </a:rPr>
              <a:t> – t</a:t>
            </a:r>
            <a:r>
              <a:rPr lang="en-US" altLang="en-US" sz="2400" baseline="-30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 P</a:t>
            </a:r>
            <a:r>
              <a:rPr lang="en-US" altLang="en-US" sz="2400" baseline="-30000" dirty="0">
                <a:latin typeface="Times New Roman" panose="02020603050405020304" pitchFamily="18" charset="0"/>
                <a:cs typeface="Times New Roman" panose="02020603050405020304" pitchFamily="18" charset="0"/>
              </a:rPr>
              <a:t>2</a:t>
            </a:r>
            <a:r>
              <a:rPr lang="en-US" altLang="en-US" sz="2400" dirty="0">
                <a:latin typeface="Times New Roman" panose="02020603050405020304" pitchFamily="18" charset="0"/>
                <a:cs typeface="Times New Roman" panose="02020603050405020304" pitchFamily="18" charset="0"/>
              </a:rPr>
              <a:t>+ t</a:t>
            </a:r>
            <a:r>
              <a:rPr lang="en-US" altLang="en-US" sz="2400" baseline="-30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 </a:t>
            </a:r>
          </a:p>
          <a:p>
            <a:r>
              <a:rPr lang="en-US" altLang="en-US" sz="2400" dirty="0">
                <a:latin typeface="Times New Roman" panose="02020603050405020304" pitchFamily="18" charset="0"/>
                <a:cs typeface="Times New Roman" panose="02020603050405020304" pitchFamily="18" charset="0"/>
              </a:rPr>
              <a:t>Credit or invoice method.</a:t>
            </a:r>
          </a:p>
          <a:p>
            <a:pPr>
              <a:buFontTx/>
              <a:buNone/>
            </a:pPr>
            <a:r>
              <a:rPr lang="en-US" altLang="en-US" sz="2400" dirty="0">
                <a:latin typeface="Times New Roman" panose="02020603050405020304" pitchFamily="18" charset="0"/>
                <a:cs typeface="Times New Roman" panose="02020603050405020304" pitchFamily="18" charset="0"/>
              </a:rPr>
              <a:t>		Farmer pays  = t</a:t>
            </a:r>
            <a:r>
              <a:rPr lang="en-US" altLang="en-US" sz="2400" baseline="-30000" dirty="0">
                <a:latin typeface="Times New Roman" panose="02020603050405020304" pitchFamily="18" charset="0"/>
                <a:cs typeface="Times New Roman" panose="02020603050405020304" pitchFamily="18" charset="0"/>
              </a:rPr>
              <a:t>1</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1</a:t>
            </a:r>
            <a:endParaRPr lang="en-US" altLang="en-US" sz="2400" dirty="0">
              <a:latin typeface="Times New Roman" panose="02020603050405020304" pitchFamily="18" charset="0"/>
              <a:cs typeface="Times New Roman" panose="02020603050405020304" pitchFamily="18" charset="0"/>
            </a:endParaRPr>
          </a:p>
          <a:p>
            <a:pPr>
              <a:buFontTx/>
              <a:buNone/>
            </a:pPr>
            <a:r>
              <a:rPr lang="en-US" altLang="en-US" sz="2400" dirty="0">
                <a:latin typeface="Times New Roman" panose="02020603050405020304" pitchFamily="18" charset="0"/>
                <a:cs typeface="Times New Roman" panose="02020603050405020304" pitchFamily="18" charset="0"/>
              </a:rPr>
              <a:t>		Miller pays  = t</a:t>
            </a:r>
            <a:r>
              <a:rPr lang="en-US" altLang="en-US" sz="2400" baseline="-30000" dirty="0">
                <a:latin typeface="Times New Roman" panose="02020603050405020304" pitchFamily="18" charset="0"/>
                <a:cs typeface="Times New Roman" panose="02020603050405020304" pitchFamily="18" charset="0"/>
              </a:rPr>
              <a:t>2</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2</a:t>
            </a:r>
            <a:r>
              <a:rPr lang="en-US" altLang="en-US" sz="2400" dirty="0">
                <a:latin typeface="Times New Roman" panose="02020603050405020304" pitchFamily="18" charset="0"/>
                <a:cs typeface="Times New Roman" panose="02020603050405020304" pitchFamily="18" charset="0"/>
              </a:rPr>
              <a:t> - t</a:t>
            </a:r>
            <a:r>
              <a:rPr lang="en-US" altLang="en-US" sz="2400" baseline="-30000" dirty="0">
                <a:latin typeface="Times New Roman" panose="02020603050405020304" pitchFamily="18" charset="0"/>
                <a:cs typeface="Times New Roman" panose="02020603050405020304" pitchFamily="18" charset="0"/>
              </a:rPr>
              <a:t>1</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1</a:t>
            </a:r>
            <a:endParaRPr lang="en-US" altLang="en-US" sz="2400" dirty="0">
              <a:latin typeface="Times New Roman" panose="02020603050405020304" pitchFamily="18" charset="0"/>
              <a:cs typeface="Times New Roman" panose="02020603050405020304" pitchFamily="18" charset="0"/>
            </a:endParaRPr>
          </a:p>
          <a:p>
            <a:pPr>
              <a:buFontTx/>
              <a:buNone/>
            </a:pPr>
            <a:r>
              <a:rPr lang="en-US" altLang="en-US" sz="2400" dirty="0">
                <a:latin typeface="Times New Roman" panose="02020603050405020304" pitchFamily="18" charset="0"/>
                <a:cs typeface="Times New Roman" panose="02020603050405020304" pitchFamily="18" charset="0"/>
              </a:rPr>
              <a:t>		Baker pays  = t</a:t>
            </a:r>
            <a:r>
              <a:rPr lang="en-US" altLang="en-US" sz="2400" baseline="-30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 - t</a:t>
            </a:r>
            <a:r>
              <a:rPr lang="en-US" altLang="en-US" sz="2400" baseline="-30000" dirty="0">
                <a:latin typeface="Times New Roman" panose="02020603050405020304" pitchFamily="18" charset="0"/>
                <a:cs typeface="Times New Roman" panose="02020603050405020304" pitchFamily="18" charset="0"/>
              </a:rPr>
              <a:t>2</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2</a:t>
            </a:r>
          </a:p>
          <a:p>
            <a:pPr>
              <a:buFontTx/>
              <a:buNone/>
            </a:pPr>
            <a:r>
              <a:rPr lang="en-US" altLang="en-US" sz="2400" dirty="0">
                <a:latin typeface="Times New Roman" panose="02020603050405020304" pitchFamily="18" charset="0"/>
                <a:cs typeface="Times New Roman" panose="02020603050405020304" pitchFamily="18" charset="0"/>
              </a:rPr>
              <a:t>	Total tax = t</a:t>
            </a:r>
            <a:r>
              <a:rPr lang="en-US" altLang="en-US" sz="2400" baseline="-30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 tax effective at last point like a retail sales tax.</a:t>
            </a:r>
          </a:p>
          <a:p>
            <a:pPr>
              <a:lnSpc>
                <a:spcPct val="90000"/>
              </a:lnSpc>
              <a:buFontTx/>
              <a:buNone/>
            </a:pPr>
            <a:endParaRPr lang="en-US" altLang="en-US" sz="2400" dirty="0"/>
          </a:p>
        </p:txBody>
      </p:sp>
    </p:spTree>
    <p:extLst>
      <p:ext uri="{BB962C8B-B14F-4D97-AF65-F5344CB8AC3E}">
        <p14:creationId xmlns:p14="http://schemas.microsoft.com/office/powerpoint/2010/main" val="17579489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838200" y="124692"/>
            <a:ext cx="10515600" cy="989214"/>
          </a:xfrm>
        </p:spPr>
        <p:txBody>
          <a:bodyPr>
            <a:normAutofit/>
          </a:bodyPr>
          <a:lstStyle/>
          <a:p>
            <a:pPr algn="ctr"/>
            <a:r>
              <a:rPr lang="en-US" altLang="en-US" sz="3600" b="1" dirty="0">
                <a:latin typeface="Times New Roman" panose="02020603050405020304" pitchFamily="18" charset="0"/>
                <a:cs typeface="Times New Roman" panose="02020603050405020304" pitchFamily="18" charset="0"/>
              </a:rPr>
              <a:t>REVENUES WITH EXEMPTIONS</a:t>
            </a:r>
          </a:p>
        </p:txBody>
      </p:sp>
      <p:sp>
        <p:nvSpPr>
          <p:cNvPr id="33795" name="Rectangle 3"/>
          <p:cNvSpPr>
            <a:spLocks noGrp="1" noChangeArrowheads="1"/>
          </p:cNvSpPr>
          <p:nvPr>
            <p:ph type="body" idx="1"/>
          </p:nvPr>
        </p:nvSpPr>
        <p:spPr>
          <a:xfrm>
            <a:off x="838200" y="1205345"/>
            <a:ext cx="10515600" cy="5176982"/>
          </a:xfrm>
        </p:spPr>
        <p:txBody>
          <a:bodyPr>
            <a:normAutofit fontScale="92500" lnSpcReduction="20000"/>
          </a:bodyPr>
          <a:lstStyle/>
          <a:p>
            <a:pPr algn="just">
              <a:lnSpc>
                <a:spcPct val="90000"/>
              </a:lnSpc>
              <a:buFontTx/>
              <a:buNone/>
            </a:pPr>
            <a:r>
              <a:rPr lang="en-US" altLang="en-US" b="1" dirty="0">
                <a:latin typeface="Times New Roman" panose="02020603050405020304" pitchFamily="18" charset="0"/>
                <a:cs typeface="Times New Roman" panose="02020603050405020304" pitchFamily="18" charset="0"/>
              </a:rPr>
              <a:t>Two ways to give relief from VAT: Exemption and Zero-rating</a:t>
            </a:r>
            <a:endParaRPr lang="en-US" altLang="en-US" dirty="0">
              <a:latin typeface="Times New Roman" panose="02020603050405020304" pitchFamily="18" charset="0"/>
              <a:cs typeface="Times New Roman" panose="02020603050405020304" pitchFamily="18" charset="0"/>
            </a:endParaRPr>
          </a:p>
          <a:p>
            <a:pPr algn="just">
              <a:buNone/>
            </a:pPr>
            <a:r>
              <a:rPr lang="en-US" altLang="en-US" dirty="0">
                <a:latin typeface="Times New Roman" panose="02020603050405020304" pitchFamily="18" charset="0"/>
                <a:cs typeface="Times New Roman" panose="02020603050405020304" pitchFamily="18" charset="0"/>
              </a:rPr>
              <a:t>Exemption: The exempt vendor is actually not part of the VAT system. </a:t>
            </a:r>
            <a:r>
              <a:rPr lang="en-US" altLang="en-US" dirty="0">
                <a:solidFill>
                  <a:srgbClr val="FF0000"/>
                </a:solidFill>
                <a:latin typeface="Times New Roman" panose="02020603050405020304" pitchFamily="18" charset="0"/>
                <a:cs typeface="Times New Roman" panose="02020603050405020304" pitchFamily="18" charset="0"/>
              </a:rPr>
              <a:t>It means the vendor pays tax while buying inputs but is not subject to VAT when selling the output and so the sale price of his output is comparatively lower.</a:t>
            </a:r>
          </a:p>
          <a:p>
            <a:pPr algn="just">
              <a:lnSpc>
                <a:spcPct val="90000"/>
              </a:lnSpc>
              <a:buFontTx/>
              <a:buNone/>
            </a:pPr>
            <a:r>
              <a:rPr lang="en-US" altLang="en-US" i="1" dirty="0">
                <a:latin typeface="Times New Roman" panose="02020603050405020304" pitchFamily="18" charset="0"/>
                <a:cs typeface="Times New Roman" panose="02020603050405020304" pitchFamily="18" charset="0"/>
              </a:rPr>
              <a:t>Calculation with exemptions</a:t>
            </a:r>
            <a:r>
              <a:rPr lang="en-US" altLang="en-US" dirty="0">
                <a:latin typeface="Times New Roman" panose="02020603050405020304" pitchFamily="18" charset="0"/>
                <a:cs typeface="Times New Roman" panose="02020603050405020304" pitchFamily="18" charset="0"/>
              </a:rPr>
              <a:t> </a:t>
            </a:r>
          </a:p>
          <a:p>
            <a:pPr algn="just">
              <a:lnSpc>
                <a:spcPct val="90000"/>
              </a:lnSpc>
            </a:pPr>
            <a:r>
              <a:rPr lang="en-US" altLang="en-US" sz="2400" dirty="0">
                <a:latin typeface="Times New Roman" panose="02020603050405020304" pitchFamily="18" charset="0"/>
                <a:cs typeface="Times New Roman" panose="02020603050405020304" pitchFamily="18" charset="0"/>
              </a:rPr>
              <a:t>If stage two (miller) tax exempt, not part of tax chain; tax revenue would be:</a:t>
            </a: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 	- By the credit method:</a:t>
            </a: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		Tax paid by farmer = t</a:t>
            </a:r>
            <a:r>
              <a:rPr lang="en-US" altLang="en-US" sz="2400" baseline="-30000" dirty="0">
                <a:latin typeface="Times New Roman" panose="02020603050405020304" pitchFamily="18" charset="0"/>
                <a:cs typeface="Times New Roman" panose="02020603050405020304" pitchFamily="18" charset="0"/>
              </a:rPr>
              <a:t>1</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1</a:t>
            </a:r>
            <a:endParaRPr lang="en-US" altLang="en-US" sz="2400" dirty="0">
              <a:latin typeface="Times New Roman" panose="02020603050405020304" pitchFamily="18" charset="0"/>
              <a:cs typeface="Times New Roman" panose="02020603050405020304" pitchFamily="18" charset="0"/>
            </a:endParaRP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		Tax paid by miller = 0 ;  no reimbursement of taxes paid on input as not part of VAT</a:t>
            </a:r>
          </a:p>
          <a:p>
            <a:pPr algn="just">
              <a:buNone/>
            </a:pPr>
            <a:r>
              <a:rPr lang="en-US" altLang="en-US" sz="2400" dirty="0">
                <a:latin typeface="Times New Roman" panose="02020603050405020304" pitchFamily="18" charset="0"/>
                <a:cs typeface="Times New Roman" panose="02020603050405020304" pitchFamily="18" charset="0"/>
              </a:rPr>
              <a:t>		Tax paid by baker = t</a:t>
            </a:r>
            <a:r>
              <a:rPr lang="en-US" altLang="en-US" sz="2400" baseline="-30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3 </a:t>
            </a:r>
            <a:r>
              <a:rPr lang="en-US" altLang="en-US" sz="2400" dirty="0">
                <a:latin typeface="Times New Roman" panose="02020603050405020304" pitchFamily="18" charset="0"/>
                <a:cs typeface="Times New Roman" panose="02020603050405020304" pitchFamily="18" charset="0"/>
              </a:rPr>
              <a:t>; no reimbursement of taxes paid as no taxes paid on input </a:t>
            </a: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		Total tax paid = t</a:t>
            </a:r>
            <a:r>
              <a:rPr lang="en-US" altLang="en-US" sz="2400" baseline="-30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 + t</a:t>
            </a:r>
            <a:r>
              <a:rPr lang="en-US" altLang="en-US" sz="2400" baseline="-30000" dirty="0">
                <a:latin typeface="Times New Roman" panose="02020603050405020304" pitchFamily="18" charset="0"/>
                <a:cs typeface="Times New Roman" panose="02020603050405020304" pitchFamily="18" charset="0"/>
              </a:rPr>
              <a:t>1</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1</a:t>
            </a:r>
            <a:endParaRPr lang="en-US" altLang="en-US" sz="2400" dirty="0">
              <a:latin typeface="Times New Roman" panose="02020603050405020304" pitchFamily="18" charset="0"/>
              <a:cs typeface="Times New Roman" panose="02020603050405020304" pitchFamily="18" charset="0"/>
            </a:endParaRPr>
          </a:p>
          <a:p>
            <a:pPr algn="just">
              <a:buNone/>
            </a:pPr>
            <a:r>
              <a:rPr lang="en-US" altLang="en-US" sz="2400" dirty="0">
                <a:latin typeface="Times New Roman" panose="02020603050405020304" pitchFamily="18" charset="0"/>
                <a:cs typeface="Times New Roman" panose="02020603050405020304" pitchFamily="18" charset="0"/>
              </a:rPr>
              <a:t>	Revenues are actually higher and more than t</a:t>
            </a:r>
            <a:r>
              <a:rPr lang="en-US" altLang="en-US" sz="2400" baseline="-30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P</a:t>
            </a:r>
            <a:r>
              <a:rPr lang="en-US" altLang="en-US" sz="2400" baseline="-30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a:t>
            </a:r>
          </a:p>
          <a:p>
            <a:pPr algn="just">
              <a:buNone/>
            </a:pPr>
            <a:r>
              <a:rPr lang="en-US" altLang="en-US" sz="2400" dirty="0">
                <a:latin typeface="Times New Roman" panose="02020603050405020304" pitchFamily="18" charset="0"/>
                <a:cs typeface="Times New Roman" panose="02020603050405020304" pitchFamily="18" charset="0"/>
              </a:rPr>
              <a:t>	</a:t>
            </a:r>
            <a:r>
              <a:rPr lang="en-US" altLang="en-US" sz="2400" dirty="0">
                <a:solidFill>
                  <a:srgbClr val="FF0000"/>
                </a:solidFill>
                <a:latin typeface="Times New Roman" panose="02020603050405020304" pitchFamily="18" charset="0"/>
                <a:cs typeface="Times New Roman" panose="02020603050405020304" pitchFamily="18" charset="0"/>
              </a:rPr>
              <a:t>Notice that exempt sector does not pay tax on its output but also does not receive reimbursement of taxes paid on inputs; </a:t>
            </a:r>
            <a:r>
              <a:rPr lang="en-US" altLang="en-US" sz="2400" b="1" dirty="0">
                <a:solidFill>
                  <a:srgbClr val="FF0000"/>
                </a:solidFill>
                <a:latin typeface="Times New Roman" panose="02020603050405020304" pitchFamily="18" charset="0"/>
                <a:cs typeface="Times New Roman" panose="02020603050405020304" pitchFamily="18" charset="0"/>
              </a:rPr>
              <a:t>so it is taxed indirectly</a:t>
            </a:r>
            <a:r>
              <a:rPr lang="en-US" altLang="en-US" sz="2400" dirty="0">
                <a:solidFill>
                  <a:srgbClr val="FF0000"/>
                </a:solidFill>
                <a:latin typeface="Times New Roman" panose="02020603050405020304" pitchFamily="18" charset="0"/>
                <a:cs typeface="Times New Roman" panose="02020603050405020304" pitchFamily="18" charset="0"/>
              </a:rPr>
              <a:t>! </a:t>
            </a:r>
          </a:p>
          <a:p>
            <a:pPr algn="just">
              <a:buNone/>
            </a:pPr>
            <a:endParaRPr lang="en-US" altLang="en-US" sz="2400" dirty="0">
              <a:latin typeface="Times New Roman" panose="02020603050405020304" pitchFamily="18" charset="0"/>
              <a:cs typeface="Times New Roman" panose="02020603050405020304" pitchFamily="18" charset="0"/>
            </a:endParaRPr>
          </a:p>
          <a:p>
            <a:pPr>
              <a:lnSpc>
                <a:spcPct val="90000"/>
              </a:lnSpc>
              <a:buFontTx/>
              <a:buNone/>
            </a:pPr>
            <a:endParaRPr lang="en-US" altLang="en-US" sz="2400" dirty="0"/>
          </a:p>
        </p:txBody>
      </p:sp>
    </p:spTree>
    <p:extLst>
      <p:ext uri="{BB962C8B-B14F-4D97-AF65-F5344CB8AC3E}">
        <p14:creationId xmlns:p14="http://schemas.microsoft.com/office/powerpoint/2010/main" val="873566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271846" y="365125"/>
            <a:ext cx="9434947" cy="865159"/>
          </a:xfrm>
        </p:spPr>
        <p:txBody>
          <a:bodyPr>
            <a:normAutofit/>
          </a:bodyPr>
          <a:lstStyle/>
          <a:p>
            <a:pPr algn="ctr"/>
            <a:r>
              <a:rPr lang="en-US" altLang="en-US" sz="3600" b="1" dirty="0">
                <a:latin typeface="Times New Roman" panose="02020603050405020304" pitchFamily="18" charset="0"/>
                <a:cs typeface="Times New Roman" panose="02020603050405020304" pitchFamily="18" charset="0"/>
              </a:rPr>
              <a:t>REVENUES WITH EXEMPTIONS </a:t>
            </a:r>
            <a:r>
              <a:rPr lang="en-US" altLang="en-US" sz="3600" b="1" i="1" dirty="0">
                <a:latin typeface="Times New Roman" panose="02020603050405020304" pitchFamily="18" charset="0"/>
                <a:cs typeface="Times New Roman" panose="02020603050405020304" pitchFamily="18" charset="0"/>
              </a:rPr>
              <a:t>(Contd.)</a:t>
            </a:r>
          </a:p>
        </p:txBody>
      </p:sp>
      <p:graphicFrame>
        <p:nvGraphicFramePr>
          <p:cNvPr id="34819" name="Object 3"/>
          <p:cNvGraphicFramePr>
            <a:graphicFrameLocks noGrp="1" noChangeAspect="1"/>
          </p:cNvGraphicFramePr>
          <p:nvPr>
            <p:ph type="body" idx="1"/>
            <p:extLst>
              <p:ext uri="{D42A27DB-BD31-4B8C-83A1-F6EECF244321}">
                <p14:modId xmlns:p14="http://schemas.microsoft.com/office/powerpoint/2010/main" val="586318051"/>
              </p:ext>
            </p:extLst>
          </p:nvPr>
        </p:nvGraphicFramePr>
        <p:xfrm>
          <a:off x="2068513" y="1347788"/>
          <a:ext cx="7305675" cy="5119687"/>
        </p:xfrm>
        <a:graphic>
          <a:graphicData uri="http://schemas.openxmlformats.org/presentationml/2006/ole">
            <mc:AlternateContent xmlns:mc="http://schemas.openxmlformats.org/markup-compatibility/2006">
              <mc:Choice xmlns:v="urn:schemas-microsoft-com:vml" Requires="v">
                <p:oleObj name="Document" r:id="rId2" imgW="5474989" imgH="3836767" progId="Word.Document.8">
                  <p:embed/>
                </p:oleObj>
              </mc:Choice>
              <mc:Fallback>
                <p:oleObj name="Document" r:id="rId2" imgW="5474989" imgH="3836767" progId="Word.Document.8">
                  <p:embed/>
                  <p:pic>
                    <p:nvPicPr>
                      <p:cNvPr id="34819" name="Object 3"/>
                      <p:cNvPicPr>
                        <a:picLocks noChangeAspect="1" noChangeArrowheads="1"/>
                      </p:cNvPicPr>
                      <p:nvPr/>
                    </p:nvPicPr>
                    <p:blipFill>
                      <a:blip r:embed="rId3"/>
                      <a:srcRect/>
                      <a:stretch>
                        <a:fillRect/>
                      </a:stretch>
                    </p:blipFill>
                    <p:spPr bwMode="auto">
                      <a:xfrm>
                        <a:off x="2068513" y="1347788"/>
                        <a:ext cx="7305675" cy="5119687"/>
                      </a:xfrm>
                      <a:prstGeom prst="rect">
                        <a:avLst/>
                      </a:prstGeom>
                    </p:spPr>
                  </p:pic>
                </p:oleObj>
              </mc:Fallback>
            </mc:AlternateContent>
          </a:graphicData>
        </a:graphic>
      </p:graphicFrame>
    </p:spTree>
    <p:extLst>
      <p:ext uri="{BB962C8B-B14F-4D97-AF65-F5344CB8AC3E}">
        <p14:creationId xmlns:p14="http://schemas.microsoft.com/office/powerpoint/2010/main" val="39187298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838200" y="365126"/>
            <a:ext cx="10515600" cy="1039726"/>
          </a:xfrm>
        </p:spPr>
        <p:txBody>
          <a:bodyPr>
            <a:normAutofit/>
          </a:bodyPr>
          <a:lstStyle/>
          <a:p>
            <a:pPr algn="ctr"/>
            <a:r>
              <a:rPr lang="en-US" altLang="en-US" sz="3400" b="1" dirty="0">
                <a:latin typeface="Times New Roman" panose="02020603050405020304" pitchFamily="18" charset="0"/>
                <a:cs typeface="Times New Roman" panose="02020603050405020304" pitchFamily="18" charset="0"/>
              </a:rPr>
              <a:t>REVENUES WITH EXEMPTIONS: STAGE THREE </a:t>
            </a:r>
          </a:p>
        </p:txBody>
      </p:sp>
      <p:graphicFrame>
        <p:nvGraphicFramePr>
          <p:cNvPr id="35843" name="Object 3"/>
          <p:cNvGraphicFramePr>
            <a:graphicFrameLocks noGrp="1" noChangeAspect="1"/>
          </p:cNvGraphicFramePr>
          <p:nvPr>
            <p:ph type="body" idx="1"/>
            <p:extLst>
              <p:ext uri="{D42A27DB-BD31-4B8C-83A1-F6EECF244321}">
                <p14:modId xmlns:p14="http://schemas.microsoft.com/office/powerpoint/2010/main" val="2889488868"/>
              </p:ext>
            </p:extLst>
          </p:nvPr>
        </p:nvGraphicFramePr>
        <p:xfrm>
          <a:off x="2384425" y="1690688"/>
          <a:ext cx="7340600" cy="4977967"/>
        </p:xfrm>
        <a:graphic>
          <a:graphicData uri="http://schemas.openxmlformats.org/presentationml/2006/ole">
            <mc:AlternateContent xmlns:mc="http://schemas.openxmlformats.org/markup-compatibility/2006">
              <mc:Choice xmlns:v="urn:schemas-microsoft-com:vml" Requires="v">
                <p:oleObj name="Document" r:id="rId2" imgW="7526181" imgH="5027429" progId="Word.Document.8">
                  <p:embed/>
                </p:oleObj>
              </mc:Choice>
              <mc:Fallback>
                <p:oleObj name="Document" r:id="rId2" imgW="7526181" imgH="5027429" progId="Word.Document.8">
                  <p:embed/>
                  <p:pic>
                    <p:nvPicPr>
                      <p:cNvPr id="3584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4425" y="1690688"/>
                        <a:ext cx="7340600" cy="4977967"/>
                      </a:xfrm>
                      <a:prstGeom prst="rect">
                        <a:avLst/>
                      </a:prstGeom>
                    </p:spPr>
                  </p:pic>
                </p:oleObj>
              </mc:Fallback>
            </mc:AlternateContent>
          </a:graphicData>
        </a:graphic>
      </p:graphicFrame>
    </p:spTree>
    <p:extLst>
      <p:ext uri="{BB962C8B-B14F-4D97-AF65-F5344CB8AC3E}">
        <p14:creationId xmlns:p14="http://schemas.microsoft.com/office/powerpoint/2010/main" val="41313097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995054" y="365125"/>
            <a:ext cx="7888779" cy="1325563"/>
          </a:xfrm>
        </p:spPr>
        <p:txBody>
          <a:bodyPr>
            <a:normAutofit/>
          </a:bodyPr>
          <a:lstStyle/>
          <a:p>
            <a:pPr algn="ctr"/>
            <a:r>
              <a:rPr lang="en-US" altLang="en-US" sz="3600" b="1" dirty="0">
                <a:latin typeface="Times New Roman" panose="02020603050405020304" pitchFamily="18" charset="0"/>
                <a:cs typeface="Times New Roman" panose="02020603050405020304" pitchFamily="18" charset="0"/>
              </a:rPr>
              <a:t>ZERO RATING</a:t>
            </a:r>
          </a:p>
        </p:txBody>
      </p:sp>
      <p:graphicFrame>
        <p:nvGraphicFramePr>
          <p:cNvPr id="37891" name="Object 3"/>
          <p:cNvGraphicFramePr>
            <a:graphicFrameLocks noGrp="1" noChangeAspect="1"/>
          </p:cNvGraphicFramePr>
          <p:nvPr>
            <p:ph type="body" idx="1"/>
            <p:extLst>
              <p:ext uri="{D42A27DB-BD31-4B8C-83A1-F6EECF244321}">
                <p14:modId xmlns:p14="http://schemas.microsoft.com/office/powerpoint/2010/main" val="3565560862"/>
              </p:ext>
            </p:extLst>
          </p:nvPr>
        </p:nvGraphicFramePr>
        <p:xfrm>
          <a:off x="2228850" y="1906445"/>
          <a:ext cx="7575550" cy="3776663"/>
        </p:xfrm>
        <a:graphic>
          <a:graphicData uri="http://schemas.openxmlformats.org/presentationml/2006/ole">
            <mc:AlternateContent xmlns:mc="http://schemas.openxmlformats.org/markup-compatibility/2006">
              <mc:Choice xmlns:v="urn:schemas-microsoft-com:vml" Requires="v">
                <p:oleObj name="Document" r:id="rId2" imgW="5512287" imgH="2748214" progId="Word.Document.8">
                  <p:embed/>
                </p:oleObj>
              </mc:Choice>
              <mc:Fallback>
                <p:oleObj name="Document" r:id="rId2" imgW="5512287" imgH="2748214" progId="Word.Document.8">
                  <p:embed/>
                  <p:pic>
                    <p:nvPicPr>
                      <p:cNvPr id="3789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8850" y="1906445"/>
                        <a:ext cx="7575550" cy="3776663"/>
                      </a:xfrm>
                      <a:prstGeom prst="rect">
                        <a:avLst/>
                      </a:prstGeom>
                    </p:spPr>
                  </p:pic>
                </p:oleObj>
              </mc:Fallback>
            </mc:AlternateContent>
          </a:graphicData>
        </a:graphic>
      </p:graphicFrame>
    </p:spTree>
    <p:extLst>
      <p:ext uri="{BB962C8B-B14F-4D97-AF65-F5344CB8AC3E}">
        <p14:creationId xmlns:p14="http://schemas.microsoft.com/office/powerpoint/2010/main" val="199818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354974" y="365125"/>
            <a:ext cx="9501447" cy="1325563"/>
          </a:xfrm>
        </p:spPr>
        <p:txBody>
          <a:bodyPr>
            <a:normAutofit/>
          </a:bodyPr>
          <a:lstStyle/>
          <a:p>
            <a:pPr algn="ctr"/>
            <a:r>
              <a:rPr lang="en-US" altLang="en-US" sz="3600" b="1" dirty="0">
                <a:latin typeface="Times New Roman" panose="02020603050405020304" pitchFamily="18" charset="0"/>
                <a:cs typeface="Times New Roman" panose="02020603050405020304" pitchFamily="18" charset="0"/>
              </a:rPr>
              <a:t>ZERO RATING WITH CREDIT METHOD</a:t>
            </a:r>
          </a:p>
        </p:txBody>
      </p:sp>
      <p:graphicFrame>
        <p:nvGraphicFramePr>
          <p:cNvPr id="38915" name="Object 3"/>
          <p:cNvGraphicFramePr>
            <a:graphicFrameLocks noGrp="1" noChangeAspect="1"/>
          </p:cNvGraphicFramePr>
          <p:nvPr>
            <p:ph type="body" idx="1"/>
            <p:extLst>
              <p:ext uri="{D42A27DB-BD31-4B8C-83A1-F6EECF244321}">
                <p14:modId xmlns:p14="http://schemas.microsoft.com/office/powerpoint/2010/main" val="1370349121"/>
              </p:ext>
            </p:extLst>
          </p:nvPr>
        </p:nvGraphicFramePr>
        <p:xfrm>
          <a:off x="2276476" y="1616365"/>
          <a:ext cx="7478713" cy="4562762"/>
        </p:xfrm>
        <a:graphic>
          <a:graphicData uri="http://schemas.openxmlformats.org/presentationml/2006/ole">
            <mc:AlternateContent xmlns:mc="http://schemas.openxmlformats.org/markup-compatibility/2006">
              <mc:Choice xmlns:v="urn:schemas-microsoft-com:vml" Requires="v">
                <p:oleObj name="Document" r:id="rId2" imgW="7708861" imgH="4506929" progId="Word.Document.8">
                  <p:embed/>
                </p:oleObj>
              </mc:Choice>
              <mc:Fallback>
                <p:oleObj name="Document" r:id="rId2" imgW="7708861" imgH="4506929" progId="Word.Document.8">
                  <p:embed/>
                  <p:pic>
                    <p:nvPicPr>
                      <p:cNvPr id="3891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6476" y="1616365"/>
                        <a:ext cx="7478713" cy="4562762"/>
                      </a:xfrm>
                      <a:prstGeom prst="rect">
                        <a:avLst/>
                      </a:prstGeom>
                    </p:spPr>
                  </p:pic>
                </p:oleObj>
              </mc:Fallback>
            </mc:AlternateContent>
          </a:graphicData>
        </a:graphic>
      </p:graphicFrame>
    </p:spTree>
    <p:extLst>
      <p:ext uri="{BB962C8B-B14F-4D97-AF65-F5344CB8AC3E}">
        <p14:creationId xmlns:p14="http://schemas.microsoft.com/office/powerpoint/2010/main" val="6954423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105592" y="365125"/>
            <a:ext cx="9917083" cy="1325563"/>
          </a:xfrm>
        </p:spPr>
        <p:txBody>
          <a:bodyPr>
            <a:normAutofit/>
          </a:bodyPr>
          <a:lstStyle/>
          <a:p>
            <a:pPr algn="ctr"/>
            <a:r>
              <a:rPr lang="en-US" altLang="en-US" sz="3400" b="1" dirty="0">
                <a:latin typeface="Times New Roman" panose="02020603050405020304" pitchFamily="18" charset="0"/>
                <a:cs typeface="Times New Roman" panose="02020603050405020304" pitchFamily="18" charset="0"/>
              </a:rPr>
              <a:t>ZERO RATING WITH SUBTRACTION METHOD</a:t>
            </a:r>
          </a:p>
        </p:txBody>
      </p:sp>
      <p:graphicFrame>
        <p:nvGraphicFramePr>
          <p:cNvPr id="40963" name="Object 3"/>
          <p:cNvGraphicFramePr>
            <a:graphicFrameLocks noGrp="1" noChangeAspect="1"/>
          </p:cNvGraphicFramePr>
          <p:nvPr>
            <p:ph type="body" idx="1"/>
            <p:extLst>
              <p:ext uri="{D42A27DB-BD31-4B8C-83A1-F6EECF244321}">
                <p14:modId xmlns:p14="http://schemas.microsoft.com/office/powerpoint/2010/main" val="2498616409"/>
              </p:ext>
            </p:extLst>
          </p:nvPr>
        </p:nvGraphicFramePr>
        <p:xfrm>
          <a:off x="2960688" y="1588655"/>
          <a:ext cx="6254750" cy="4756727"/>
        </p:xfrm>
        <a:graphic>
          <a:graphicData uri="http://schemas.openxmlformats.org/presentationml/2006/ole">
            <mc:AlternateContent xmlns:mc="http://schemas.openxmlformats.org/markup-compatibility/2006">
              <mc:Choice xmlns:v="urn:schemas-microsoft-com:vml" Requires="v">
                <p:oleObj name="Document" r:id="rId2" imgW="5486400" imgH="4166280" progId="Word.Document.8">
                  <p:embed/>
                </p:oleObj>
              </mc:Choice>
              <mc:Fallback>
                <p:oleObj name="Document" r:id="rId2" imgW="5486400" imgH="4166280" progId="Word.Document.8">
                  <p:embed/>
                  <p:pic>
                    <p:nvPicPr>
                      <p:cNvPr id="4096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0688" y="1588655"/>
                        <a:ext cx="6254750" cy="4756727"/>
                      </a:xfrm>
                      <a:prstGeom prst="rect">
                        <a:avLst/>
                      </a:prstGeom>
                    </p:spPr>
                  </p:pic>
                </p:oleObj>
              </mc:Fallback>
            </mc:AlternateContent>
          </a:graphicData>
        </a:graphic>
      </p:graphicFrame>
    </p:spTree>
    <p:extLst>
      <p:ext uri="{BB962C8B-B14F-4D97-AF65-F5344CB8AC3E}">
        <p14:creationId xmlns:p14="http://schemas.microsoft.com/office/powerpoint/2010/main" val="4974950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838200" y="365125"/>
            <a:ext cx="10515600" cy="798657"/>
          </a:xfrm>
        </p:spPr>
        <p:txBody>
          <a:bodyPr>
            <a:normAutofit/>
          </a:bodyPr>
          <a:lstStyle/>
          <a:p>
            <a:pPr algn="ctr"/>
            <a:r>
              <a:rPr lang="en-US" altLang="en-US" sz="3600" b="1" dirty="0">
                <a:latin typeface="Times New Roman" panose="02020603050405020304" pitchFamily="18" charset="0"/>
                <a:cs typeface="Times New Roman" panose="02020603050405020304" pitchFamily="18" charset="0"/>
              </a:rPr>
              <a:t>POLICY ISSUES</a:t>
            </a:r>
          </a:p>
        </p:txBody>
      </p:sp>
      <p:sp>
        <p:nvSpPr>
          <p:cNvPr id="45059" name="Rectangle 3"/>
          <p:cNvSpPr>
            <a:spLocks noGrp="1" noChangeArrowheads="1"/>
          </p:cNvSpPr>
          <p:nvPr>
            <p:ph type="body" idx="1"/>
          </p:nvPr>
        </p:nvSpPr>
        <p:spPr>
          <a:xfrm>
            <a:off x="1579417" y="1396537"/>
            <a:ext cx="9044247" cy="4766137"/>
          </a:xfrm>
        </p:spPr>
        <p:txBody>
          <a:bodyPr>
            <a:normAutofit fontScale="92500" lnSpcReduction="20000"/>
          </a:bodyPr>
          <a:lstStyle/>
          <a:p>
            <a:pPr algn="just">
              <a:lnSpc>
                <a:spcPct val="90000"/>
              </a:lnSpc>
              <a:buFontTx/>
              <a:buNone/>
            </a:pPr>
            <a:r>
              <a:rPr lang="en-US" altLang="en-US" sz="2400" dirty="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Is VAT Inflationary?</a:t>
            </a:r>
            <a:r>
              <a:rPr lang="en-US" altLang="en-US" dirty="0">
                <a:latin typeface="Times New Roman" panose="02020603050405020304" pitchFamily="18" charset="0"/>
                <a:cs typeface="Times New Roman" panose="02020603050405020304" pitchFamily="18" charset="0"/>
              </a:rPr>
              <a:t> </a:t>
            </a:r>
          </a:p>
          <a:p>
            <a:pPr algn="just">
              <a:lnSpc>
                <a:spcPct val="90000"/>
              </a:lnSpc>
            </a:pPr>
            <a:r>
              <a:rPr lang="en-US" altLang="en-US" sz="2400" dirty="0">
                <a:latin typeface="Times New Roman" panose="02020603050405020304" pitchFamily="18" charset="0"/>
                <a:cs typeface="Times New Roman" panose="02020603050405020304" pitchFamily="18" charset="0"/>
              </a:rPr>
              <a:t>No, only one time price rise possible. </a:t>
            </a:r>
          </a:p>
          <a:p>
            <a:pPr algn="just">
              <a:lnSpc>
                <a:spcPct val="90000"/>
              </a:lnSpc>
            </a:pPr>
            <a:r>
              <a:rPr lang="en-US" altLang="en-US" sz="2400" dirty="0">
                <a:latin typeface="Times New Roman" panose="02020603050405020304" pitchFamily="18" charset="0"/>
                <a:cs typeface="Times New Roman" panose="02020603050405020304" pitchFamily="18" charset="0"/>
              </a:rPr>
              <a:t>Inflation is more a function of money supply. If government uses tax revenues to contract money supply, inflation may even fall. </a:t>
            </a:r>
          </a:p>
          <a:p>
            <a:pPr algn="just">
              <a:lnSpc>
                <a:spcPct val="90000"/>
              </a:lnSpc>
            </a:pPr>
            <a:r>
              <a:rPr lang="en-US" altLang="en-US" sz="2400" dirty="0">
                <a:latin typeface="Times New Roman" panose="02020603050405020304" pitchFamily="18" charset="0"/>
                <a:cs typeface="Times New Roman" panose="02020603050405020304" pitchFamily="18" charset="0"/>
              </a:rPr>
              <a:t>IMF studied impact of VAT in 18 countries that introduced VAT and found that it did not impact on inflation in about 8 countries while in some countries inflation went down and in a few it went up because of expansionary monetary policies. </a:t>
            </a:r>
          </a:p>
          <a:p>
            <a:pPr>
              <a:lnSpc>
                <a:spcPct val="90000"/>
              </a:lnSpc>
              <a:buFontTx/>
              <a:buNone/>
            </a:pPr>
            <a:endParaRPr lang="en-US" altLang="en-US" sz="2400" dirty="0">
              <a:latin typeface="Times New Roman" panose="02020603050405020304" pitchFamily="18" charset="0"/>
              <a:cs typeface="Times New Roman" panose="02020603050405020304" pitchFamily="18" charset="0"/>
            </a:endParaRP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Is VAT Regressive?</a:t>
            </a:r>
            <a:endParaRPr lang="en-US" altLang="en-US" dirty="0">
              <a:latin typeface="Times New Roman" panose="02020603050405020304" pitchFamily="18" charset="0"/>
              <a:cs typeface="Times New Roman" panose="02020603050405020304" pitchFamily="18" charset="0"/>
            </a:endParaRPr>
          </a:p>
          <a:p>
            <a:pPr algn="just">
              <a:lnSpc>
                <a:spcPct val="90000"/>
              </a:lnSpc>
            </a:pPr>
            <a:r>
              <a:rPr lang="en-US" altLang="en-US" sz="2400" dirty="0">
                <a:latin typeface="Times New Roman" panose="02020603050405020304" pitchFamily="18" charset="0"/>
                <a:cs typeface="Times New Roman" panose="02020603050405020304" pitchFamily="18" charset="0"/>
              </a:rPr>
              <a:t>As an indirect tax, yes. But large part of consumption of poor people purchased from informal sector with no tax. </a:t>
            </a:r>
          </a:p>
          <a:p>
            <a:pPr algn="just"/>
            <a:r>
              <a:rPr lang="en-US" altLang="en-US" sz="2400" dirty="0">
                <a:latin typeface="Times New Roman" panose="02020603050405020304" pitchFamily="18" charset="0"/>
                <a:cs typeface="Times New Roman" panose="02020603050405020304" pitchFamily="18" charset="0"/>
              </a:rPr>
              <a:t>More importantly, VAT revenues may be targeted to services for the poor (Ghana – education, health), hence impact of </a:t>
            </a:r>
            <a:r>
              <a:rPr lang="en-US" altLang="en-US" sz="2400" dirty="0" err="1">
                <a:latin typeface="Times New Roman" panose="02020603050405020304" pitchFamily="18" charset="0"/>
                <a:cs typeface="Times New Roman" panose="02020603050405020304" pitchFamily="18" charset="0"/>
              </a:rPr>
              <a:t>regressivity</a:t>
            </a:r>
            <a:r>
              <a:rPr lang="en-US" altLang="en-US" sz="2400" dirty="0">
                <a:latin typeface="Times New Roman" panose="02020603050405020304" pitchFamily="18" charset="0"/>
                <a:cs typeface="Times New Roman" panose="02020603050405020304" pitchFamily="18" charset="0"/>
              </a:rPr>
              <a:t> diluted.</a:t>
            </a:r>
          </a:p>
          <a:p>
            <a:pPr algn="just">
              <a:lnSpc>
                <a:spcPct val="90000"/>
              </a:lnSpc>
              <a:buFontTx/>
              <a:buNone/>
            </a:pPr>
            <a:r>
              <a:rPr lang="en-US" altLang="en-US" sz="2000" b="1" dirty="0">
                <a:cs typeface="Times New Roman" panose="02020603050405020304" pitchFamily="18" charset="0"/>
              </a:rPr>
              <a:t> </a:t>
            </a:r>
            <a:endParaRPr lang="en-US" altLang="en-US" sz="2000" dirty="0">
              <a:cs typeface="Times New Roman" panose="02020603050405020304" pitchFamily="18" charset="0"/>
            </a:endParaRPr>
          </a:p>
          <a:p>
            <a:pPr>
              <a:lnSpc>
                <a:spcPct val="90000"/>
              </a:lnSpc>
              <a:buFontTx/>
              <a:buNone/>
            </a:pPr>
            <a:endParaRPr lang="en-US" altLang="en-US" sz="2000" dirty="0"/>
          </a:p>
        </p:txBody>
      </p:sp>
    </p:spTree>
    <p:extLst>
      <p:ext uri="{BB962C8B-B14F-4D97-AF65-F5344CB8AC3E}">
        <p14:creationId xmlns:p14="http://schemas.microsoft.com/office/powerpoint/2010/main" val="32371511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920240" y="365126"/>
            <a:ext cx="8138160" cy="698904"/>
          </a:xfrm>
        </p:spPr>
        <p:txBody>
          <a:bodyPr>
            <a:normAutofit/>
          </a:bodyPr>
          <a:lstStyle/>
          <a:p>
            <a:pPr algn="ctr"/>
            <a:r>
              <a:rPr lang="en-US" altLang="en-US" sz="4000" b="1" dirty="0">
                <a:latin typeface="Times New Roman" panose="02020603050405020304" pitchFamily="18" charset="0"/>
                <a:cs typeface="Times New Roman" panose="02020603050405020304" pitchFamily="18" charset="0"/>
              </a:rPr>
              <a:t>POLICY ISSUES (Contd.)</a:t>
            </a:r>
          </a:p>
        </p:txBody>
      </p:sp>
      <p:sp>
        <p:nvSpPr>
          <p:cNvPr id="46083" name="Rectangle 3"/>
          <p:cNvSpPr>
            <a:spLocks noGrp="1" noChangeArrowheads="1"/>
          </p:cNvSpPr>
          <p:nvPr>
            <p:ph type="body" idx="1"/>
          </p:nvPr>
        </p:nvSpPr>
        <p:spPr>
          <a:xfrm>
            <a:off x="1845425" y="1600200"/>
            <a:ext cx="8212975" cy="4551218"/>
          </a:xfrm>
        </p:spPr>
        <p:txBody>
          <a:bodyPr>
            <a:normAutofit lnSpcReduction="10000"/>
          </a:bodyPr>
          <a:lstStyle/>
          <a:p>
            <a:pPr algn="just">
              <a:lnSpc>
                <a:spcPct val="90000"/>
              </a:lnSpc>
              <a:buFontTx/>
              <a:buNone/>
            </a:pPr>
            <a:r>
              <a:rPr lang="en-US" altLang="en-US" sz="2400" i="1" dirty="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Excluding the small trader with a Threshold</a:t>
            </a:r>
            <a:endParaRPr lang="en-US" altLang="en-US" dirty="0">
              <a:latin typeface="Times New Roman" panose="02020603050405020304" pitchFamily="18" charset="0"/>
              <a:cs typeface="Times New Roman" panose="02020603050405020304" pitchFamily="18" charset="0"/>
            </a:endParaRPr>
          </a:p>
          <a:p>
            <a:pPr algn="just">
              <a:lnSpc>
                <a:spcPct val="90000"/>
              </a:lnSpc>
            </a:pPr>
            <a:r>
              <a:rPr lang="en-US" altLang="en-US" sz="2400" dirty="0">
                <a:latin typeface="Times New Roman" panose="02020603050405020304" pitchFamily="18" charset="0"/>
                <a:cs typeface="Times New Roman" panose="02020603050405020304" pitchFamily="18" charset="0"/>
              </a:rPr>
              <a:t>Necessary to exclude traders within a defined threshold. This is for ease of administration, but what threshold? In practice it varies a lot US$14,000 (Denmark) to US$400,000 (Japan). </a:t>
            </a:r>
            <a:r>
              <a:rPr lang="en-US" altLang="en-US" sz="2400" b="1" i="1" dirty="0">
                <a:latin typeface="Times New Roman" panose="02020603050405020304" pitchFamily="18" charset="0"/>
                <a:cs typeface="Times New Roman" panose="02020603050405020304" pitchFamily="18" charset="0"/>
              </a:rPr>
              <a:t>Vietnam and Peru have zero threshold.</a:t>
            </a:r>
          </a:p>
          <a:p>
            <a:pPr algn="just">
              <a:lnSpc>
                <a:spcPct val="90000"/>
              </a:lnSpc>
            </a:pPr>
            <a:r>
              <a:rPr lang="en-US" altLang="en-US" sz="2400" dirty="0">
                <a:latin typeface="Times New Roman" panose="02020603050405020304" pitchFamily="18" charset="0"/>
                <a:cs typeface="Times New Roman" panose="02020603050405020304" pitchFamily="18" charset="0"/>
              </a:rPr>
              <a:t>High threshold simplifies administration but also provides incentive for businesses to split.</a:t>
            </a: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 </a:t>
            </a: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Treatment of Food</a:t>
            </a:r>
            <a:endParaRPr lang="en-US" altLang="en-US" dirty="0">
              <a:latin typeface="Times New Roman" panose="02020603050405020304" pitchFamily="18" charset="0"/>
              <a:cs typeface="Times New Roman" panose="02020603050405020304" pitchFamily="18" charset="0"/>
            </a:endParaRPr>
          </a:p>
          <a:p>
            <a:pPr algn="just">
              <a:lnSpc>
                <a:spcPct val="90000"/>
              </a:lnSpc>
            </a:pPr>
            <a:r>
              <a:rPr lang="en-US" altLang="en-US" sz="2400" dirty="0">
                <a:latin typeface="Times New Roman" panose="02020603050405020304" pitchFamily="18" charset="0"/>
                <a:cs typeface="Times New Roman" panose="02020603050405020304" pitchFamily="18" charset="0"/>
              </a:rPr>
              <a:t>Exempt or zero-rate in order to lower </a:t>
            </a:r>
            <a:r>
              <a:rPr lang="en-US" altLang="en-US" sz="2400" dirty="0" err="1">
                <a:latin typeface="Times New Roman" panose="02020603050405020304" pitchFamily="18" charset="0"/>
                <a:cs typeface="Times New Roman" panose="02020603050405020304" pitchFamily="18" charset="0"/>
              </a:rPr>
              <a:t>regressivity</a:t>
            </a:r>
            <a:r>
              <a:rPr lang="en-US" altLang="en-US" sz="2400" dirty="0">
                <a:latin typeface="Times New Roman" panose="02020603050405020304" pitchFamily="18" charset="0"/>
                <a:cs typeface="Times New Roman" panose="02020603050405020304" pitchFamily="18" charset="0"/>
              </a:rPr>
              <a:t> of VAT. </a:t>
            </a:r>
          </a:p>
          <a:p>
            <a:pPr algn="just">
              <a:lnSpc>
                <a:spcPct val="90000"/>
              </a:lnSpc>
            </a:pPr>
            <a:r>
              <a:rPr lang="en-US" altLang="en-US" sz="2400" dirty="0">
                <a:latin typeface="Times New Roman" panose="02020603050405020304" pitchFamily="18" charset="0"/>
                <a:cs typeface="Times New Roman" panose="02020603050405020304" pitchFamily="18" charset="0"/>
              </a:rPr>
              <a:t>Which food to exempt? Essentials? Unprocessed? Clear definition necessary.</a:t>
            </a:r>
          </a:p>
          <a:p>
            <a:pPr>
              <a:lnSpc>
                <a:spcPct val="90000"/>
              </a:lnSpc>
              <a:buFontTx/>
              <a:buNone/>
            </a:pPr>
            <a:endParaRPr lang="en-US" altLang="en-US" sz="2400" dirty="0"/>
          </a:p>
        </p:txBody>
      </p:sp>
    </p:spTree>
    <p:extLst>
      <p:ext uri="{BB962C8B-B14F-4D97-AF65-F5344CB8AC3E}">
        <p14:creationId xmlns:p14="http://schemas.microsoft.com/office/powerpoint/2010/main" val="31121035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834640" y="365126"/>
            <a:ext cx="6392487" cy="715530"/>
          </a:xfrm>
        </p:spPr>
        <p:txBody>
          <a:bodyPr>
            <a:normAutofit/>
          </a:bodyPr>
          <a:lstStyle/>
          <a:p>
            <a:pPr algn="ctr"/>
            <a:r>
              <a:rPr lang="en-US" altLang="en-US" sz="4000" b="1" dirty="0">
                <a:latin typeface="Times New Roman" panose="02020603050405020304" pitchFamily="18" charset="0"/>
                <a:cs typeface="Times New Roman" panose="02020603050405020304" pitchFamily="18" charset="0"/>
              </a:rPr>
              <a:t>VAT ON HOUSING</a:t>
            </a:r>
          </a:p>
        </p:txBody>
      </p:sp>
      <p:sp>
        <p:nvSpPr>
          <p:cNvPr id="47107" name="Rectangle 3"/>
          <p:cNvSpPr>
            <a:spLocks noGrp="1" noChangeArrowheads="1"/>
          </p:cNvSpPr>
          <p:nvPr>
            <p:ph type="body" idx="1"/>
          </p:nvPr>
        </p:nvSpPr>
        <p:spPr>
          <a:xfrm>
            <a:off x="1679171" y="1346662"/>
            <a:ext cx="9060873" cy="5120640"/>
          </a:xfrm>
        </p:spPr>
        <p:txBody>
          <a:bodyPr>
            <a:normAutofit fontScale="92500" lnSpcReduction="20000"/>
          </a:bodyPr>
          <a:lstStyle/>
          <a:p>
            <a:pPr algn="just">
              <a:lnSpc>
                <a:spcPct val="90000"/>
              </a:lnSpc>
              <a:buFontTx/>
              <a:buNone/>
            </a:pPr>
            <a:r>
              <a:rPr lang="en-US" altLang="en-US" sz="2600" i="1" dirty="0">
                <a:latin typeface="Times New Roman" panose="02020603050405020304" pitchFamily="18" charset="0"/>
                <a:cs typeface="Times New Roman" panose="02020603050405020304" pitchFamily="18" charset="0"/>
              </a:rPr>
              <a:t>Housing and VAT</a:t>
            </a:r>
            <a:endParaRPr lang="en-US" altLang="en-US" sz="2600" dirty="0">
              <a:latin typeface="Times New Roman" panose="02020603050405020304" pitchFamily="18" charset="0"/>
              <a:cs typeface="Times New Roman" panose="02020603050405020304" pitchFamily="18" charset="0"/>
            </a:endParaRPr>
          </a:p>
          <a:p>
            <a:pPr algn="just">
              <a:lnSpc>
                <a:spcPct val="90000"/>
              </a:lnSpc>
            </a:pPr>
            <a:r>
              <a:rPr lang="en-US" altLang="en-US" sz="2400" dirty="0">
                <a:latin typeface="Times New Roman" panose="02020603050405020304" pitchFamily="18" charset="0"/>
                <a:cs typeface="Times New Roman" panose="02020603050405020304" pitchFamily="18" charset="0"/>
              </a:rPr>
              <a:t>If VAT imposed on housing sector, price of a new house would increase if built through contractors.</a:t>
            </a: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	Land and other Inputs   		Sale price</a:t>
            </a: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     	   $0.2 </a:t>
            </a:r>
            <a:r>
              <a:rPr lang="en-US" altLang="en-US" sz="2400" dirty="0" err="1">
                <a:latin typeface="Times New Roman" panose="02020603050405020304" pitchFamily="18" charset="0"/>
                <a:cs typeface="Times New Roman" panose="02020603050405020304" pitchFamily="18" charset="0"/>
              </a:rPr>
              <a:t>mn</a:t>
            </a:r>
            <a:r>
              <a:rPr lang="en-US" altLang="en-US" sz="2400" dirty="0">
                <a:latin typeface="Times New Roman" panose="02020603050405020304" pitchFamily="18" charset="0"/>
                <a:cs typeface="Times New Roman" panose="02020603050405020304" pitchFamily="18" charset="0"/>
              </a:rPr>
              <a:t>    	     		$0.3 </a:t>
            </a:r>
            <a:r>
              <a:rPr lang="en-US" altLang="en-US" sz="2400" dirty="0" err="1">
                <a:latin typeface="Times New Roman" panose="02020603050405020304" pitchFamily="18" charset="0"/>
                <a:cs typeface="Times New Roman" panose="02020603050405020304" pitchFamily="18" charset="0"/>
              </a:rPr>
              <a:t>mn</a:t>
            </a:r>
            <a:endParaRPr lang="en-US" altLang="en-US" sz="2400" dirty="0">
              <a:latin typeface="Times New Roman" panose="02020603050405020304" pitchFamily="18" charset="0"/>
              <a:cs typeface="Times New Roman" panose="02020603050405020304" pitchFamily="18" charset="0"/>
            </a:endParaRP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	With a 10% VAT, final price increases</a:t>
            </a: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	  = 0.3 + 0.1 * (0.3 - 0.2)= 0.31 million</a:t>
            </a:r>
          </a:p>
          <a:p>
            <a:pPr algn="just">
              <a:lnSpc>
                <a:spcPct val="90000"/>
              </a:lnSpc>
              <a:buFontTx/>
              <a:buNone/>
            </a:pPr>
            <a:r>
              <a:rPr lang="en-US" altLang="en-US" sz="2400" dirty="0">
                <a:latin typeface="Times New Roman" panose="02020603050405020304" pitchFamily="18" charset="0"/>
                <a:cs typeface="Times New Roman" panose="02020603050405020304" pitchFamily="18" charset="0"/>
              </a:rPr>
              <a:t> </a:t>
            </a:r>
          </a:p>
          <a:p>
            <a:pPr algn="just">
              <a:lnSpc>
                <a:spcPct val="90000"/>
              </a:lnSpc>
            </a:pPr>
            <a:r>
              <a:rPr lang="en-US" altLang="en-US" sz="2400" dirty="0">
                <a:latin typeface="Times New Roman" panose="02020603050405020304" pitchFamily="18" charset="0"/>
                <a:cs typeface="Times New Roman" panose="02020603050405020304" pitchFamily="18" charset="0"/>
              </a:rPr>
              <a:t>Prices of old houses in neighborhood also go up; windfall gain to owners.  </a:t>
            </a:r>
          </a:p>
          <a:p>
            <a:pPr algn="just">
              <a:lnSpc>
                <a:spcPct val="90000"/>
              </a:lnSpc>
            </a:pPr>
            <a:r>
              <a:rPr lang="en-US" altLang="en-US" sz="2400" dirty="0">
                <a:latin typeface="Times New Roman" panose="02020603050405020304" pitchFamily="18" charset="0"/>
                <a:cs typeface="Times New Roman" panose="02020603050405020304" pitchFamily="18" charset="0"/>
              </a:rPr>
              <a:t>Applied only at the time of original purchase; </a:t>
            </a:r>
            <a:r>
              <a:rPr lang="en-US" altLang="en-US" sz="2400" i="1" dirty="0">
                <a:latin typeface="Times New Roman" panose="02020603050405020304" pitchFamily="18" charset="0"/>
                <a:cs typeface="Times New Roman" panose="02020603050405020304" pitchFamily="18" charset="0"/>
              </a:rPr>
              <a:t>not on resale as no value is added in subsequent sales</a:t>
            </a:r>
            <a:r>
              <a:rPr lang="en-US" altLang="en-US" sz="2400" dirty="0">
                <a:latin typeface="Times New Roman" panose="02020603050405020304" pitchFamily="18" charset="0"/>
                <a:cs typeface="Times New Roman" panose="02020603050405020304" pitchFamily="18" charset="0"/>
              </a:rPr>
              <a:t>.</a:t>
            </a:r>
          </a:p>
          <a:p>
            <a:pPr>
              <a:lnSpc>
                <a:spcPct val="90000"/>
              </a:lnSpc>
            </a:pPr>
            <a:r>
              <a:rPr lang="en-US" altLang="en-US" sz="2400" dirty="0">
                <a:latin typeface="Times New Roman" panose="02020603050405020304" pitchFamily="18" charset="0"/>
                <a:cs typeface="Times New Roman" panose="02020603050405020304" pitchFamily="18" charset="0"/>
              </a:rPr>
              <a:t>Housing considered socially desirable activity and therefore to promote housing and ensure contractors are not disadvantaged, many countries often do not impose VAT on construction of houses.</a:t>
            </a:r>
          </a:p>
          <a:p>
            <a:pPr>
              <a:lnSpc>
                <a:spcPct val="90000"/>
              </a:lnSpc>
            </a:pPr>
            <a:r>
              <a:rPr lang="en-US" altLang="en-US" sz="2400" dirty="0">
                <a:latin typeface="Times New Roman" panose="02020603050405020304" pitchFamily="18" charset="0"/>
                <a:cs typeface="Times New Roman" panose="02020603050405020304" pitchFamily="18" charset="0"/>
              </a:rPr>
              <a:t>If VAT in place and owners build houses themselves? </a:t>
            </a:r>
          </a:p>
          <a:p>
            <a:pPr algn="just">
              <a:lnSpc>
                <a:spcPct val="90000"/>
              </a:lnSpc>
              <a:buFontTx/>
              <a:buNone/>
            </a:pPr>
            <a:endParaRPr lang="en-US" altLang="en-US" sz="2400" dirty="0">
              <a:cs typeface="Times New Roman" panose="02020603050405020304" pitchFamily="18" charset="0"/>
            </a:endParaRPr>
          </a:p>
          <a:p>
            <a:pPr>
              <a:lnSpc>
                <a:spcPct val="90000"/>
              </a:lnSpc>
              <a:buFontTx/>
              <a:buNone/>
            </a:pPr>
            <a:endParaRPr lang="en-US" altLang="en-US" sz="2400" dirty="0"/>
          </a:p>
        </p:txBody>
      </p:sp>
    </p:spTree>
    <p:extLst>
      <p:ext uri="{BB962C8B-B14F-4D97-AF65-F5344CB8AC3E}">
        <p14:creationId xmlns:p14="http://schemas.microsoft.com/office/powerpoint/2010/main" val="42940385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421476" y="365126"/>
            <a:ext cx="8179724" cy="840220"/>
          </a:xfrm>
        </p:spPr>
        <p:txBody>
          <a:bodyPr>
            <a:normAutofit/>
          </a:bodyPr>
          <a:lstStyle/>
          <a:p>
            <a:pPr algn="ctr" eaLnBrk="1" hangingPunct="1"/>
            <a:r>
              <a:rPr lang="en-US" altLang="en-US" sz="4000" b="1" dirty="0">
                <a:latin typeface="Times New Roman" panose="02020603050405020304" pitchFamily="18" charset="0"/>
                <a:cs typeface="Times New Roman" panose="02020603050405020304" pitchFamily="18" charset="0"/>
              </a:rPr>
              <a:t>DESIGN ISSUES: VAT RATES</a:t>
            </a:r>
          </a:p>
        </p:txBody>
      </p:sp>
      <p:sp>
        <p:nvSpPr>
          <p:cNvPr id="43011" name="Rectangle 3"/>
          <p:cNvSpPr>
            <a:spLocks noGrp="1" noChangeArrowheads="1"/>
          </p:cNvSpPr>
          <p:nvPr>
            <p:ph type="body" idx="1"/>
          </p:nvPr>
        </p:nvSpPr>
        <p:spPr>
          <a:xfrm>
            <a:off x="838200" y="1524000"/>
            <a:ext cx="10515600" cy="4924425"/>
          </a:xfrm>
        </p:spPr>
        <p:txBody>
          <a:bodyPr/>
          <a:lstStyle/>
          <a:p>
            <a:pPr eaLnBrk="1" hangingPunct="1">
              <a:lnSpc>
                <a:spcPct val="80000"/>
              </a:lnSpc>
            </a:pPr>
            <a:r>
              <a:rPr lang="en-US" altLang="en-US" sz="2400" dirty="0">
                <a:latin typeface="Times New Roman" panose="02020603050405020304" pitchFamily="18" charset="0"/>
                <a:cs typeface="Times New Roman" panose="02020603050405020304" pitchFamily="18" charset="0"/>
              </a:rPr>
              <a:t>One rate in addition to zero is preferable for two reasons: (a) more rates mean higher administrative and compliance costs; (b) differential rates increase distortions and inefficiency (substitution effect).</a:t>
            </a:r>
          </a:p>
          <a:p>
            <a:pPr eaLnBrk="1" hangingPunct="1">
              <a:lnSpc>
                <a:spcPct val="80000"/>
              </a:lnSpc>
            </a:pPr>
            <a:r>
              <a:rPr lang="en-US" altLang="en-US" sz="2400" dirty="0">
                <a:latin typeface="Times New Roman" panose="02020603050405020304" pitchFamily="18" charset="0"/>
                <a:cs typeface="Times New Roman" panose="02020603050405020304" pitchFamily="18" charset="0"/>
              </a:rPr>
              <a:t>In practice many countries have two or even more rates including several EU countries, </a:t>
            </a:r>
            <a:r>
              <a:rPr lang="en-US" altLang="en-US" sz="2400" b="1" i="1" dirty="0">
                <a:latin typeface="Times New Roman" panose="02020603050405020304" pitchFamily="18" charset="0"/>
                <a:cs typeface="Times New Roman" panose="02020603050405020304" pitchFamily="18" charset="0"/>
              </a:rPr>
              <a:t>mostly for political reasons</a:t>
            </a:r>
            <a:r>
              <a:rPr lang="en-US" altLang="en-US" sz="2400" dirty="0">
                <a:latin typeface="Times New Roman" panose="02020603050405020304" pitchFamily="18" charset="0"/>
                <a:cs typeface="Times New Roman" panose="02020603050405020304" pitchFamily="18" charset="0"/>
              </a:rPr>
              <a:t>. </a:t>
            </a:r>
          </a:p>
          <a:p>
            <a:pPr eaLnBrk="1" hangingPunct="1">
              <a:lnSpc>
                <a:spcPct val="80000"/>
              </a:lnSpc>
            </a:pPr>
            <a:r>
              <a:rPr lang="en-US" altLang="en-US" sz="2400" dirty="0">
                <a:latin typeface="Times New Roman" panose="02020603050405020304" pitchFamily="18" charset="0"/>
                <a:cs typeface="Times New Roman" panose="02020603050405020304" pitchFamily="18" charset="0"/>
              </a:rPr>
              <a:t>The minimum rate should be 10% as VAT is a complex and expensive tax and it makes no sense to impose it unless it generates enough revenues. Japan, Taiwan and Canada are notable exceptions, but Canada has two level of VAT – both at federal and provincial levels.</a:t>
            </a:r>
          </a:p>
          <a:p>
            <a:pPr eaLnBrk="1" hangingPunct="1">
              <a:lnSpc>
                <a:spcPct val="80000"/>
              </a:lnSpc>
            </a:pPr>
            <a:r>
              <a:rPr lang="en-US" altLang="en-US" sz="2400" dirty="0">
                <a:latin typeface="Times New Roman" panose="02020603050405020304" pitchFamily="18" charset="0"/>
                <a:cs typeface="Times New Roman" panose="02020603050405020304" pitchFamily="18" charset="0"/>
              </a:rPr>
              <a:t>On the higher side, the rate must not exceed 17-19 %. Higher rates encourage evasion and tax planning. Average tax rate in Africa is 16.4, Asia 10.9, EU 19.8, Central Europe and Russia 18.6, Americas 14 and overall 16 percent.   </a:t>
            </a:r>
          </a:p>
          <a:p>
            <a:pPr eaLnBrk="1" hangingPunct="1">
              <a:lnSpc>
                <a:spcPct val="80000"/>
              </a:lnSpc>
            </a:pPr>
            <a:endParaRPr lang="en-US" altLang="en-US" sz="2400" b="1" dirty="0">
              <a:latin typeface="Times New Roman" panose="02020603050405020304" pitchFamily="18" charset="0"/>
              <a:cs typeface="Times New Roman" panose="02020603050405020304" pitchFamily="18" charset="0"/>
            </a:endParaRPr>
          </a:p>
          <a:p>
            <a:pPr eaLnBrk="1" hangingPunct="1">
              <a:lnSpc>
                <a:spcPct val="80000"/>
              </a:lnSpc>
            </a:pPr>
            <a:r>
              <a:rPr lang="en-US" altLang="en-US" sz="2400" b="1" dirty="0">
                <a:latin typeface="Times New Roman" panose="02020603050405020304" pitchFamily="18" charset="0"/>
                <a:cs typeface="Times New Roman" panose="02020603050405020304" pitchFamily="18" charset="0"/>
              </a:rPr>
              <a:t>USA does not have a VAT. Any other country experiences?  </a:t>
            </a:r>
          </a:p>
        </p:txBody>
      </p:sp>
    </p:spTree>
    <p:extLst>
      <p:ext uri="{BB962C8B-B14F-4D97-AF65-F5344CB8AC3E}">
        <p14:creationId xmlns:p14="http://schemas.microsoft.com/office/powerpoint/2010/main" val="24132628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2209800" y="304800"/>
            <a:ext cx="7772400" cy="1219200"/>
          </a:xfrm>
        </p:spPr>
        <p:txBody>
          <a:bodyPr/>
          <a:lstStyle/>
          <a:p>
            <a:pPr algn="ctr" eaLnBrk="1" hangingPunct="1"/>
            <a:r>
              <a:rPr lang="en-US" altLang="en-US" sz="3200" b="1" dirty="0">
                <a:latin typeface="Times New Roman" panose="02020603050405020304" pitchFamily="18" charset="0"/>
                <a:cs typeface="Times New Roman" panose="02020603050405020304" pitchFamily="18" charset="0"/>
              </a:rPr>
              <a:t>DESIGN ISSUES: WHAT TO EXEMPT &amp; WHAT TO ZERO-RATE</a:t>
            </a:r>
          </a:p>
        </p:txBody>
      </p:sp>
      <p:sp>
        <p:nvSpPr>
          <p:cNvPr id="45059" name="Rectangle 3"/>
          <p:cNvSpPr>
            <a:spLocks noGrp="1" noChangeArrowheads="1"/>
          </p:cNvSpPr>
          <p:nvPr>
            <p:ph type="body" idx="1"/>
          </p:nvPr>
        </p:nvSpPr>
        <p:spPr>
          <a:xfrm>
            <a:off x="1795549" y="1524000"/>
            <a:ext cx="8861367" cy="4693920"/>
          </a:xfrm>
        </p:spPr>
        <p:txBody>
          <a:bodyPr>
            <a:normAutofit fontScale="85000" lnSpcReduction="20000"/>
          </a:bodyPr>
          <a:lstStyle/>
          <a:p>
            <a:pPr marL="660400" indent="-660400">
              <a:lnSpc>
                <a:spcPct val="80000"/>
              </a:lnSpc>
            </a:pPr>
            <a:r>
              <a:rPr lang="en-US" altLang="en-US" sz="2600" dirty="0">
                <a:latin typeface="Times New Roman" panose="02020603050405020304" pitchFamily="18" charset="0"/>
                <a:cs typeface="Times New Roman" panose="02020603050405020304" pitchFamily="18" charset="0"/>
              </a:rPr>
              <a:t>Looking at the international practice of exemptions, the following goods and services generally exempt: </a:t>
            </a:r>
          </a:p>
          <a:p>
            <a:pPr marL="0" indent="0">
              <a:lnSpc>
                <a:spcPct val="80000"/>
              </a:lnSpc>
              <a:buNone/>
            </a:pPr>
            <a:r>
              <a:rPr lang="en-US" altLang="en-US" sz="2600" dirty="0">
                <a:latin typeface="Times New Roman" panose="02020603050405020304" pitchFamily="18" charset="0"/>
                <a:cs typeface="Times New Roman" panose="02020603050405020304" pitchFamily="18" charset="0"/>
              </a:rPr>
              <a:t> </a:t>
            </a:r>
          </a:p>
          <a:p>
            <a:pPr lvl="2">
              <a:lnSpc>
                <a:spcPct val="80000"/>
              </a:lnSpc>
              <a:buFont typeface="Wingdings" panose="05000000000000000000" pitchFamily="2" charset="2"/>
              <a:buChar char="Ø"/>
            </a:pPr>
            <a:r>
              <a:rPr lang="en-US" altLang="en-US" sz="2200" dirty="0">
                <a:latin typeface="Times New Roman" panose="02020603050405020304" pitchFamily="18" charset="0"/>
                <a:cs typeface="Times New Roman" panose="02020603050405020304" pitchFamily="18" charset="0"/>
              </a:rPr>
              <a:t>Agricultural products and key agricultural inputs</a:t>
            </a:r>
          </a:p>
          <a:p>
            <a:pPr lvl="2">
              <a:lnSpc>
                <a:spcPct val="80000"/>
              </a:lnSpc>
              <a:buFont typeface="Wingdings" panose="05000000000000000000" pitchFamily="2" charset="2"/>
              <a:buChar char="Ø"/>
            </a:pPr>
            <a:r>
              <a:rPr lang="en-US" altLang="en-US" sz="2200" dirty="0">
                <a:latin typeface="Times New Roman" panose="02020603050405020304" pitchFamily="18" charset="0"/>
                <a:cs typeface="Times New Roman" panose="02020603050405020304" pitchFamily="18" charset="0"/>
              </a:rPr>
              <a:t>Passenger transport</a:t>
            </a:r>
          </a:p>
          <a:p>
            <a:pPr lvl="2">
              <a:lnSpc>
                <a:spcPct val="80000"/>
              </a:lnSpc>
              <a:buFont typeface="Wingdings" panose="05000000000000000000" pitchFamily="2" charset="2"/>
              <a:buChar char="Ø"/>
            </a:pPr>
            <a:r>
              <a:rPr lang="en-US" altLang="en-US" sz="2200" dirty="0">
                <a:latin typeface="Times New Roman" panose="02020603050405020304" pitchFamily="18" charset="0"/>
                <a:cs typeface="Times New Roman" panose="02020603050405020304" pitchFamily="18" charset="0"/>
              </a:rPr>
              <a:t>Cultural and other merit goods</a:t>
            </a:r>
          </a:p>
          <a:p>
            <a:pPr lvl="2">
              <a:lnSpc>
                <a:spcPct val="80000"/>
              </a:lnSpc>
              <a:buFont typeface="Wingdings" panose="05000000000000000000" pitchFamily="2" charset="2"/>
              <a:buChar char="Ø"/>
            </a:pPr>
            <a:r>
              <a:rPr lang="en-US" altLang="en-US" sz="2200" dirty="0">
                <a:latin typeface="Times New Roman" panose="02020603050405020304" pitchFamily="18" charset="0"/>
                <a:cs typeface="Times New Roman" panose="02020603050405020304" pitchFamily="18" charset="0"/>
              </a:rPr>
              <a:t>Aid financed activities</a:t>
            </a:r>
          </a:p>
          <a:p>
            <a:pPr lvl="2">
              <a:lnSpc>
                <a:spcPct val="80000"/>
              </a:lnSpc>
              <a:buFont typeface="Wingdings" panose="05000000000000000000" pitchFamily="2" charset="2"/>
              <a:buChar char="Ø"/>
            </a:pPr>
            <a:r>
              <a:rPr lang="en-US" altLang="en-US" sz="2200" dirty="0">
                <a:latin typeface="Times New Roman" panose="02020603050405020304" pitchFamily="18" charset="0"/>
                <a:cs typeface="Times New Roman" panose="02020603050405020304" pitchFamily="18" charset="0"/>
              </a:rPr>
              <a:t>Services provided by the public sector, health and education in particular</a:t>
            </a:r>
          </a:p>
          <a:p>
            <a:pPr lvl="2">
              <a:lnSpc>
                <a:spcPct val="80000"/>
              </a:lnSpc>
              <a:buFont typeface="Wingdings" panose="05000000000000000000" pitchFamily="2" charset="2"/>
              <a:buChar char="Ø"/>
            </a:pPr>
            <a:r>
              <a:rPr lang="en-US" altLang="en-US" sz="2200" dirty="0">
                <a:latin typeface="Times New Roman" panose="02020603050405020304" pitchFamily="18" charset="0"/>
                <a:cs typeface="Times New Roman" panose="02020603050405020304" pitchFamily="18" charset="0"/>
              </a:rPr>
              <a:t>Financial services</a:t>
            </a:r>
          </a:p>
          <a:p>
            <a:pPr marL="1035050" lvl="1" indent="-577850">
              <a:lnSpc>
                <a:spcPct val="80000"/>
              </a:lnSpc>
              <a:buNone/>
            </a:pPr>
            <a:endParaRPr lang="en-US" altLang="en-US" sz="1800" dirty="0">
              <a:latin typeface="Times New Roman" panose="02020603050405020304" pitchFamily="18" charset="0"/>
              <a:cs typeface="Times New Roman" panose="02020603050405020304" pitchFamily="18" charset="0"/>
            </a:endParaRPr>
          </a:p>
          <a:p>
            <a:pPr marL="660400" indent="-660400">
              <a:lnSpc>
                <a:spcPct val="80000"/>
              </a:lnSpc>
              <a:spcBef>
                <a:spcPts val="2400"/>
              </a:spcBef>
            </a:pPr>
            <a:r>
              <a:rPr lang="en-US" altLang="en-US" sz="2600" dirty="0">
                <a:latin typeface="Times New Roman" panose="02020603050405020304" pitchFamily="18" charset="0"/>
                <a:cs typeface="Times New Roman" panose="02020603050405020304" pitchFamily="18" charset="0"/>
              </a:rPr>
              <a:t>First two categories of goods/services are exempt for equity reasons (low income consumers, farmers and food items). </a:t>
            </a:r>
            <a:r>
              <a:rPr lang="en-US" altLang="en-US" sz="2600" b="1" i="1" dirty="0">
                <a:latin typeface="Times New Roman" panose="02020603050405020304" pitchFamily="18" charset="0"/>
                <a:cs typeface="Times New Roman" panose="02020603050405020304" pitchFamily="18" charset="0"/>
              </a:rPr>
              <a:t>These may also be covered by small trader threshold</a:t>
            </a:r>
            <a:r>
              <a:rPr lang="en-US" altLang="en-US" sz="2600" dirty="0">
                <a:latin typeface="Times New Roman" panose="02020603050405020304" pitchFamily="18" charset="0"/>
                <a:cs typeface="Times New Roman" panose="02020603050405020304" pitchFamily="18" charset="0"/>
              </a:rPr>
              <a:t>. Third category reflects the sensitivity of taxing certain goods/services and fourth group is due to conditions imposed by the donors. The fifth category is Merit Goods and the last one is for administrative reasons.  </a:t>
            </a:r>
          </a:p>
          <a:p>
            <a:pPr marL="660400" indent="-660400">
              <a:lnSpc>
                <a:spcPct val="80000"/>
              </a:lnSpc>
              <a:spcBef>
                <a:spcPts val="2400"/>
              </a:spcBef>
            </a:pPr>
            <a:r>
              <a:rPr lang="en-US" altLang="en-US" sz="2600" dirty="0">
                <a:latin typeface="Times New Roman" panose="02020603050405020304" pitchFamily="18" charset="0"/>
                <a:cs typeface="Times New Roman" panose="02020603050405020304" pitchFamily="18" charset="0"/>
              </a:rPr>
              <a:t>Zero-rating: should be kept at minimum - exports, life saving drugs, children’s books</a:t>
            </a:r>
          </a:p>
        </p:txBody>
      </p:sp>
    </p:spTree>
    <p:extLst>
      <p:ext uri="{BB962C8B-B14F-4D97-AF65-F5344CB8AC3E}">
        <p14:creationId xmlns:p14="http://schemas.microsoft.com/office/powerpoint/2010/main" val="12629743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6BB64-EDE1-E194-7581-9E8B1E78250E}"/>
              </a:ext>
            </a:extLst>
          </p:cNvPr>
          <p:cNvSpPr>
            <a:spLocks noGrp="1"/>
          </p:cNvSpPr>
          <p:nvPr>
            <p:ph type="title"/>
          </p:nvPr>
        </p:nvSpPr>
        <p:spPr/>
        <p:txBody>
          <a:bodyPr/>
          <a:lstStyle/>
          <a:p>
            <a:r>
              <a:rPr lang="en-US" dirty="0"/>
              <a:t>Efficiency of the VAT </a:t>
            </a:r>
          </a:p>
        </p:txBody>
      </p:sp>
      <p:sp>
        <p:nvSpPr>
          <p:cNvPr id="3" name="Content Placeholder 2">
            <a:extLst>
              <a:ext uri="{FF2B5EF4-FFF2-40B4-BE49-F238E27FC236}">
                <a16:creationId xmlns:a16="http://schemas.microsoft.com/office/drawing/2014/main" id="{98E109AB-FC3F-9104-10C9-32441F21E9C3}"/>
              </a:ext>
            </a:extLst>
          </p:cNvPr>
          <p:cNvSpPr>
            <a:spLocks noGrp="1"/>
          </p:cNvSpPr>
          <p:nvPr>
            <p:ph idx="1"/>
          </p:nvPr>
        </p:nvSpPr>
        <p:spPr>
          <a:xfrm>
            <a:off x="838200" y="1535502"/>
            <a:ext cx="10515600" cy="4641461"/>
          </a:xfrm>
        </p:spPr>
        <p:txBody>
          <a:bodyPr>
            <a:normAutofit fontScale="92500" lnSpcReduction="20000"/>
          </a:bodyPr>
          <a:lstStyle/>
          <a:p>
            <a:pPr marL="0" indent="0">
              <a:buNone/>
            </a:pPr>
            <a:r>
              <a:rPr lang="en-US" dirty="0"/>
              <a:t>The VAT Base is Consumption hence an efficient VAT would collect tax equal to TAX RATE x CONSUMPTION</a:t>
            </a:r>
          </a:p>
          <a:p>
            <a:pPr marL="0" indent="0">
              <a:buNone/>
            </a:pPr>
            <a:endParaRPr lang="en-US" dirty="0"/>
          </a:p>
          <a:p>
            <a:pPr marL="0" indent="0">
              <a:buNone/>
            </a:pPr>
            <a:r>
              <a:rPr lang="en-US" dirty="0"/>
              <a:t>Hence a measure of the efficiency of a VAT (C-Efficiency) is,</a:t>
            </a:r>
          </a:p>
          <a:p>
            <a:pPr marL="0" indent="0">
              <a:buNone/>
            </a:pPr>
            <a:endParaRPr lang="en-US" dirty="0"/>
          </a:p>
          <a:p>
            <a:pPr marL="0" indent="0">
              <a:buNone/>
            </a:pPr>
            <a:r>
              <a:rPr lang="en-US" dirty="0"/>
              <a:t>	= VAT COLLECTION/ TAX RATE x CONSUMPTION*</a:t>
            </a:r>
          </a:p>
          <a:p>
            <a:pPr marL="0" indent="0">
              <a:buNone/>
            </a:pPr>
            <a:r>
              <a:rPr lang="en-US" dirty="0"/>
              <a:t>*</a:t>
            </a:r>
            <a:r>
              <a:rPr lang="en-US" sz="2400" dirty="0"/>
              <a:t>The Consumption measure used is exclusive of VAT (CONSUMPTION - VAT COLLECTION)</a:t>
            </a:r>
          </a:p>
          <a:p>
            <a:pPr marL="0" indent="0">
              <a:buNone/>
            </a:pPr>
            <a:endParaRPr lang="en-US" dirty="0"/>
          </a:p>
          <a:p>
            <a:pPr marL="0" indent="0">
              <a:buNone/>
            </a:pPr>
            <a:r>
              <a:rPr lang="en-US" dirty="0"/>
              <a:t>C-Efficiency varies between 60% for some High-Income Countries to 30% in some Low-Income Countries</a:t>
            </a:r>
          </a:p>
          <a:p>
            <a:pPr marL="0" indent="0">
              <a:buNone/>
            </a:pPr>
            <a:r>
              <a:rPr lang="en-US" dirty="0"/>
              <a:t>VAT Revenue Ratio (VAT Collection/Tax Rate x GDP) is another measure that is used but is inferior to C-Efficiency</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047807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14787</TotalTime>
  <Words>4672</Words>
  <Application>Microsoft Office PowerPoint</Application>
  <PresentationFormat>Widescreen</PresentationFormat>
  <Paragraphs>363</Paragraphs>
  <Slides>41</Slides>
  <Notes>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9" baseType="lpstr">
      <vt:lpstr>Arial</vt:lpstr>
      <vt:lpstr>Calibri</vt:lpstr>
      <vt:lpstr>Calibri Light</vt:lpstr>
      <vt:lpstr>Symbol</vt:lpstr>
      <vt:lpstr>Times New Roman</vt:lpstr>
      <vt:lpstr>Wingdings</vt:lpstr>
      <vt:lpstr>Office Theme</vt:lpstr>
      <vt:lpstr>Document</vt:lpstr>
      <vt:lpstr>INDIRECT TAXES</vt:lpstr>
      <vt:lpstr>Value Added Tax (VAT) - Basics</vt:lpstr>
      <vt:lpstr>Value Added Tax (VAT) - Basics</vt:lpstr>
      <vt:lpstr>VAT (Input Tax Credit)</vt:lpstr>
      <vt:lpstr>VAT (Exemption on Inputs)</vt:lpstr>
      <vt:lpstr>VAT (Exemption on Sales)</vt:lpstr>
      <vt:lpstr>VAT (Zero rating)</vt:lpstr>
      <vt:lpstr>INDIRECT TAXES: Excises, Sales tax, VAT, Trade Taxes  </vt:lpstr>
      <vt:lpstr>Some issues in the context of indirect taxes</vt:lpstr>
      <vt:lpstr>SOME ISSUES (Contd.)</vt:lpstr>
      <vt:lpstr>UNIT VERSUS AD VALOREM TAX RATES</vt:lpstr>
      <vt:lpstr>UNIT VERSUS AD VALOREM TAX RATES (Contd.)</vt:lpstr>
      <vt:lpstr>Designing of Indirect Taxes</vt:lpstr>
      <vt:lpstr>EXCISE TAXES</vt:lpstr>
      <vt:lpstr>TURNOVER TAX</vt:lpstr>
      <vt:lpstr>NUMERICAL EXAMPE OF TURNOVER TAX</vt:lpstr>
      <vt:lpstr>SINGLE STAGE TAX:  SALES TAX</vt:lpstr>
      <vt:lpstr>MANUFACTURING LEVEL SALES TAX</vt:lpstr>
      <vt:lpstr>RETAIL SALES TAX</vt:lpstr>
      <vt:lpstr>EVASION IN RETAIL SALES TAX</vt:lpstr>
      <vt:lpstr>Value Added Tax</vt:lpstr>
      <vt:lpstr>TWO PERSPECTIVES ON VALUE ADDED</vt:lpstr>
      <vt:lpstr>Two ways of looking at Value Added?</vt:lpstr>
      <vt:lpstr>VAT BASES</vt:lpstr>
      <vt:lpstr>VAT COMPUTATION</vt:lpstr>
      <vt:lpstr>INVOICE OR CREDIT METHOD</vt:lpstr>
      <vt:lpstr>ILLUSTRATION</vt:lpstr>
      <vt:lpstr>Examples with Three Stages of Production </vt:lpstr>
      <vt:lpstr>VAT REVENUES</vt:lpstr>
      <vt:lpstr>REVENUES WITH EXEMPTIONS</vt:lpstr>
      <vt:lpstr>REVENUES WITH EXEMPTIONS (Contd.)</vt:lpstr>
      <vt:lpstr>REVENUES WITH EXEMPTIONS: STAGE THREE </vt:lpstr>
      <vt:lpstr>ZERO RATING</vt:lpstr>
      <vt:lpstr>ZERO RATING WITH CREDIT METHOD</vt:lpstr>
      <vt:lpstr>ZERO RATING WITH SUBTRACTION METHOD</vt:lpstr>
      <vt:lpstr>POLICY ISSUES</vt:lpstr>
      <vt:lpstr>POLICY ISSUES (Contd.)</vt:lpstr>
      <vt:lpstr>VAT ON HOUSING</vt:lpstr>
      <vt:lpstr>DESIGN ISSUES: VAT RATES</vt:lpstr>
      <vt:lpstr>DESIGN ISSUES: WHAT TO EXEMPT &amp; WHAT TO ZERO-RATE</vt:lpstr>
      <vt:lpstr>Efficiency of the VAT </vt:lpstr>
    </vt:vector>
  </TitlesOfParts>
  <Company>Duke Univeristy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Illustration of Basic Postulates: Market supplies and demands Q0</dc:title>
  <dc:creator>7Copy</dc:creator>
  <cp:lastModifiedBy>Sebastian Family</cp:lastModifiedBy>
  <cp:revision>93</cp:revision>
  <dcterms:created xsi:type="dcterms:W3CDTF">2017-10-21T19:41:48Z</dcterms:created>
  <dcterms:modified xsi:type="dcterms:W3CDTF">2026-04-26T05:36:43Z</dcterms:modified>
</cp:coreProperties>
</file>