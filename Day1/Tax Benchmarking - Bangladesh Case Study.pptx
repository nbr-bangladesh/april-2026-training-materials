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8" d="100"/>
          <a:sy n="58" d="100"/>
        </p:scale>
        <p:origin x="920" y="2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EC08D-81C9-D9E6-0AE5-AAE388F1F7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EA679D-2594-9E9A-C2DB-207B0FE356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CFA7C4-F9C6-816E-CE85-17151D7A3D10}"/>
              </a:ext>
            </a:extLst>
          </p:cNvPr>
          <p:cNvSpPr>
            <a:spLocks noGrp="1"/>
          </p:cNvSpPr>
          <p:nvPr>
            <p:ph type="dt" sz="half" idx="10"/>
          </p:nvPr>
        </p:nvSpPr>
        <p:spPr/>
        <p:txBody>
          <a:bodyPr/>
          <a:lstStyle/>
          <a:p>
            <a:fld id="{EA552E9C-FF0A-4033-97EF-0D568099C85A}" type="datetimeFigureOut">
              <a:rPr lang="en-US" smtClean="0"/>
              <a:t>4/25/2026</a:t>
            </a:fld>
            <a:endParaRPr lang="en-US"/>
          </a:p>
        </p:txBody>
      </p:sp>
      <p:sp>
        <p:nvSpPr>
          <p:cNvPr id="5" name="Footer Placeholder 4">
            <a:extLst>
              <a:ext uri="{FF2B5EF4-FFF2-40B4-BE49-F238E27FC236}">
                <a16:creationId xmlns:a16="http://schemas.microsoft.com/office/drawing/2014/main" id="{33A081EB-46AB-CEDE-85D0-4EFC0DA11F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54AD32-AF2F-8991-F9EB-30D363936F3C}"/>
              </a:ext>
            </a:extLst>
          </p:cNvPr>
          <p:cNvSpPr>
            <a:spLocks noGrp="1"/>
          </p:cNvSpPr>
          <p:nvPr>
            <p:ph type="sldNum" sz="quarter" idx="12"/>
          </p:nvPr>
        </p:nvSpPr>
        <p:spPr/>
        <p:txBody>
          <a:bodyPr/>
          <a:lstStyle/>
          <a:p>
            <a:fld id="{053B212F-E089-4408-A9E7-4436DFDDE676}" type="slidenum">
              <a:rPr lang="en-US" smtClean="0"/>
              <a:t>‹#›</a:t>
            </a:fld>
            <a:endParaRPr lang="en-US"/>
          </a:p>
        </p:txBody>
      </p:sp>
    </p:spTree>
    <p:extLst>
      <p:ext uri="{BB962C8B-B14F-4D97-AF65-F5344CB8AC3E}">
        <p14:creationId xmlns:p14="http://schemas.microsoft.com/office/powerpoint/2010/main" val="3214416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47DD5-372C-D4A7-DC09-43C0A47E8B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A70226-8DA5-ACFE-8C85-77FCF4D114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85194C-65EB-66C6-8186-B12D1861F6E8}"/>
              </a:ext>
            </a:extLst>
          </p:cNvPr>
          <p:cNvSpPr>
            <a:spLocks noGrp="1"/>
          </p:cNvSpPr>
          <p:nvPr>
            <p:ph type="dt" sz="half" idx="10"/>
          </p:nvPr>
        </p:nvSpPr>
        <p:spPr/>
        <p:txBody>
          <a:bodyPr/>
          <a:lstStyle/>
          <a:p>
            <a:fld id="{EA552E9C-FF0A-4033-97EF-0D568099C85A}" type="datetimeFigureOut">
              <a:rPr lang="en-US" smtClean="0"/>
              <a:t>4/25/2026</a:t>
            </a:fld>
            <a:endParaRPr lang="en-US"/>
          </a:p>
        </p:txBody>
      </p:sp>
      <p:sp>
        <p:nvSpPr>
          <p:cNvPr id="5" name="Footer Placeholder 4">
            <a:extLst>
              <a:ext uri="{FF2B5EF4-FFF2-40B4-BE49-F238E27FC236}">
                <a16:creationId xmlns:a16="http://schemas.microsoft.com/office/drawing/2014/main" id="{1BD05336-52B6-6FB8-B661-D081E18A68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A32159-20FC-04EC-EA93-EF46855E9796}"/>
              </a:ext>
            </a:extLst>
          </p:cNvPr>
          <p:cNvSpPr>
            <a:spLocks noGrp="1"/>
          </p:cNvSpPr>
          <p:nvPr>
            <p:ph type="sldNum" sz="quarter" idx="12"/>
          </p:nvPr>
        </p:nvSpPr>
        <p:spPr/>
        <p:txBody>
          <a:bodyPr/>
          <a:lstStyle/>
          <a:p>
            <a:fld id="{053B212F-E089-4408-A9E7-4436DFDDE676}" type="slidenum">
              <a:rPr lang="en-US" smtClean="0"/>
              <a:t>‹#›</a:t>
            </a:fld>
            <a:endParaRPr lang="en-US"/>
          </a:p>
        </p:txBody>
      </p:sp>
    </p:spTree>
    <p:extLst>
      <p:ext uri="{BB962C8B-B14F-4D97-AF65-F5344CB8AC3E}">
        <p14:creationId xmlns:p14="http://schemas.microsoft.com/office/powerpoint/2010/main" val="3716190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EB074-DCE9-B8A5-318F-7E34FFA74BF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511C449-AEEA-091A-E030-A91B4560418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01FE0C-D97F-2234-2781-55077E09A0CD}"/>
              </a:ext>
            </a:extLst>
          </p:cNvPr>
          <p:cNvSpPr>
            <a:spLocks noGrp="1"/>
          </p:cNvSpPr>
          <p:nvPr>
            <p:ph type="dt" sz="half" idx="10"/>
          </p:nvPr>
        </p:nvSpPr>
        <p:spPr/>
        <p:txBody>
          <a:bodyPr/>
          <a:lstStyle/>
          <a:p>
            <a:fld id="{EA552E9C-FF0A-4033-97EF-0D568099C85A}" type="datetimeFigureOut">
              <a:rPr lang="en-US" smtClean="0"/>
              <a:t>4/25/2026</a:t>
            </a:fld>
            <a:endParaRPr lang="en-US"/>
          </a:p>
        </p:txBody>
      </p:sp>
      <p:sp>
        <p:nvSpPr>
          <p:cNvPr id="5" name="Footer Placeholder 4">
            <a:extLst>
              <a:ext uri="{FF2B5EF4-FFF2-40B4-BE49-F238E27FC236}">
                <a16:creationId xmlns:a16="http://schemas.microsoft.com/office/drawing/2014/main" id="{D2FDA019-EE6F-E447-439D-6DC8BC55E5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F5E09F-A925-686A-05E9-EE09C35D5133}"/>
              </a:ext>
            </a:extLst>
          </p:cNvPr>
          <p:cNvSpPr>
            <a:spLocks noGrp="1"/>
          </p:cNvSpPr>
          <p:nvPr>
            <p:ph type="sldNum" sz="quarter" idx="12"/>
          </p:nvPr>
        </p:nvSpPr>
        <p:spPr/>
        <p:txBody>
          <a:bodyPr/>
          <a:lstStyle/>
          <a:p>
            <a:fld id="{053B212F-E089-4408-A9E7-4436DFDDE676}" type="slidenum">
              <a:rPr lang="en-US" smtClean="0"/>
              <a:t>‹#›</a:t>
            </a:fld>
            <a:endParaRPr lang="en-US"/>
          </a:p>
        </p:txBody>
      </p:sp>
    </p:spTree>
    <p:extLst>
      <p:ext uri="{BB962C8B-B14F-4D97-AF65-F5344CB8AC3E}">
        <p14:creationId xmlns:p14="http://schemas.microsoft.com/office/powerpoint/2010/main" val="3189264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60288-27EF-4ECE-BBB8-D475A3E9CF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44DD41-AE3A-7F7F-A977-667C1F8C67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38D6C4-9F85-B260-5E28-75DF60B915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9D5171-B74E-74FA-4CC5-CF1323AF60BF}"/>
              </a:ext>
            </a:extLst>
          </p:cNvPr>
          <p:cNvSpPr>
            <a:spLocks noGrp="1"/>
          </p:cNvSpPr>
          <p:nvPr>
            <p:ph type="dt" sz="half" idx="10"/>
          </p:nvPr>
        </p:nvSpPr>
        <p:spPr/>
        <p:txBody>
          <a:bodyPr/>
          <a:lstStyle/>
          <a:p>
            <a:fld id="{EA552E9C-FF0A-4033-97EF-0D568099C85A}" type="datetimeFigureOut">
              <a:rPr lang="en-US" smtClean="0"/>
              <a:t>4/25/2026</a:t>
            </a:fld>
            <a:endParaRPr lang="en-US"/>
          </a:p>
        </p:txBody>
      </p:sp>
      <p:sp>
        <p:nvSpPr>
          <p:cNvPr id="6" name="Footer Placeholder 5">
            <a:extLst>
              <a:ext uri="{FF2B5EF4-FFF2-40B4-BE49-F238E27FC236}">
                <a16:creationId xmlns:a16="http://schemas.microsoft.com/office/drawing/2014/main" id="{B9DD187F-A7D4-01B3-FB33-4D319CC705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744310-D7C2-1CF3-7CDE-9906D5CD80FB}"/>
              </a:ext>
            </a:extLst>
          </p:cNvPr>
          <p:cNvSpPr>
            <a:spLocks noGrp="1"/>
          </p:cNvSpPr>
          <p:nvPr>
            <p:ph type="sldNum" sz="quarter" idx="12"/>
          </p:nvPr>
        </p:nvSpPr>
        <p:spPr/>
        <p:txBody>
          <a:bodyPr/>
          <a:lstStyle/>
          <a:p>
            <a:fld id="{053B212F-E089-4408-A9E7-4436DFDDE676}" type="slidenum">
              <a:rPr lang="en-US" smtClean="0"/>
              <a:t>‹#›</a:t>
            </a:fld>
            <a:endParaRPr lang="en-US"/>
          </a:p>
        </p:txBody>
      </p:sp>
    </p:spTree>
    <p:extLst>
      <p:ext uri="{BB962C8B-B14F-4D97-AF65-F5344CB8AC3E}">
        <p14:creationId xmlns:p14="http://schemas.microsoft.com/office/powerpoint/2010/main" val="3843571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EFA3-DCBB-F941-8A31-5AA0DA8BE5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75F0983-7014-9691-AD38-D8C73D4E43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840CCD-8464-3435-7D35-87CEC85FA8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8D964B-D17E-8A26-1347-F040A1759A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F1F8FA-6830-7D3F-CF90-F442C0B928E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94A6E6-488B-E8D3-A5D7-E2AB2A5DC173}"/>
              </a:ext>
            </a:extLst>
          </p:cNvPr>
          <p:cNvSpPr>
            <a:spLocks noGrp="1"/>
          </p:cNvSpPr>
          <p:nvPr>
            <p:ph type="dt" sz="half" idx="10"/>
          </p:nvPr>
        </p:nvSpPr>
        <p:spPr/>
        <p:txBody>
          <a:bodyPr/>
          <a:lstStyle/>
          <a:p>
            <a:fld id="{EA552E9C-FF0A-4033-97EF-0D568099C85A}" type="datetimeFigureOut">
              <a:rPr lang="en-US" smtClean="0"/>
              <a:t>4/25/2026</a:t>
            </a:fld>
            <a:endParaRPr lang="en-US"/>
          </a:p>
        </p:txBody>
      </p:sp>
      <p:sp>
        <p:nvSpPr>
          <p:cNvPr id="8" name="Footer Placeholder 7">
            <a:extLst>
              <a:ext uri="{FF2B5EF4-FFF2-40B4-BE49-F238E27FC236}">
                <a16:creationId xmlns:a16="http://schemas.microsoft.com/office/drawing/2014/main" id="{1723EE70-B954-382E-1116-72F279B0D0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C1BF52-CC8C-316E-1A9B-1680EB87DD6A}"/>
              </a:ext>
            </a:extLst>
          </p:cNvPr>
          <p:cNvSpPr>
            <a:spLocks noGrp="1"/>
          </p:cNvSpPr>
          <p:nvPr>
            <p:ph type="sldNum" sz="quarter" idx="12"/>
          </p:nvPr>
        </p:nvSpPr>
        <p:spPr/>
        <p:txBody>
          <a:bodyPr/>
          <a:lstStyle/>
          <a:p>
            <a:fld id="{053B212F-E089-4408-A9E7-4436DFDDE676}" type="slidenum">
              <a:rPr lang="en-US" smtClean="0"/>
              <a:t>‹#›</a:t>
            </a:fld>
            <a:endParaRPr lang="en-US"/>
          </a:p>
        </p:txBody>
      </p:sp>
    </p:spTree>
    <p:extLst>
      <p:ext uri="{BB962C8B-B14F-4D97-AF65-F5344CB8AC3E}">
        <p14:creationId xmlns:p14="http://schemas.microsoft.com/office/powerpoint/2010/main" val="1305744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9D99-6D38-E143-203E-AFC9A7F09F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0CDC42-88CB-58D9-D990-66284E964D4A}"/>
              </a:ext>
            </a:extLst>
          </p:cNvPr>
          <p:cNvSpPr>
            <a:spLocks noGrp="1"/>
          </p:cNvSpPr>
          <p:nvPr>
            <p:ph type="dt" sz="half" idx="10"/>
          </p:nvPr>
        </p:nvSpPr>
        <p:spPr/>
        <p:txBody>
          <a:bodyPr/>
          <a:lstStyle/>
          <a:p>
            <a:fld id="{EA552E9C-FF0A-4033-97EF-0D568099C85A}" type="datetimeFigureOut">
              <a:rPr lang="en-US" smtClean="0"/>
              <a:t>4/25/2026</a:t>
            </a:fld>
            <a:endParaRPr lang="en-US"/>
          </a:p>
        </p:txBody>
      </p:sp>
      <p:sp>
        <p:nvSpPr>
          <p:cNvPr id="4" name="Footer Placeholder 3">
            <a:extLst>
              <a:ext uri="{FF2B5EF4-FFF2-40B4-BE49-F238E27FC236}">
                <a16:creationId xmlns:a16="http://schemas.microsoft.com/office/drawing/2014/main" id="{8A4F38D1-C77A-BE6F-33A3-F0D9B0237D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AA7DA3-3739-C695-3E28-70A764C8D4A5}"/>
              </a:ext>
            </a:extLst>
          </p:cNvPr>
          <p:cNvSpPr>
            <a:spLocks noGrp="1"/>
          </p:cNvSpPr>
          <p:nvPr>
            <p:ph type="sldNum" sz="quarter" idx="12"/>
          </p:nvPr>
        </p:nvSpPr>
        <p:spPr/>
        <p:txBody>
          <a:bodyPr/>
          <a:lstStyle/>
          <a:p>
            <a:fld id="{053B212F-E089-4408-A9E7-4436DFDDE676}" type="slidenum">
              <a:rPr lang="en-US" smtClean="0"/>
              <a:t>‹#›</a:t>
            </a:fld>
            <a:endParaRPr lang="en-US"/>
          </a:p>
        </p:txBody>
      </p:sp>
    </p:spTree>
    <p:extLst>
      <p:ext uri="{BB962C8B-B14F-4D97-AF65-F5344CB8AC3E}">
        <p14:creationId xmlns:p14="http://schemas.microsoft.com/office/powerpoint/2010/main" val="4006471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F038D0-ABD6-63CE-B5E1-463B400192DC}"/>
              </a:ext>
            </a:extLst>
          </p:cNvPr>
          <p:cNvSpPr>
            <a:spLocks noGrp="1"/>
          </p:cNvSpPr>
          <p:nvPr>
            <p:ph type="dt" sz="half" idx="10"/>
          </p:nvPr>
        </p:nvSpPr>
        <p:spPr/>
        <p:txBody>
          <a:bodyPr/>
          <a:lstStyle/>
          <a:p>
            <a:fld id="{EA552E9C-FF0A-4033-97EF-0D568099C85A}" type="datetimeFigureOut">
              <a:rPr lang="en-US" smtClean="0"/>
              <a:t>4/25/2026</a:t>
            </a:fld>
            <a:endParaRPr lang="en-US"/>
          </a:p>
        </p:txBody>
      </p:sp>
      <p:sp>
        <p:nvSpPr>
          <p:cNvPr id="3" name="Footer Placeholder 2">
            <a:extLst>
              <a:ext uri="{FF2B5EF4-FFF2-40B4-BE49-F238E27FC236}">
                <a16:creationId xmlns:a16="http://schemas.microsoft.com/office/drawing/2014/main" id="{AFC2F13C-F518-87B6-371C-1F7B5F297B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29EE1C-F89A-F81A-25C1-55D89DCD9312}"/>
              </a:ext>
            </a:extLst>
          </p:cNvPr>
          <p:cNvSpPr>
            <a:spLocks noGrp="1"/>
          </p:cNvSpPr>
          <p:nvPr>
            <p:ph type="sldNum" sz="quarter" idx="12"/>
          </p:nvPr>
        </p:nvSpPr>
        <p:spPr/>
        <p:txBody>
          <a:bodyPr/>
          <a:lstStyle/>
          <a:p>
            <a:fld id="{053B212F-E089-4408-A9E7-4436DFDDE676}" type="slidenum">
              <a:rPr lang="en-US" smtClean="0"/>
              <a:t>‹#›</a:t>
            </a:fld>
            <a:endParaRPr lang="en-US"/>
          </a:p>
        </p:txBody>
      </p:sp>
    </p:spTree>
    <p:extLst>
      <p:ext uri="{BB962C8B-B14F-4D97-AF65-F5344CB8AC3E}">
        <p14:creationId xmlns:p14="http://schemas.microsoft.com/office/powerpoint/2010/main" val="2835407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79295-8719-91FD-BE19-82B2C4155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1B19D4-41EF-966F-16D8-A2E285E354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4DA89D8-41D9-8BD6-CB18-D414814581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43CD8-1B9E-9416-0CD8-65261B76695D}"/>
              </a:ext>
            </a:extLst>
          </p:cNvPr>
          <p:cNvSpPr>
            <a:spLocks noGrp="1"/>
          </p:cNvSpPr>
          <p:nvPr>
            <p:ph type="dt" sz="half" idx="10"/>
          </p:nvPr>
        </p:nvSpPr>
        <p:spPr/>
        <p:txBody>
          <a:bodyPr/>
          <a:lstStyle/>
          <a:p>
            <a:fld id="{EA552E9C-FF0A-4033-97EF-0D568099C85A}" type="datetimeFigureOut">
              <a:rPr lang="en-US" smtClean="0"/>
              <a:t>4/25/2026</a:t>
            </a:fld>
            <a:endParaRPr lang="en-US"/>
          </a:p>
        </p:txBody>
      </p:sp>
      <p:sp>
        <p:nvSpPr>
          <p:cNvPr id="6" name="Footer Placeholder 5">
            <a:extLst>
              <a:ext uri="{FF2B5EF4-FFF2-40B4-BE49-F238E27FC236}">
                <a16:creationId xmlns:a16="http://schemas.microsoft.com/office/drawing/2014/main" id="{FC234ED2-2AE1-AB3F-2BA5-47902E530F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21983C-B792-D244-405A-A49D0BBC9239}"/>
              </a:ext>
            </a:extLst>
          </p:cNvPr>
          <p:cNvSpPr>
            <a:spLocks noGrp="1"/>
          </p:cNvSpPr>
          <p:nvPr>
            <p:ph type="sldNum" sz="quarter" idx="12"/>
          </p:nvPr>
        </p:nvSpPr>
        <p:spPr/>
        <p:txBody>
          <a:bodyPr/>
          <a:lstStyle/>
          <a:p>
            <a:fld id="{053B212F-E089-4408-A9E7-4436DFDDE676}" type="slidenum">
              <a:rPr lang="en-US" smtClean="0"/>
              <a:t>‹#›</a:t>
            </a:fld>
            <a:endParaRPr lang="en-US"/>
          </a:p>
        </p:txBody>
      </p:sp>
    </p:spTree>
    <p:extLst>
      <p:ext uri="{BB962C8B-B14F-4D97-AF65-F5344CB8AC3E}">
        <p14:creationId xmlns:p14="http://schemas.microsoft.com/office/powerpoint/2010/main" val="3995944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85FD3-54C5-F9FE-3B85-31E15F8766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26E0DF-3B63-BB87-BE8E-FBF4612E41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62A9F68-B1AF-8021-F6BF-6D013E94F2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9A93BB-5651-4AAE-34AF-DFE0139CF24D}"/>
              </a:ext>
            </a:extLst>
          </p:cNvPr>
          <p:cNvSpPr>
            <a:spLocks noGrp="1"/>
          </p:cNvSpPr>
          <p:nvPr>
            <p:ph type="dt" sz="half" idx="10"/>
          </p:nvPr>
        </p:nvSpPr>
        <p:spPr/>
        <p:txBody>
          <a:bodyPr/>
          <a:lstStyle/>
          <a:p>
            <a:fld id="{EA552E9C-FF0A-4033-97EF-0D568099C85A}" type="datetimeFigureOut">
              <a:rPr lang="en-US" smtClean="0"/>
              <a:t>4/25/2026</a:t>
            </a:fld>
            <a:endParaRPr lang="en-US"/>
          </a:p>
        </p:txBody>
      </p:sp>
      <p:sp>
        <p:nvSpPr>
          <p:cNvPr id="6" name="Footer Placeholder 5">
            <a:extLst>
              <a:ext uri="{FF2B5EF4-FFF2-40B4-BE49-F238E27FC236}">
                <a16:creationId xmlns:a16="http://schemas.microsoft.com/office/drawing/2014/main" id="{92BBE921-8BF7-1429-5DAB-F7FE4BEC32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8296AB-8BA0-45D4-2F0C-E945BCFE6D53}"/>
              </a:ext>
            </a:extLst>
          </p:cNvPr>
          <p:cNvSpPr>
            <a:spLocks noGrp="1"/>
          </p:cNvSpPr>
          <p:nvPr>
            <p:ph type="sldNum" sz="quarter" idx="12"/>
          </p:nvPr>
        </p:nvSpPr>
        <p:spPr/>
        <p:txBody>
          <a:bodyPr/>
          <a:lstStyle/>
          <a:p>
            <a:fld id="{053B212F-E089-4408-A9E7-4436DFDDE676}" type="slidenum">
              <a:rPr lang="en-US" smtClean="0"/>
              <a:t>‹#›</a:t>
            </a:fld>
            <a:endParaRPr lang="en-US"/>
          </a:p>
        </p:txBody>
      </p:sp>
    </p:spTree>
    <p:extLst>
      <p:ext uri="{BB962C8B-B14F-4D97-AF65-F5344CB8AC3E}">
        <p14:creationId xmlns:p14="http://schemas.microsoft.com/office/powerpoint/2010/main" val="1401043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A6D82-AB64-E9C6-965F-A7B73F77FE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D12F55-65E9-07D1-6AEB-467EDD1A597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60856A-F1AA-5D6A-C884-60AC0D58A576}"/>
              </a:ext>
            </a:extLst>
          </p:cNvPr>
          <p:cNvSpPr>
            <a:spLocks noGrp="1"/>
          </p:cNvSpPr>
          <p:nvPr>
            <p:ph type="dt" sz="half" idx="10"/>
          </p:nvPr>
        </p:nvSpPr>
        <p:spPr/>
        <p:txBody>
          <a:bodyPr/>
          <a:lstStyle/>
          <a:p>
            <a:fld id="{EA552E9C-FF0A-4033-97EF-0D568099C85A}" type="datetimeFigureOut">
              <a:rPr lang="en-US" smtClean="0"/>
              <a:t>4/25/2026</a:t>
            </a:fld>
            <a:endParaRPr lang="en-US"/>
          </a:p>
        </p:txBody>
      </p:sp>
      <p:sp>
        <p:nvSpPr>
          <p:cNvPr id="5" name="Footer Placeholder 4">
            <a:extLst>
              <a:ext uri="{FF2B5EF4-FFF2-40B4-BE49-F238E27FC236}">
                <a16:creationId xmlns:a16="http://schemas.microsoft.com/office/drawing/2014/main" id="{E9F52BD3-7EAE-427A-6A9F-A6D6C384A4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428F22-DC13-BF61-C943-B06109973C73}"/>
              </a:ext>
            </a:extLst>
          </p:cNvPr>
          <p:cNvSpPr>
            <a:spLocks noGrp="1"/>
          </p:cNvSpPr>
          <p:nvPr>
            <p:ph type="sldNum" sz="quarter" idx="12"/>
          </p:nvPr>
        </p:nvSpPr>
        <p:spPr/>
        <p:txBody>
          <a:bodyPr/>
          <a:lstStyle/>
          <a:p>
            <a:fld id="{053B212F-E089-4408-A9E7-4436DFDDE676}" type="slidenum">
              <a:rPr lang="en-US" smtClean="0"/>
              <a:t>‹#›</a:t>
            </a:fld>
            <a:endParaRPr lang="en-US"/>
          </a:p>
        </p:txBody>
      </p:sp>
    </p:spTree>
    <p:extLst>
      <p:ext uri="{BB962C8B-B14F-4D97-AF65-F5344CB8AC3E}">
        <p14:creationId xmlns:p14="http://schemas.microsoft.com/office/powerpoint/2010/main" val="4153975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251C44-3695-5BE1-F97D-A3C06D71136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E60AC0-39AA-A523-2166-3005F6D7ED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99A9EB-6F26-7DDA-B1EB-DFE8F46C5D70}"/>
              </a:ext>
            </a:extLst>
          </p:cNvPr>
          <p:cNvSpPr>
            <a:spLocks noGrp="1"/>
          </p:cNvSpPr>
          <p:nvPr>
            <p:ph type="dt" sz="half" idx="10"/>
          </p:nvPr>
        </p:nvSpPr>
        <p:spPr/>
        <p:txBody>
          <a:bodyPr/>
          <a:lstStyle/>
          <a:p>
            <a:fld id="{EA552E9C-FF0A-4033-97EF-0D568099C85A}" type="datetimeFigureOut">
              <a:rPr lang="en-US" smtClean="0"/>
              <a:t>4/25/2026</a:t>
            </a:fld>
            <a:endParaRPr lang="en-US"/>
          </a:p>
        </p:txBody>
      </p:sp>
      <p:sp>
        <p:nvSpPr>
          <p:cNvPr id="5" name="Footer Placeholder 4">
            <a:extLst>
              <a:ext uri="{FF2B5EF4-FFF2-40B4-BE49-F238E27FC236}">
                <a16:creationId xmlns:a16="http://schemas.microsoft.com/office/drawing/2014/main" id="{8A2F239C-8309-1F39-838D-64064FAC50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7ED223-9E35-AB16-E5EF-1C4C3E7566B4}"/>
              </a:ext>
            </a:extLst>
          </p:cNvPr>
          <p:cNvSpPr>
            <a:spLocks noGrp="1"/>
          </p:cNvSpPr>
          <p:nvPr>
            <p:ph type="sldNum" sz="quarter" idx="12"/>
          </p:nvPr>
        </p:nvSpPr>
        <p:spPr/>
        <p:txBody>
          <a:bodyPr/>
          <a:lstStyle/>
          <a:p>
            <a:fld id="{053B212F-E089-4408-A9E7-4436DFDDE676}" type="slidenum">
              <a:rPr lang="en-US" smtClean="0"/>
              <a:t>‹#›</a:t>
            </a:fld>
            <a:endParaRPr lang="en-US"/>
          </a:p>
        </p:txBody>
      </p:sp>
    </p:spTree>
    <p:extLst>
      <p:ext uri="{BB962C8B-B14F-4D97-AF65-F5344CB8AC3E}">
        <p14:creationId xmlns:p14="http://schemas.microsoft.com/office/powerpoint/2010/main" val="849352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A9A441-18DE-B760-CD77-99104E1895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41EAE0-EB4B-ED61-9D2B-6FBC6ECFCA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9608AB-BEB5-9A9B-E4CB-BA20FAFB24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552E9C-FF0A-4033-97EF-0D568099C85A}" type="datetimeFigureOut">
              <a:rPr lang="en-US" smtClean="0"/>
              <a:t>4/25/2026</a:t>
            </a:fld>
            <a:endParaRPr lang="en-US"/>
          </a:p>
        </p:txBody>
      </p:sp>
      <p:sp>
        <p:nvSpPr>
          <p:cNvPr id="5" name="Footer Placeholder 4">
            <a:extLst>
              <a:ext uri="{FF2B5EF4-FFF2-40B4-BE49-F238E27FC236}">
                <a16:creationId xmlns:a16="http://schemas.microsoft.com/office/drawing/2014/main" id="{44DC1833-7EF8-C521-58E3-957A65F489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B1EF36D-17C2-F94F-744D-09961FFD60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3B212F-E089-4408-A9E7-4436DFDDE676}" type="slidenum">
              <a:rPr lang="en-US" smtClean="0"/>
              <a:t>‹#›</a:t>
            </a:fld>
            <a:endParaRPr lang="en-US"/>
          </a:p>
        </p:txBody>
      </p:sp>
    </p:spTree>
    <p:extLst>
      <p:ext uri="{BB962C8B-B14F-4D97-AF65-F5344CB8AC3E}">
        <p14:creationId xmlns:p14="http://schemas.microsoft.com/office/powerpoint/2010/main" val="3422713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21865-59BE-B25E-2009-CF5086B25BBF}"/>
              </a:ext>
            </a:extLst>
          </p:cNvPr>
          <p:cNvSpPr>
            <a:spLocks noGrp="1"/>
          </p:cNvSpPr>
          <p:nvPr>
            <p:ph type="ctrTitle"/>
          </p:nvPr>
        </p:nvSpPr>
        <p:spPr/>
        <p:txBody>
          <a:bodyPr/>
          <a:lstStyle/>
          <a:p>
            <a:r>
              <a:rPr lang="en-US"/>
              <a:t>Case Study</a:t>
            </a:r>
          </a:p>
        </p:txBody>
      </p:sp>
      <p:sp>
        <p:nvSpPr>
          <p:cNvPr id="3" name="Subtitle 2">
            <a:extLst>
              <a:ext uri="{FF2B5EF4-FFF2-40B4-BE49-F238E27FC236}">
                <a16:creationId xmlns:a16="http://schemas.microsoft.com/office/drawing/2014/main" id="{3A0352B2-817A-6CF5-E096-80B690CFD28C}"/>
              </a:ext>
            </a:extLst>
          </p:cNvPr>
          <p:cNvSpPr>
            <a:spLocks noGrp="1"/>
          </p:cNvSpPr>
          <p:nvPr>
            <p:ph type="subTitle" idx="1"/>
          </p:nvPr>
        </p:nvSpPr>
        <p:spPr/>
        <p:txBody>
          <a:bodyPr/>
          <a:lstStyle/>
          <a:p>
            <a:r>
              <a:rPr lang="en-US"/>
              <a:t>Benchmarking Tax Performance of Bangladesh</a:t>
            </a:r>
          </a:p>
        </p:txBody>
      </p:sp>
    </p:spTree>
    <p:extLst>
      <p:ext uri="{BB962C8B-B14F-4D97-AF65-F5344CB8AC3E}">
        <p14:creationId xmlns:p14="http://schemas.microsoft.com/office/powerpoint/2010/main" val="2619402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07F60-4CCD-2A90-AFDA-CB92066D5C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24CC939-20C7-81F1-7CD1-9D5EAB715082}"/>
              </a:ext>
            </a:extLst>
          </p:cNvPr>
          <p:cNvSpPr>
            <a:spLocks noGrp="1"/>
          </p:cNvSpPr>
          <p:nvPr>
            <p:ph idx="1"/>
          </p:nvPr>
        </p:nvSpPr>
        <p:spPr/>
        <p:txBody>
          <a:bodyPr>
            <a:normAutofit fontScale="92500" lnSpcReduction="10000"/>
          </a:bodyPr>
          <a:lstStyle/>
          <a:p>
            <a:pPr lvl="0"/>
            <a:r>
              <a:rPr lang="en-US"/>
              <a:t>We will benchmark Bangladesh’s tax collection performance against other countries. For this exercise use the file World Tax Data – Case Study.xlsx.</a:t>
            </a:r>
          </a:p>
          <a:p>
            <a:pPr lvl="1"/>
            <a:r>
              <a:rPr lang="en-US"/>
              <a:t>Using the data in the worksheet “Bangladesh (data is in % of GDP), plot (line-plot) the Tax Revenue from 1980 until 2020. Comment on the trend in Tax Revenues.</a:t>
            </a:r>
          </a:p>
          <a:p>
            <a:pPr lvl="1"/>
            <a:r>
              <a:rPr lang="en-US"/>
              <a:t>Using a stacked line chart plot the components of the Tax Revenue (Income Tax, Value Added Tax, Excise, Trade Tax, Property Tax and Other Taxes) to explain which tax may explain the trend in the tax collection.</a:t>
            </a:r>
          </a:p>
          <a:p>
            <a:pPr lvl="1"/>
            <a:r>
              <a:rPr lang="en-US"/>
              <a:t>Using the data in the worksheet titled “South Asia”,  compare the composition of the different taxes across South Asia (Income Tax, Value Added Tax, Excise, Trade Tax, Property Tax and Other Taxes) using a stacked bar chart or grouped bar chart. How does Bangladesh’s Tax Revenue and Tax Structure (composition) differ from other countries on the region?</a:t>
            </a:r>
          </a:p>
          <a:p>
            <a:endParaRPr lang="en-US"/>
          </a:p>
        </p:txBody>
      </p:sp>
    </p:spTree>
    <p:extLst>
      <p:ext uri="{BB962C8B-B14F-4D97-AF65-F5344CB8AC3E}">
        <p14:creationId xmlns:p14="http://schemas.microsoft.com/office/powerpoint/2010/main" val="3541903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CC346-2A7F-B2CB-6DB4-230FB50486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9952FC-DD0A-89B2-5187-90668D63FA3D}"/>
              </a:ext>
            </a:extLst>
          </p:cNvPr>
          <p:cNvSpPr>
            <a:spLocks noGrp="1"/>
          </p:cNvSpPr>
          <p:nvPr>
            <p:ph idx="1"/>
          </p:nvPr>
        </p:nvSpPr>
        <p:spPr/>
        <p:txBody>
          <a:bodyPr>
            <a:normAutofit/>
          </a:bodyPr>
          <a:lstStyle/>
          <a:p>
            <a:pPr lvl="1"/>
            <a:r>
              <a:rPr lang="en-US"/>
              <a:t>Using the data in the worksheet “World 2019” (data is in % of GDP), plot the Tax Revenue, given in percentage of GDP (y-axis) to log per capita GDP (x-axis). Use Scatter Plot and label the countries. How does Bangladesh’s tax collection compare to other countries  for similar levels of per-capita GDP in 2019? – (Note in Excel move the column showing the x axis to the left of y axis before plotting).</a:t>
            </a:r>
          </a:p>
          <a:p>
            <a:pPr lvl="1"/>
            <a:r>
              <a:rPr lang="en-US"/>
              <a:t>Regress the Tax-GDP ratio over log(per capita GDP), the Resource Rich dummy and Democracy Index. Comment on the regression results and the variables. What in our simple model explains the Tax Revenue performance of countries. Would you agree with the methodology used to explain the causation of Tax Revenue collection in countries? Comment.</a:t>
            </a:r>
          </a:p>
        </p:txBody>
      </p:sp>
    </p:spTree>
    <p:extLst>
      <p:ext uri="{BB962C8B-B14F-4D97-AF65-F5344CB8AC3E}">
        <p14:creationId xmlns:p14="http://schemas.microsoft.com/office/powerpoint/2010/main" val="3973780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9AF4C-D618-0DF8-7316-D169678A2A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6F20EF-AA13-A68A-C4C9-F62DADD55E2C}"/>
              </a:ext>
            </a:extLst>
          </p:cNvPr>
          <p:cNvSpPr>
            <a:spLocks noGrp="1"/>
          </p:cNvSpPr>
          <p:nvPr>
            <p:ph idx="1"/>
          </p:nvPr>
        </p:nvSpPr>
        <p:spPr/>
        <p:txBody>
          <a:bodyPr>
            <a:normAutofit/>
          </a:bodyPr>
          <a:lstStyle/>
          <a:p>
            <a:r>
              <a:rPr lang="en-US" b="1"/>
              <a:t>Benchmarking a Country’s Tax Performance </a:t>
            </a:r>
            <a:endParaRPr lang="en-US"/>
          </a:p>
          <a:p>
            <a:pPr lvl="1"/>
            <a:r>
              <a:rPr lang="en-US"/>
              <a:t>Predict Bangladesh’s tax collection based on the regression 2(h) (by applying the coefficients of the statistically significant variables in the regression to the values of dependent variables) and compare it to what it is collecting now. Comment on Bangladesh’s performance compared to what it should be collecting. What would you advise the government regarding further investigating the causes of this.</a:t>
            </a:r>
          </a:p>
          <a:p>
            <a:pPr lvl="1"/>
            <a:r>
              <a:rPr lang="en-US"/>
              <a:t>Using the Stochastic Frontier Analysis python code, generate the Efficiencies of all countries. Find out Bangladesh’s Tax Revenue Efficiency for 2019.</a:t>
            </a:r>
          </a:p>
          <a:p>
            <a:pPr lvl="1"/>
            <a:r>
              <a:rPr lang="en-US"/>
              <a:t>Using this efficiency calculate Bangladesh’s Tax Revenue Potential and Tax Gap (Tax Potential – Tax Collection).</a:t>
            </a:r>
          </a:p>
          <a:p>
            <a:endParaRPr lang="en-US"/>
          </a:p>
        </p:txBody>
      </p:sp>
    </p:spTree>
    <p:extLst>
      <p:ext uri="{BB962C8B-B14F-4D97-AF65-F5344CB8AC3E}">
        <p14:creationId xmlns:p14="http://schemas.microsoft.com/office/powerpoint/2010/main" val="40942743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444</Words>
  <Application>Microsoft Office PowerPoint</Application>
  <PresentationFormat>Widescreen</PresentationFormat>
  <Paragraphs>12</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Case Study</vt:lpstr>
      <vt:lpstr>PowerPoint Presentation</vt:lpstr>
      <vt:lpstr>PowerPoint Presentation</vt:lpstr>
      <vt:lpstr>PowerPoint Presentation</vt:lpstr>
    </vt:vector>
  </TitlesOfParts>
  <Company>Duke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Sebastian Family</dc:creator>
  <cp:lastModifiedBy>Sebastian Family</cp:lastModifiedBy>
  <cp:revision>1</cp:revision>
  <dcterms:created xsi:type="dcterms:W3CDTF">2026-04-25T14:09:11Z</dcterms:created>
  <dcterms:modified xsi:type="dcterms:W3CDTF">2026-04-25T14:15:18Z</dcterms:modified>
</cp:coreProperties>
</file>