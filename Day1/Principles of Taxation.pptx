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handoutMasterIdLst>
    <p:handoutMasterId r:id="rId47"/>
  </p:handoutMasterIdLst>
  <p:sldIdLst>
    <p:sldId id="540" r:id="rId2"/>
    <p:sldId id="433" r:id="rId3"/>
    <p:sldId id="434" r:id="rId4"/>
    <p:sldId id="435" r:id="rId5"/>
    <p:sldId id="303" r:id="rId6"/>
    <p:sldId id="269" r:id="rId7"/>
    <p:sldId id="298" r:id="rId8"/>
    <p:sldId id="258" r:id="rId9"/>
    <p:sldId id="259" r:id="rId10"/>
    <p:sldId id="270" r:id="rId11"/>
    <p:sldId id="358" r:id="rId12"/>
    <p:sldId id="437" r:id="rId13"/>
    <p:sldId id="436" r:id="rId14"/>
    <p:sldId id="438" r:id="rId15"/>
    <p:sldId id="539" r:id="rId16"/>
    <p:sldId id="351" r:id="rId17"/>
    <p:sldId id="442" r:id="rId18"/>
    <p:sldId id="443" r:id="rId19"/>
    <p:sldId id="444" r:id="rId20"/>
    <p:sldId id="457" r:id="rId21"/>
    <p:sldId id="447" r:id="rId22"/>
    <p:sldId id="448" r:id="rId23"/>
    <p:sldId id="449" r:id="rId24"/>
    <p:sldId id="310" r:id="rId25"/>
    <p:sldId id="341" r:id="rId26"/>
    <p:sldId id="343" r:id="rId27"/>
    <p:sldId id="344" r:id="rId28"/>
    <p:sldId id="345" r:id="rId29"/>
    <p:sldId id="356" r:id="rId30"/>
    <p:sldId id="346" r:id="rId31"/>
    <p:sldId id="349" r:id="rId32"/>
    <p:sldId id="271" r:id="rId33"/>
    <p:sldId id="272" r:id="rId34"/>
    <p:sldId id="273" r:id="rId35"/>
    <p:sldId id="322" r:id="rId36"/>
    <p:sldId id="274" r:id="rId37"/>
    <p:sldId id="350" r:id="rId38"/>
    <p:sldId id="312" r:id="rId39"/>
    <p:sldId id="314" r:id="rId40"/>
    <p:sldId id="321" r:id="rId41"/>
    <p:sldId id="304" r:id="rId42"/>
    <p:sldId id="305" r:id="rId43"/>
    <p:sldId id="311" r:id="rId44"/>
    <p:sldId id="319" r:id="rId45"/>
  </p:sldIdLst>
  <p:sldSz cx="9144000" cy="6858000" type="screen4x3"/>
  <p:notesSz cx="7010400" cy="92964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3399"/>
    <a:srgbClr val="0033CC"/>
    <a:srgbClr val="33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05A1EF-4978-4472-8665-780B0A807A02}" v="3" dt="2026-04-26T03:49:51.1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60" autoAdjust="0"/>
    <p:restoredTop sz="91000" autoAdjust="0"/>
  </p:normalViewPr>
  <p:slideViewPr>
    <p:cSldViewPr>
      <p:cViewPr varScale="1">
        <p:scale>
          <a:sx n="56" d="100"/>
          <a:sy n="56" d="100"/>
        </p:scale>
        <p:origin x="1500" y="2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1256"/>
    </p:cViewPr>
  </p:sorterViewPr>
  <p:notesViewPr>
    <p:cSldViewPr>
      <p:cViewPr>
        <p:scale>
          <a:sx n="55" d="100"/>
          <a:sy n="55" d="100"/>
        </p:scale>
        <p:origin x="1704" y="9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bastian Family" userId="239b08a12419b333" providerId="LiveId" clId="{BC9226FD-542E-4F23-A6B0-432EEAD6C328}"/>
    <pc:docChg chg="addSld delSld modSld">
      <pc:chgData name="Sebastian Family" userId="239b08a12419b333" providerId="LiveId" clId="{BC9226FD-542E-4F23-A6B0-432EEAD6C328}" dt="2026-04-26T03:50:11.609" v="42" actId="47"/>
      <pc:docMkLst>
        <pc:docMk/>
      </pc:docMkLst>
      <pc:sldChg chg="delSp modSp del mod">
        <pc:chgData name="Sebastian Family" userId="239b08a12419b333" providerId="LiveId" clId="{BC9226FD-542E-4F23-A6B0-432EEAD6C328}" dt="2026-04-26T03:50:11.609" v="42" actId="47"/>
        <pc:sldMkLst>
          <pc:docMk/>
          <pc:sldMk cId="0" sldId="318"/>
        </pc:sldMkLst>
        <pc:spChg chg="del mod">
          <ac:chgData name="Sebastian Family" userId="239b08a12419b333" providerId="LiveId" clId="{BC9226FD-542E-4F23-A6B0-432EEAD6C328}" dt="2026-04-26T03:49:09.131" v="3"/>
          <ac:spMkLst>
            <pc:docMk/>
            <pc:sldMk cId="0" sldId="318"/>
            <ac:spMk id="4100" creationId="{AB0EB526-0A4C-D96F-2882-5302E1CE1BE9}"/>
          </ac:spMkLst>
        </pc:spChg>
        <pc:spChg chg="del mod">
          <ac:chgData name="Sebastian Family" userId="239b08a12419b333" providerId="LiveId" clId="{BC9226FD-542E-4F23-A6B0-432EEAD6C328}" dt="2026-04-26T03:49:49.004" v="9"/>
          <ac:spMkLst>
            <pc:docMk/>
            <pc:sldMk cId="0" sldId="318"/>
            <ac:spMk id="4101" creationId="{E2BA284B-91B6-095C-6D5C-2AF31FCFB108}"/>
          </ac:spMkLst>
        </pc:spChg>
        <pc:picChg chg="del">
          <ac:chgData name="Sebastian Family" userId="239b08a12419b333" providerId="LiveId" clId="{BC9226FD-542E-4F23-A6B0-432EEAD6C328}" dt="2026-04-26T03:49:09.115" v="1" actId="478"/>
          <ac:picMkLst>
            <pc:docMk/>
            <pc:sldMk cId="0" sldId="318"/>
            <ac:picMk id="4098" creationId="{E0BFC0AB-2C7A-DB39-7934-93BF7E9A4E45}"/>
          </ac:picMkLst>
        </pc:picChg>
      </pc:sldChg>
      <pc:sldChg chg="modSp new mod">
        <pc:chgData name="Sebastian Family" userId="239b08a12419b333" providerId="LiveId" clId="{BC9226FD-542E-4F23-A6B0-432EEAD6C328}" dt="2026-04-26T03:50:08.917" v="41" actId="121"/>
        <pc:sldMkLst>
          <pc:docMk/>
          <pc:sldMk cId="3145458637" sldId="540"/>
        </pc:sldMkLst>
        <pc:spChg chg="mod">
          <ac:chgData name="Sebastian Family" userId="239b08a12419b333" providerId="LiveId" clId="{BC9226FD-542E-4F23-A6B0-432EEAD6C328}" dt="2026-04-26T03:49:52.751" v="11" actId="20577"/>
          <ac:spMkLst>
            <pc:docMk/>
            <pc:sldMk cId="3145458637" sldId="540"/>
            <ac:spMk id="2" creationId="{76776521-22BE-6D78-130C-B326FC85273C}"/>
          </ac:spMkLst>
        </pc:spChg>
        <pc:spChg chg="mod">
          <ac:chgData name="Sebastian Family" userId="239b08a12419b333" providerId="LiveId" clId="{BC9226FD-542E-4F23-A6B0-432EEAD6C328}" dt="2026-04-26T03:50:08.917" v="41" actId="121"/>
          <ac:spMkLst>
            <pc:docMk/>
            <pc:sldMk cId="3145458637" sldId="540"/>
            <ac:spMk id="3" creationId="{C7078100-FC6F-ED79-F1B0-7755A8E1C30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154CB87-9F3F-217B-7479-5B3141D59C34}"/>
              </a:ext>
            </a:extLst>
          </p:cNvPr>
          <p:cNvSpPr>
            <a:spLocks noGrp="1"/>
          </p:cNvSpPr>
          <p:nvPr>
            <p:ph type="hdr" sz="quarter"/>
          </p:nvPr>
        </p:nvSpPr>
        <p:spPr>
          <a:xfrm>
            <a:off x="0" y="0"/>
            <a:ext cx="3038475" cy="465138"/>
          </a:xfrm>
          <a:prstGeom prst="rect">
            <a:avLst/>
          </a:prstGeom>
        </p:spPr>
        <p:txBody>
          <a:bodyPr vert="horz" lIns="91440" tIns="45720" rIns="91440" bIns="45720" rtlCol="0"/>
          <a:lstStyle>
            <a:lvl1pPr algn="l" eaLnBrk="1" hangingPunct="1">
              <a:defRPr sz="1200"/>
            </a:lvl1pPr>
          </a:lstStyle>
          <a:p>
            <a:pPr>
              <a:defRPr/>
            </a:pPr>
            <a:endParaRPr lang="en-US"/>
          </a:p>
        </p:txBody>
      </p:sp>
      <p:sp>
        <p:nvSpPr>
          <p:cNvPr id="3" name="Date Placeholder 2">
            <a:extLst>
              <a:ext uri="{FF2B5EF4-FFF2-40B4-BE49-F238E27FC236}">
                <a16:creationId xmlns:a16="http://schemas.microsoft.com/office/drawing/2014/main" id="{02AD69C4-54AB-7A3D-F59E-78B2DC036895}"/>
              </a:ext>
            </a:extLst>
          </p:cNvPr>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eaLnBrk="1" hangingPunct="1">
              <a:defRPr sz="1200"/>
            </a:lvl1pPr>
          </a:lstStyle>
          <a:p>
            <a:pPr>
              <a:defRPr/>
            </a:pPr>
            <a:fld id="{A2E5C620-F577-4F00-9E53-458166F4FC4E}" type="datetimeFigureOut">
              <a:rPr lang="en-US"/>
              <a:pPr>
                <a:defRPr/>
              </a:pPr>
              <a:t>4/25/2026</a:t>
            </a:fld>
            <a:endParaRPr lang="en-US"/>
          </a:p>
        </p:txBody>
      </p:sp>
      <p:sp>
        <p:nvSpPr>
          <p:cNvPr id="4" name="Footer Placeholder 3">
            <a:extLst>
              <a:ext uri="{FF2B5EF4-FFF2-40B4-BE49-F238E27FC236}">
                <a16:creationId xmlns:a16="http://schemas.microsoft.com/office/drawing/2014/main" id="{42911644-C854-8066-A3D4-BFF017C67199}"/>
              </a:ext>
            </a:extLst>
          </p:cNvPr>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eaLnBrk="1" hangingPunct="1">
              <a:defRPr sz="1200"/>
            </a:lvl1pPr>
          </a:lstStyle>
          <a:p>
            <a:pPr>
              <a:defRPr/>
            </a:pPr>
            <a:endParaRPr lang="en-US"/>
          </a:p>
        </p:txBody>
      </p:sp>
      <p:sp>
        <p:nvSpPr>
          <p:cNvPr id="5" name="Slide Number Placeholder 4">
            <a:extLst>
              <a:ext uri="{FF2B5EF4-FFF2-40B4-BE49-F238E27FC236}">
                <a16:creationId xmlns:a16="http://schemas.microsoft.com/office/drawing/2014/main" id="{06D5A1AD-B762-93A0-822E-E00AC64FD80B}"/>
              </a:ext>
            </a:extLst>
          </p:cNvPr>
          <p:cNvSpPr>
            <a:spLocks noGrp="1"/>
          </p:cNvSpPr>
          <p:nvPr>
            <p:ph type="sldNum" sz="quarter" idx="3"/>
          </p:nvPr>
        </p:nvSpPr>
        <p:spPr>
          <a:xfrm>
            <a:off x="3970338" y="8829675"/>
            <a:ext cx="3038475" cy="465138"/>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99856E68-63AA-4644-AEDD-46A353550FDD}"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5F27AFDC-47AB-B82C-36D2-D5B3097FAB92}"/>
              </a:ext>
            </a:extLst>
          </p:cNvPr>
          <p:cNvSpPr>
            <a:spLocks noGrp="1" noChangeArrowheads="1"/>
          </p:cNvSpPr>
          <p:nvPr>
            <p:ph type="hdr" sz="quarter"/>
          </p:nvPr>
        </p:nvSpPr>
        <p:spPr bwMode="auto">
          <a:xfrm>
            <a:off x="0" y="0"/>
            <a:ext cx="3038475"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eaLnBrk="1" hangingPunct="1">
              <a:defRPr sz="1200"/>
            </a:lvl1pPr>
          </a:lstStyle>
          <a:p>
            <a:pPr>
              <a:defRPr/>
            </a:pPr>
            <a:endParaRPr lang="en-US"/>
          </a:p>
        </p:txBody>
      </p:sp>
      <p:sp>
        <p:nvSpPr>
          <p:cNvPr id="67587" name="Rectangle 3">
            <a:extLst>
              <a:ext uri="{FF2B5EF4-FFF2-40B4-BE49-F238E27FC236}">
                <a16:creationId xmlns:a16="http://schemas.microsoft.com/office/drawing/2014/main" id="{19BFACEC-5F57-7FDE-8904-09FE5D5BF615}"/>
              </a:ext>
            </a:extLst>
          </p:cNvPr>
          <p:cNvSpPr>
            <a:spLocks noGrp="1" noChangeArrowheads="1"/>
          </p:cNvSpPr>
          <p:nvPr>
            <p:ph type="dt" idx="1"/>
          </p:nvPr>
        </p:nvSpPr>
        <p:spPr bwMode="auto">
          <a:xfrm>
            <a:off x="3971925" y="0"/>
            <a:ext cx="3038475"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eaLnBrk="1" hangingPunct="1">
              <a:defRPr sz="1200"/>
            </a:lvl1pPr>
          </a:lstStyle>
          <a:p>
            <a:pPr>
              <a:defRPr/>
            </a:pPr>
            <a:endParaRPr lang="en-US"/>
          </a:p>
        </p:txBody>
      </p:sp>
      <p:sp>
        <p:nvSpPr>
          <p:cNvPr id="2052" name="Rectangle 4">
            <a:extLst>
              <a:ext uri="{FF2B5EF4-FFF2-40B4-BE49-F238E27FC236}">
                <a16:creationId xmlns:a16="http://schemas.microsoft.com/office/drawing/2014/main" id="{31DA73C4-0DDF-1855-4378-27766171378F}"/>
              </a:ext>
            </a:extLst>
          </p:cNvPr>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9" name="Rectangle 5">
            <a:extLst>
              <a:ext uri="{FF2B5EF4-FFF2-40B4-BE49-F238E27FC236}">
                <a16:creationId xmlns:a16="http://schemas.microsoft.com/office/drawing/2014/main" id="{D3A3C1B9-6625-D91C-F73F-F019776F5046}"/>
              </a:ext>
            </a:extLst>
          </p:cNvPr>
          <p:cNvSpPr>
            <a:spLocks noGrp="1" noChangeArrowheads="1"/>
          </p:cNvSpPr>
          <p:nvPr>
            <p:ph type="body" sz="quarter" idx="3"/>
          </p:nvPr>
        </p:nvSpPr>
        <p:spPr bwMode="auto">
          <a:xfrm>
            <a:off x="935038" y="4416425"/>
            <a:ext cx="5140325" cy="4183063"/>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7590" name="Rectangle 6">
            <a:extLst>
              <a:ext uri="{FF2B5EF4-FFF2-40B4-BE49-F238E27FC236}">
                <a16:creationId xmlns:a16="http://schemas.microsoft.com/office/drawing/2014/main" id="{857FE358-EF93-70BB-0181-49D6D068D2C0}"/>
              </a:ext>
            </a:extLst>
          </p:cNvPr>
          <p:cNvSpPr>
            <a:spLocks noGrp="1" noChangeArrowheads="1"/>
          </p:cNvSpPr>
          <p:nvPr>
            <p:ph type="ftr" sz="quarter" idx="4"/>
          </p:nvPr>
        </p:nvSpPr>
        <p:spPr bwMode="auto">
          <a:xfrm>
            <a:off x="0" y="8831263"/>
            <a:ext cx="3038475"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eaLnBrk="1" hangingPunct="1">
              <a:defRPr sz="1200"/>
            </a:lvl1pPr>
          </a:lstStyle>
          <a:p>
            <a:pPr>
              <a:defRPr/>
            </a:pPr>
            <a:endParaRPr lang="en-US"/>
          </a:p>
        </p:txBody>
      </p:sp>
      <p:sp>
        <p:nvSpPr>
          <p:cNvPr id="67591" name="Rectangle 7">
            <a:extLst>
              <a:ext uri="{FF2B5EF4-FFF2-40B4-BE49-F238E27FC236}">
                <a16:creationId xmlns:a16="http://schemas.microsoft.com/office/drawing/2014/main" id="{BB5280BC-A5AE-D66A-8022-80DF238B1632}"/>
              </a:ext>
            </a:extLst>
          </p:cNvPr>
          <p:cNvSpPr>
            <a:spLocks noGrp="1" noChangeArrowheads="1"/>
          </p:cNvSpPr>
          <p:nvPr>
            <p:ph type="sldNum" sz="quarter" idx="5"/>
          </p:nvPr>
        </p:nvSpPr>
        <p:spPr bwMode="auto">
          <a:xfrm>
            <a:off x="3971925" y="8831263"/>
            <a:ext cx="3038475"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eaLnBrk="1" hangingPunct="1">
              <a:defRPr sz="1200" smtClean="0"/>
            </a:lvl1pPr>
          </a:lstStyle>
          <a:p>
            <a:pPr>
              <a:defRPr/>
            </a:pPr>
            <a:fld id="{349B017A-069B-4CD8-A6C8-9EB74A59FC70}"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a:extLst>
              <a:ext uri="{FF2B5EF4-FFF2-40B4-BE49-F238E27FC236}">
                <a16:creationId xmlns:a16="http://schemas.microsoft.com/office/drawing/2014/main" id="{669BCBE2-4A43-FC8C-B00B-A5E33B71B1E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a:extLst>
              <a:ext uri="{FF2B5EF4-FFF2-40B4-BE49-F238E27FC236}">
                <a16:creationId xmlns:a16="http://schemas.microsoft.com/office/drawing/2014/main" id="{97848A45-1648-79C5-A068-861321D2003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29700" name="Slide Number Placeholder 3">
            <a:extLst>
              <a:ext uri="{FF2B5EF4-FFF2-40B4-BE49-F238E27FC236}">
                <a16:creationId xmlns:a16="http://schemas.microsoft.com/office/drawing/2014/main" id="{58B6FCC1-5CDA-998E-6D1F-760F71451C3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325FC57-C2A6-4EFE-9225-7FFFC44A2D9B}" type="slidenum">
              <a:rPr lang="en-US" altLang="en-US" sz="1200"/>
              <a:pPr/>
              <a:t>5</a:t>
            </a:fld>
            <a:endParaRPr lang="en-US" altLang="en-US" sz="1200"/>
          </a:p>
        </p:txBody>
      </p:sp>
    </p:spTree>
    <p:extLst>
      <p:ext uri="{BB962C8B-B14F-4D97-AF65-F5344CB8AC3E}">
        <p14:creationId xmlns:p14="http://schemas.microsoft.com/office/powerpoint/2010/main" val="25806987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19CD1BFC-CC56-1460-3036-8E9A6A92661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a:extLst>
              <a:ext uri="{FF2B5EF4-FFF2-40B4-BE49-F238E27FC236}">
                <a16:creationId xmlns:a16="http://schemas.microsoft.com/office/drawing/2014/main" id="{D0D1044B-6CA0-21EA-7DAB-435AE1E59E5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2772" name="Slide Number Placeholder 3">
            <a:extLst>
              <a:ext uri="{FF2B5EF4-FFF2-40B4-BE49-F238E27FC236}">
                <a16:creationId xmlns:a16="http://schemas.microsoft.com/office/drawing/2014/main" id="{32575BE9-0CE2-F837-5CE7-EAD1262DEB3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534E3263-0E4D-4D65-AC8A-2ED33D08EF45}" type="slidenum">
              <a:rPr lang="en-US" altLang="en-US" sz="1200"/>
              <a:pPr/>
              <a:t>7</a:t>
            </a:fld>
            <a:endParaRPr lang="en-US" altLang="en-US" sz="1200"/>
          </a:p>
        </p:txBody>
      </p:sp>
    </p:spTree>
    <p:extLst>
      <p:ext uri="{BB962C8B-B14F-4D97-AF65-F5344CB8AC3E}">
        <p14:creationId xmlns:p14="http://schemas.microsoft.com/office/powerpoint/2010/main" val="10462517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F3164614-551A-B0DD-09CE-B65064C7E826}"/>
              </a:ext>
            </a:extLst>
          </p:cNvPr>
          <p:cNvSpPr>
            <a:spLocks noGrp="1" noRot="1" noChangeAspect="1" noChangeArrowheads="1" noTextEdit="1"/>
          </p:cNvSpPr>
          <p:nvPr>
            <p:ph type="sldImg"/>
          </p:nvPr>
        </p:nvSpPr>
        <p:spPr>
          <a:ln/>
        </p:spPr>
      </p:sp>
      <p:sp>
        <p:nvSpPr>
          <p:cNvPr id="9219" name="Notes Placeholder 2">
            <a:extLst>
              <a:ext uri="{FF2B5EF4-FFF2-40B4-BE49-F238E27FC236}">
                <a16:creationId xmlns:a16="http://schemas.microsoft.com/office/drawing/2014/main" id="{0C1B2344-8D5A-78D5-D981-B6D5997FF84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dirty="0"/>
          </a:p>
        </p:txBody>
      </p:sp>
      <p:sp>
        <p:nvSpPr>
          <p:cNvPr id="9220" name="Slide Number Placeholder 3">
            <a:extLst>
              <a:ext uri="{FF2B5EF4-FFF2-40B4-BE49-F238E27FC236}">
                <a16:creationId xmlns:a16="http://schemas.microsoft.com/office/drawing/2014/main" id="{937993B6-2E58-977B-FB0A-628DD3F568B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55650" indent="-290513">
              <a:defRPr sz="2400">
                <a:solidFill>
                  <a:schemeClr val="tx1"/>
                </a:solidFill>
                <a:latin typeface="Times New Roman" panose="02020603050405020304" pitchFamily="18" charset="0"/>
              </a:defRPr>
            </a:lvl2pPr>
            <a:lvl3pPr marL="1163638" indent="-231775">
              <a:defRPr sz="2400">
                <a:solidFill>
                  <a:schemeClr val="tx1"/>
                </a:solidFill>
                <a:latin typeface="Times New Roman" panose="02020603050405020304" pitchFamily="18" charset="0"/>
              </a:defRPr>
            </a:lvl3pPr>
            <a:lvl4pPr marL="1630363" indent="-231775">
              <a:defRPr sz="2400">
                <a:solidFill>
                  <a:schemeClr val="tx1"/>
                </a:solidFill>
                <a:latin typeface="Times New Roman" panose="02020603050405020304" pitchFamily="18" charset="0"/>
              </a:defRPr>
            </a:lvl4pPr>
            <a:lvl5pPr marL="2095500" indent="-231775">
              <a:defRPr sz="2400">
                <a:solidFill>
                  <a:schemeClr val="tx1"/>
                </a:solidFill>
                <a:latin typeface="Times New Roman" panose="02020603050405020304" pitchFamily="18" charset="0"/>
              </a:defRPr>
            </a:lvl5pPr>
            <a:lvl6pPr marL="2552700" indent="-231775" eaLnBrk="0" fontAlgn="base" hangingPunct="0">
              <a:spcBef>
                <a:spcPct val="0"/>
              </a:spcBef>
              <a:spcAft>
                <a:spcPct val="0"/>
              </a:spcAft>
              <a:defRPr sz="2400">
                <a:solidFill>
                  <a:schemeClr val="tx1"/>
                </a:solidFill>
                <a:latin typeface="Times New Roman" panose="02020603050405020304" pitchFamily="18" charset="0"/>
              </a:defRPr>
            </a:lvl6pPr>
            <a:lvl7pPr marL="3009900" indent="-231775" eaLnBrk="0" fontAlgn="base" hangingPunct="0">
              <a:spcBef>
                <a:spcPct val="0"/>
              </a:spcBef>
              <a:spcAft>
                <a:spcPct val="0"/>
              </a:spcAft>
              <a:defRPr sz="2400">
                <a:solidFill>
                  <a:schemeClr val="tx1"/>
                </a:solidFill>
                <a:latin typeface="Times New Roman" panose="02020603050405020304" pitchFamily="18" charset="0"/>
              </a:defRPr>
            </a:lvl7pPr>
            <a:lvl8pPr marL="3467100" indent="-231775" eaLnBrk="0" fontAlgn="base" hangingPunct="0">
              <a:spcBef>
                <a:spcPct val="0"/>
              </a:spcBef>
              <a:spcAft>
                <a:spcPct val="0"/>
              </a:spcAft>
              <a:defRPr sz="2400">
                <a:solidFill>
                  <a:schemeClr val="tx1"/>
                </a:solidFill>
                <a:latin typeface="Times New Roman" panose="02020603050405020304" pitchFamily="18" charset="0"/>
              </a:defRPr>
            </a:lvl8pPr>
            <a:lvl9pPr marL="3924300" indent="-231775" eaLnBrk="0" fontAlgn="base" hangingPunct="0">
              <a:spcBef>
                <a:spcPct val="0"/>
              </a:spcBef>
              <a:spcAft>
                <a:spcPct val="0"/>
              </a:spcAft>
              <a:defRPr sz="2400">
                <a:solidFill>
                  <a:schemeClr val="tx1"/>
                </a:solidFill>
                <a:latin typeface="Times New Roman" panose="02020603050405020304" pitchFamily="18" charset="0"/>
              </a:defRPr>
            </a:lvl9pPr>
          </a:lstStyle>
          <a:p>
            <a:fld id="{BF235DD1-AC12-4449-A798-760AD3F98467}" type="slidenum">
              <a:rPr lang="en-US" altLang="en-US" sz="1200"/>
              <a:pPr/>
              <a:t>16</a:t>
            </a:fld>
            <a:endParaRPr lang="en-US" altLang="en-US" sz="1200"/>
          </a:p>
        </p:txBody>
      </p:sp>
    </p:spTree>
    <p:extLst>
      <p:ext uri="{BB962C8B-B14F-4D97-AF65-F5344CB8AC3E}">
        <p14:creationId xmlns:p14="http://schemas.microsoft.com/office/powerpoint/2010/main" val="28961119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6AE5C8-AA80-476F-BAC0-30F6D3810B75}" type="slidenum">
              <a:rPr lang="en-US" smtClean="0"/>
              <a:t>17</a:t>
            </a:fld>
            <a:endParaRPr lang="en-US"/>
          </a:p>
        </p:txBody>
      </p:sp>
    </p:spTree>
    <p:extLst>
      <p:ext uri="{BB962C8B-B14F-4D97-AF65-F5344CB8AC3E}">
        <p14:creationId xmlns:p14="http://schemas.microsoft.com/office/powerpoint/2010/main" val="41146946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6AE5C8-AA80-476F-BAC0-30F6D3810B75}" type="slidenum">
              <a:rPr lang="en-US" smtClean="0"/>
              <a:t>18</a:t>
            </a:fld>
            <a:endParaRPr lang="en-US"/>
          </a:p>
        </p:txBody>
      </p:sp>
    </p:spTree>
    <p:extLst>
      <p:ext uri="{BB962C8B-B14F-4D97-AF65-F5344CB8AC3E}">
        <p14:creationId xmlns:p14="http://schemas.microsoft.com/office/powerpoint/2010/main" val="6039333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6AE5C8-AA80-476F-BAC0-30F6D3810B75}" type="slidenum">
              <a:rPr lang="en-US" smtClean="0"/>
              <a:t>19</a:t>
            </a:fld>
            <a:endParaRPr lang="en-US"/>
          </a:p>
        </p:txBody>
      </p:sp>
    </p:spTree>
    <p:extLst>
      <p:ext uri="{BB962C8B-B14F-4D97-AF65-F5344CB8AC3E}">
        <p14:creationId xmlns:p14="http://schemas.microsoft.com/office/powerpoint/2010/main" val="14504397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6AE5C8-AA80-476F-BAC0-30F6D3810B75}" type="slidenum">
              <a:rPr lang="en-US" smtClean="0"/>
              <a:t>21</a:t>
            </a:fld>
            <a:endParaRPr lang="en-US"/>
          </a:p>
        </p:txBody>
      </p:sp>
    </p:spTree>
    <p:extLst>
      <p:ext uri="{BB962C8B-B14F-4D97-AF65-F5344CB8AC3E}">
        <p14:creationId xmlns:p14="http://schemas.microsoft.com/office/powerpoint/2010/main" val="37454386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6AE5C8-AA80-476F-BAC0-30F6D3810B75}" type="slidenum">
              <a:rPr lang="en-US" smtClean="0"/>
              <a:t>22</a:t>
            </a:fld>
            <a:endParaRPr lang="en-US"/>
          </a:p>
        </p:txBody>
      </p:sp>
    </p:spTree>
    <p:extLst>
      <p:ext uri="{BB962C8B-B14F-4D97-AF65-F5344CB8AC3E}">
        <p14:creationId xmlns:p14="http://schemas.microsoft.com/office/powerpoint/2010/main" val="39472492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a:extLst>
              <a:ext uri="{FF2B5EF4-FFF2-40B4-BE49-F238E27FC236}">
                <a16:creationId xmlns:a16="http://schemas.microsoft.com/office/drawing/2014/main" id="{9A66C340-C9FA-5104-F1BD-020D32FCA286}"/>
              </a:ext>
            </a:extLst>
          </p:cNvPr>
          <p:cNvSpPr>
            <a:spLocks noGrp="1" noRot="1" noChangeAspect="1" noChangeArrowheads="1" noTextEdit="1"/>
          </p:cNvSpPr>
          <p:nvPr>
            <p:ph type="sldImg"/>
          </p:nvPr>
        </p:nvSpPr>
        <p:spPr>
          <a:ln/>
        </p:spPr>
      </p:sp>
      <p:sp>
        <p:nvSpPr>
          <p:cNvPr id="13315" name="Notes Placeholder 2">
            <a:extLst>
              <a:ext uri="{FF2B5EF4-FFF2-40B4-BE49-F238E27FC236}">
                <a16:creationId xmlns:a16="http://schemas.microsoft.com/office/drawing/2014/main" id="{15F9CA4F-CBD4-8DA4-7360-A089A3CCD90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BEPS is base erosion and profit shifting. This started with multinationals but has been adopted by domestic companies as well.</a:t>
            </a:r>
          </a:p>
        </p:txBody>
      </p:sp>
      <p:sp>
        <p:nvSpPr>
          <p:cNvPr id="13316" name="Slide Number Placeholder 3">
            <a:extLst>
              <a:ext uri="{FF2B5EF4-FFF2-40B4-BE49-F238E27FC236}">
                <a16:creationId xmlns:a16="http://schemas.microsoft.com/office/drawing/2014/main" id="{47DB68C8-48FB-6169-1F01-694C436ABEA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AA06CAE7-414E-4368-B659-A1DD2DEB440A}" type="slidenum">
              <a:rPr lang="en-US" altLang="en-US" sz="1200"/>
              <a:pPr/>
              <a:t>28</a:t>
            </a:fld>
            <a:endParaRPr lang="en-US" alt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795B03BD-5195-3CFB-392B-AAEC356F71E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1C88658-23B9-4046-BC06-F16A5BFDAE0A}" type="slidenum">
              <a:rPr lang="en-US" altLang="en-US"/>
              <a:pPr>
                <a:spcBef>
                  <a:spcPct val="0"/>
                </a:spcBef>
              </a:pPr>
              <a:t>43</a:t>
            </a:fld>
            <a:endParaRPr lang="en-US" altLang="en-US"/>
          </a:p>
        </p:txBody>
      </p:sp>
      <p:sp>
        <p:nvSpPr>
          <p:cNvPr id="30723" name="Rectangle 2">
            <a:extLst>
              <a:ext uri="{FF2B5EF4-FFF2-40B4-BE49-F238E27FC236}">
                <a16:creationId xmlns:a16="http://schemas.microsoft.com/office/drawing/2014/main" id="{EF115BA0-F810-9B75-80D4-6BF48CE9FF26}"/>
              </a:ext>
            </a:extLst>
          </p:cNvPr>
          <p:cNvSpPr>
            <a:spLocks noGrp="1" noRot="1" noChangeAspect="1" noChangeArrowheads="1" noTextEdit="1"/>
          </p:cNvSpPr>
          <p:nvPr>
            <p:ph type="sldImg"/>
          </p:nvPr>
        </p:nvSpPr>
        <p:spPr>
          <a:solidFill>
            <a:srgbClr val="FFFFFF"/>
          </a:solidFill>
          <a:ln/>
        </p:spPr>
      </p:sp>
      <p:sp>
        <p:nvSpPr>
          <p:cNvPr id="30724" name="Rectangle 3">
            <a:extLst>
              <a:ext uri="{FF2B5EF4-FFF2-40B4-BE49-F238E27FC236}">
                <a16:creationId xmlns:a16="http://schemas.microsoft.com/office/drawing/2014/main" id="{12F0085E-C4C6-D49B-40D6-B2FA00786959}"/>
              </a:ext>
            </a:extLst>
          </p:cNvPr>
          <p:cNvSpPr>
            <a:spLocks noGrp="1" noChangeArrowheads="1"/>
          </p:cNvSpPr>
          <p:nvPr>
            <p:ph type="body" idx="1"/>
          </p:nvPr>
        </p:nvSpPr>
        <p:spPr>
          <a:xfrm>
            <a:off x="701675" y="4416425"/>
            <a:ext cx="5997575" cy="4183063"/>
          </a:xfrm>
          <a:solidFill>
            <a:srgbClr val="FFFFFF"/>
          </a:solidFill>
          <a:ln>
            <a:solidFill>
              <a:srgbClr val="000000"/>
            </a:solidFill>
          </a:ln>
        </p:spPr>
        <p:txBody>
          <a:bodyPr/>
          <a:lstStyle/>
          <a:p>
            <a:pPr eaLnBrk="1" hangingPunct="1"/>
            <a:endParaRPr lang="en-US" altLang="en-US" sz="18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5162B650-D6B2-85A2-8B42-B042C8650B2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98342402-6578-F321-A399-87BD3FC9691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114C1ABA-F2CC-9025-195F-BD9D3F57B20E}"/>
              </a:ext>
            </a:extLst>
          </p:cNvPr>
          <p:cNvSpPr>
            <a:spLocks noGrp="1" noChangeArrowheads="1"/>
          </p:cNvSpPr>
          <p:nvPr>
            <p:ph type="sldNum" sz="quarter" idx="12"/>
          </p:nvPr>
        </p:nvSpPr>
        <p:spPr>
          <a:ln/>
        </p:spPr>
        <p:txBody>
          <a:bodyPr/>
          <a:lstStyle>
            <a:lvl1pPr>
              <a:defRPr/>
            </a:lvl1pPr>
          </a:lstStyle>
          <a:p>
            <a:pPr>
              <a:defRPr/>
            </a:pPr>
            <a:fld id="{14F5894A-1D2F-426E-9973-E82F6DFCF4D6}" type="slidenum">
              <a:rPr lang="en-US" altLang="en-US"/>
              <a:pPr>
                <a:defRPr/>
              </a:pPr>
              <a:t>‹#›</a:t>
            </a:fld>
            <a:endParaRPr lang="en-US" altLang="en-US"/>
          </a:p>
        </p:txBody>
      </p:sp>
    </p:spTree>
    <p:extLst>
      <p:ext uri="{BB962C8B-B14F-4D97-AF65-F5344CB8AC3E}">
        <p14:creationId xmlns:p14="http://schemas.microsoft.com/office/powerpoint/2010/main" val="495577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5A09568B-74B0-D550-6202-E329444776D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25C3BB07-D995-0E3C-4FCA-6DF885591D2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AE070E43-16C2-F205-BD62-63A3195C13FC}"/>
              </a:ext>
            </a:extLst>
          </p:cNvPr>
          <p:cNvSpPr>
            <a:spLocks noGrp="1" noChangeArrowheads="1"/>
          </p:cNvSpPr>
          <p:nvPr>
            <p:ph type="sldNum" sz="quarter" idx="12"/>
          </p:nvPr>
        </p:nvSpPr>
        <p:spPr>
          <a:ln/>
        </p:spPr>
        <p:txBody>
          <a:bodyPr/>
          <a:lstStyle>
            <a:lvl1pPr>
              <a:defRPr/>
            </a:lvl1pPr>
          </a:lstStyle>
          <a:p>
            <a:pPr>
              <a:defRPr/>
            </a:pPr>
            <a:fld id="{441B0FA5-E0B2-40B6-9882-0686A43D2D41}" type="slidenum">
              <a:rPr lang="en-US" altLang="en-US"/>
              <a:pPr>
                <a:defRPr/>
              </a:pPr>
              <a:t>‹#›</a:t>
            </a:fld>
            <a:endParaRPr lang="en-US" altLang="en-US"/>
          </a:p>
        </p:txBody>
      </p:sp>
    </p:spTree>
    <p:extLst>
      <p:ext uri="{BB962C8B-B14F-4D97-AF65-F5344CB8AC3E}">
        <p14:creationId xmlns:p14="http://schemas.microsoft.com/office/powerpoint/2010/main" val="34244851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3A8EDA9D-4921-6D6F-1AF9-69037062B37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DF86222-A9E4-B8D2-FCEB-7C3955BE8ED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571F7C4A-6C56-66B2-A58D-C50EBF68496D}"/>
              </a:ext>
            </a:extLst>
          </p:cNvPr>
          <p:cNvSpPr>
            <a:spLocks noGrp="1" noChangeArrowheads="1"/>
          </p:cNvSpPr>
          <p:nvPr>
            <p:ph type="sldNum" sz="quarter" idx="12"/>
          </p:nvPr>
        </p:nvSpPr>
        <p:spPr>
          <a:ln/>
        </p:spPr>
        <p:txBody>
          <a:bodyPr/>
          <a:lstStyle>
            <a:lvl1pPr>
              <a:defRPr/>
            </a:lvl1pPr>
          </a:lstStyle>
          <a:p>
            <a:pPr>
              <a:defRPr/>
            </a:pPr>
            <a:fld id="{7FA82CF7-B028-427D-8593-119ABB9C12E0}" type="slidenum">
              <a:rPr lang="en-US" altLang="en-US"/>
              <a:pPr>
                <a:defRPr/>
              </a:pPr>
              <a:t>‹#›</a:t>
            </a:fld>
            <a:endParaRPr lang="en-US" altLang="en-US"/>
          </a:p>
        </p:txBody>
      </p:sp>
    </p:spTree>
    <p:extLst>
      <p:ext uri="{BB962C8B-B14F-4D97-AF65-F5344CB8AC3E}">
        <p14:creationId xmlns:p14="http://schemas.microsoft.com/office/powerpoint/2010/main" val="733889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F6529A9C-9B2F-3075-0134-4F832C246F0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5E6D856C-7E92-981F-DBE8-1B356E8480F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5CDA70CA-B200-D6C7-F86A-33CA85727A81}"/>
              </a:ext>
            </a:extLst>
          </p:cNvPr>
          <p:cNvSpPr>
            <a:spLocks noGrp="1" noChangeArrowheads="1"/>
          </p:cNvSpPr>
          <p:nvPr>
            <p:ph type="sldNum" sz="quarter" idx="12"/>
          </p:nvPr>
        </p:nvSpPr>
        <p:spPr>
          <a:ln/>
        </p:spPr>
        <p:txBody>
          <a:bodyPr/>
          <a:lstStyle>
            <a:lvl1pPr>
              <a:defRPr/>
            </a:lvl1pPr>
          </a:lstStyle>
          <a:p>
            <a:pPr>
              <a:defRPr/>
            </a:pPr>
            <a:fld id="{604723A9-6DA9-4AB8-AED8-E4F4AD920BA1}" type="slidenum">
              <a:rPr lang="en-US" altLang="en-US"/>
              <a:pPr>
                <a:defRPr/>
              </a:pPr>
              <a:t>‹#›</a:t>
            </a:fld>
            <a:endParaRPr lang="en-US" altLang="en-US"/>
          </a:p>
        </p:txBody>
      </p:sp>
    </p:spTree>
    <p:extLst>
      <p:ext uri="{BB962C8B-B14F-4D97-AF65-F5344CB8AC3E}">
        <p14:creationId xmlns:p14="http://schemas.microsoft.com/office/powerpoint/2010/main" val="666694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CD202C53-FAB7-49DE-43AE-15905BB23A73}"/>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E07CA62E-8FA2-E989-BCC6-187ECDF2653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DC5D8620-75D7-6461-E35E-9E401E6E4727}"/>
              </a:ext>
            </a:extLst>
          </p:cNvPr>
          <p:cNvSpPr>
            <a:spLocks noGrp="1" noChangeArrowheads="1"/>
          </p:cNvSpPr>
          <p:nvPr>
            <p:ph type="sldNum" sz="quarter" idx="12"/>
          </p:nvPr>
        </p:nvSpPr>
        <p:spPr>
          <a:ln/>
        </p:spPr>
        <p:txBody>
          <a:bodyPr/>
          <a:lstStyle>
            <a:lvl1pPr>
              <a:defRPr/>
            </a:lvl1pPr>
          </a:lstStyle>
          <a:p>
            <a:pPr>
              <a:defRPr/>
            </a:pPr>
            <a:fld id="{60B670C4-5EEF-4AC7-83B3-2DC794AB67A2}" type="slidenum">
              <a:rPr lang="en-US" altLang="en-US"/>
              <a:pPr>
                <a:defRPr/>
              </a:pPr>
              <a:t>‹#›</a:t>
            </a:fld>
            <a:endParaRPr lang="en-US" altLang="en-US"/>
          </a:p>
        </p:txBody>
      </p:sp>
    </p:spTree>
    <p:extLst>
      <p:ext uri="{BB962C8B-B14F-4D97-AF65-F5344CB8AC3E}">
        <p14:creationId xmlns:p14="http://schemas.microsoft.com/office/powerpoint/2010/main" val="2237542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C7A25F6B-A023-9663-99D1-F4CE64B1615C}"/>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B6B0FB44-CF5A-7451-A29D-F65B22D28A4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A2909B53-958C-4631-80BD-03182CB8A870}"/>
              </a:ext>
            </a:extLst>
          </p:cNvPr>
          <p:cNvSpPr>
            <a:spLocks noGrp="1" noChangeArrowheads="1"/>
          </p:cNvSpPr>
          <p:nvPr>
            <p:ph type="sldNum" sz="quarter" idx="12"/>
          </p:nvPr>
        </p:nvSpPr>
        <p:spPr>
          <a:ln/>
        </p:spPr>
        <p:txBody>
          <a:bodyPr/>
          <a:lstStyle>
            <a:lvl1pPr>
              <a:defRPr/>
            </a:lvl1pPr>
          </a:lstStyle>
          <a:p>
            <a:pPr>
              <a:defRPr/>
            </a:pPr>
            <a:fld id="{BF3705C9-1610-4261-AC49-4D7872CBD3A6}" type="slidenum">
              <a:rPr lang="en-US" altLang="en-US"/>
              <a:pPr>
                <a:defRPr/>
              </a:pPr>
              <a:t>‹#›</a:t>
            </a:fld>
            <a:endParaRPr lang="en-US" altLang="en-US"/>
          </a:p>
        </p:txBody>
      </p:sp>
    </p:spTree>
    <p:extLst>
      <p:ext uri="{BB962C8B-B14F-4D97-AF65-F5344CB8AC3E}">
        <p14:creationId xmlns:p14="http://schemas.microsoft.com/office/powerpoint/2010/main" val="14641696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1874D1DD-BC01-848C-6F31-124EFF775944}"/>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0A3FBE9D-55B6-A9D5-9665-DDC292DEB01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AC85B55D-25BD-F7DA-F59A-0343E33B70D6}"/>
              </a:ext>
            </a:extLst>
          </p:cNvPr>
          <p:cNvSpPr>
            <a:spLocks noGrp="1" noChangeArrowheads="1"/>
          </p:cNvSpPr>
          <p:nvPr>
            <p:ph type="sldNum" sz="quarter" idx="12"/>
          </p:nvPr>
        </p:nvSpPr>
        <p:spPr>
          <a:ln/>
        </p:spPr>
        <p:txBody>
          <a:bodyPr/>
          <a:lstStyle>
            <a:lvl1pPr>
              <a:defRPr/>
            </a:lvl1pPr>
          </a:lstStyle>
          <a:p>
            <a:pPr>
              <a:defRPr/>
            </a:pPr>
            <a:fld id="{E30AE953-12C7-45DB-A688-5EDEA11D7D31}" type="slidenum">
              <a:rPr lang="en-US" altLang="en-US"/>
              <a:pPr>
                <a:defRPr/>
              </a:pPr>
              <a:t>‹#›</a:t>
            </a:fld>
            <a:endParaRPr lang="en-US" altLang="en-US"/>
          </a:p>
        </p:txBody>
      </p:sp>
    </p:spTree>
    <p:extLst>
      <p:ext uri="{BB962C8B-B14F-4D97-AF65-F5344CB8AC3E}">
        <p14:creationId xmlns:p14="http://schemas.microsoft.com/office/powerpoint/2010/main" val="26389748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F546D2CA-535E-C4BE-02A9-707A2F61371C}"/>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36BD5AC9-69E8-E7FC-8500-1DCF983F782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8AA7682F-13A1-A48B-E910-E72BA1E75821}"/>
              </a:ext>
            </a:extLst>
          </p:cNvPr>
          <p:cNvSpPr>
            <a:spLocks noGrp="1" noChangeArrowheads="1"/>
          </p:cNvSpPr>
          <p:nvPr>
            <p:ph type="sldNum" sz="quarter" idx="12"/>
          </p:nvPr>
        </p:nvSpPr>
        <p:spPr>
          <a:ln/>
        </p:spPr>
        <p:txBody>
          <a:bodyPr/>
          <a:lstStyle>
            <a:lvl1pPr>
              <a:defRPr/>
            </a:lvl1pPr>
          </a:lstStyle>
          <a:p>
            <a:pPr>
              <a:defRPr/>
            </a:pPr>
            <a:fld id="{AE21218D-FFE2-4324-820A-01B156AD5BB3}" type="slidenum">
              <a:rPr lang="en-US" altLang="en-US"/>
              <a:pPr>
                <a:defRPr/>
              </a:pPr>
              <a:t>‹#›</a:t>
            </a:fld>
            <a:endParaRPr lang="en-US" altLang="en-US"/>
          </a:p>
        </p:txBody>
      </p:sp>
    </p:spTree>
    <p:extLst>
      <p:ext uri="{BB962C8B-B14F-4D97-AF65-F5344CB8AC3E}">
        <p14:creationId xmlns:p14="http://schemas.microsoft.com/office/powerpoint/2010/main" val="2350606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BD37E5DA-8D61-7141-FF8A-7F3CE4F1E336}"/>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C6C9DB03-C8E5-A802-2B0D-753E49DA7BD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C897E235-4231-6838-F69B-1EB3D8C32EC6}"/>
              </a:ext>
            </a:extLst>
          </p:cNvPr>
          <p:cNvSpPr>
            <a:spLocks noGrp="1" noChangeArrowheads="1"/>
          </p:cNvSpPr>
          <p:nvPr>
            <p:ph type="sldNum" sz="quarter" idx="12"/>
          </p:nvPr>
        </p:nvSpPr>
        <p:spPr>
          <a:ln/>
        </p:spPr>
        <p:txBody>
          <a:bodyPr/>
          <a:lstStyle>
            <a:lvl1pPr>
              <a:defRPr/>
            </a:lvl1pPr>
          </a:lstStyle>
          <a:p>
            <a:pPr>
              <a:defRPr/>
            </a:pPr>
            <a:fld id="{9BA5271B-B280-4B56-B47A-932E2BA7CF87}" type="slidenum">
              <a:rPr lang="en-US" altLang="en-US"/>
              <a:pPr>
                <a:defRPr/>
              </a:pPr>
              <a:t>‹#›</a:t>
            </a:fld>
            <a:endParaRPr lang="en-US" altLang="en-US"/>
          </a:p>
        </p:txBody>
      </p:sp>
    </p:spTree>
    <p:extLst>
      <p:ext uri="{BB962C8B-B14F-4D97-AF65-F5344CB8AC3E}">
        <p14:creationId xmlns:p14="http://schemas.microsoft.com/office/powerpoint/2010/main" val="2707702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9A946E52-7EFC-D7E1-19DE-FC4E52BE5E7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1C68CC92-4B4F-B6F6-2318-6375C01332F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D9D83FB8-ED39-12DC-0493-471ACD33ACA2}"/>
              </a:ext>
            </a:extLst>
          </p:cNvPr>
          <p:cNvSpPr>
            <a:spLocks noGrp="1" noChangeArrowheads="1"/>
          </p:cNvSpPr>
          <p:nvPr>
            <p:ph type="sldNum" sz="quarter" idx="12"/>
          </p:nvPr>
        </p:nvSpPr>
        <p:spPr>
          <a:ln/>
        </p:spPr>
        <p:txBody>
          <a:bodyPr/>
          <a:lstStyle>
            <a:lvl1pPr>
              <a:defRPr/>
            </a:lvl1pPr>
          </a:lstStyle>
          <a:p>
            <a:pPr>
              <a:defRPr/>
            </a:pPr>
            <a:fld id="{20BDD1BB-1505-43D7-8DE1-8B37A4125972}" type="slidenum">
              <a:rPr lang="en-US" altLang="en-US"/>
              <a:pPr>
                <a:defRPr/>
              </a:pPr>
              <a:t>‹#›</a:t>
            </a:fld>
            <a:endParaRPr lang="en-US" altLang="en-US"/>
          </a:p>
        </p:txBody>
      </p:sp>
    </p:spTree>
    <p:extLst>
      <p:ext uri="{BB962C8B-B14F-4D97-AF65-F5344CB8AC3E}">
        <p14:creationId xmlns:p14="http://schemas.microsoft.com/office/powerpoint/2010/main" val="3778256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5F575E66-C8F8-26CD-D071-28FADD3FFEF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FC3EA47B-1977-24C3-8ADD-EB7264F99C1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DD51ED86-25BF-B110-CB00-4E683EAA5734}"/>
              </a:ext>
            </a:extLst>
          </p:cNvPr>
          <p:cNvSpPr>
            <a:spLocks noGrp="1" noChangeArrowheads="1"/>
          </p:cNvSpPr>
          <p:nvPr>
            <p:ph type="sldNum" sz="quarter" idx="12"/>
          </p:nvPr>
        </p:nvSpPr>
        <p:spPr>
          <a:ln/>
        </p:spPr>
        <p:txBody>
          <a:bodyPr/>
          <a:lstStyle>
            <a:lvl1pPr>
              <a:defRPr/>
            </a:lvl1pPr>
          </a:lstStyle>
          <a:p>
            <a:pPr>
              <a:defRPr/>
            </a:pPr>
            <a:fld id="{E5F86D93-CA80-4B68-9231-044D808CEB8B}" type="slidenum">
              <a:rPr lang="en-US" altLang="en-US"/>
              <a:pPr>
                <a:defRPr/>
              </a:pPr>
              <a:t>‹#›</a:t>
            </a:fld>
            <a:endParaRPr lang="en-US" altLang="en-US"/>
          </a:p>
        </p:txBody>
      </p:sp>
    </p:spTree>
    <p:extLst>
      <p:ext uri="{BB962C8B-B14F-4D97-AF65-F5344CB8AC3E}">
        <p14:creationId xmlns:p14="http://schemas.microsoft.com/office/powerpoint/2010/main" val="11463592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able of Contents">
    <p:spTree>
      <p:nvGrpSpPr>
        <p:cNvPr id="1" name=""/>
        <p:cNvGrpSpPr/>
        <p:nvPr/>
      </p:nvGrpSpPr>
      <p:grpSpPr>
        <a:xfrm>
          <a:off x="0" y="0"/>
          <a:ext cx="0" cy="0"/>
          <a:chOff x="0" y="0"/>
          <a:chExt cx="0" cy="0"/>
        </a:xfrm>
      </p:grpSpPr>
      <p:sp>
        <p:nvSpPr>
          <p:cNvPr id="4" name="Rectangle 9"/>
          <p:cNvSpPr>
            <a:spLocks noChangeArrowheads="1"/>
          </p:cNvSpPr>
          <p:nvPr/>
        </p:nvSpPr>
        <p:spPr bwMode="auto">
          <a:xfrm>
            <a:off x="0" y="1100138"/>
            <a:ext cx="9144000" cy="176212"/>
          </a:xfrm>
          <a:prstGeom prst="rect">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115888" indent="-115888">
              <a:spcBef>
                <a:spcPct val="50000"/>
              </a:spcBef>
              <a:buFontTx/>
              <a:buChar char="•"/>
            </a:pPr>
            <a:endParaRPr lang="en-US" sz="1300" b="0">
              <a:solidFill>
                <a:schemeClr val="bg1"/>
              </a:solidFill>
            </a:endParaRPr>
          </a:p>
        </p:txBody>
      </p:sp>
      <p:sp>
        <p:nvSpPr>
          <p:cNvPr id="2" name="Title 1"/>
          <p:cNvSpPr>
            <a:spLocks noGrp="1"/>
          </p:cNvSpPr>
          <p:nvPr>
            <p:ph type="title"/>
          </p:nvPr>
        </p:nvSpPr>
        <p:spPr>
          <a:xfrm>
            <a:off x="356934" y="301626"/>
            <a:ext cx="8462029" cy="756707"/>
          </a:xfrm>
        </p:spPr>
        <p:txBody>
          <a:bodyPr/>
          <a:lstStyle>
            <a:lvl1pPr>
              <a:defRPr sz="2200" b="0" i="0">
                <a:solidFill>
                  <a:schemeClr val="tx1"/>
                </a:solidFill>
              </a:defRPr>
            </a:lvl1pPr>
          </a:lstStyle>
          <a:p>
            <a:r>
              <a:rPr lang="en-US"/>
              <a:t>Click to edit Master title style</a:t>
            </a:r>
            <a:endParaRPr lang="en-US" dirty="0"/>
          </a:p>
        </p:txBody>
      </p:sp>
      <p:sp>
        <p:nvSpPr>
          <p:cNvPr id="7" name="Text Placeholder 6"/>
          <p:cNvSpPr>
            <a:spLocks noGrp="1"/>
          </p:cNvSpPr>
          <p:nvPr>
            <p:ph type="body" sz="quarter" idx="13"/>
          </p:nvPr>
        </p:nvSpPr>
        <p:spPr>
          <a:xfrm>
            <a:off x="349250" y="1598613"/>
            <a:ext cx="8477250" cy="4613804"/>
          </a:xfrm>
        </p:spPr>
        <p:txBody>
          <a:bodyPr>
            <a:normAutofit/>
          </a:bodyPr>
          <a:lstStyle>
            <a:lvl1pPr>
              <a:lnSpc>
                <a:spcPct val="100000"/>
              </a:lnSpc>
              <a:spcBef>
                <a:spcPts val="2400"/>
              </a:spcBef>
              <a:tabLst>
                <a:tab pos="8402638" algn="r"/>
              </a:tabLst>
              <a:defRPr lang="en-US" sz="1600" smtClean="0"/>
            </a:lvl1pPr>
          </a:lstStyle>
          <a:p>
            <a:pPr lvl="0"/>
            <a:r>
              <a:rPr lang="en-US"/>
              <a:t>Click to edit Master text styles</a:t>
            </a:r>
          </a:p>
        </p:txBody>
      </p:sp>
      <p:sp>
        <p:nvSpPr>
          <p:cNvPr id="5" name="Footer Placeholder 5"/>
          <p:cNvSpPr>
            <a:spLocks noGrp="1"/>
          </p:cNvSpPr>
          <p:nvPr>
            <p:ph type="ftr" sz="quarter" idx="14"/>
          </p:nvPr>
        </p:nvSpPr>
        <p:spPr/>
        <p:txBody>
          <a:bodyPr/>
          <a:lstStyle>
            <a:lvl1pPr>
              <a:defRPr/>
            </a:lvl1pPr>
          </a:lstStyle>
          <a:p>
            <a:pPr>
              <a:defRPr/>
            </a:pPr>
            <a:endParaRPr lang="en-US"/>
          </a:p>
        </p:txBody>
      </p:sp>
      <p:sp>
        <p:nvSpPr>
          <p:cNvPr id="6" name="Slide Number Placeholder 7"/>
          <p:cNvSpPr>
            <a:spLocks noGrp="1"/>
          </p:cNvSpPr>
          <p:nvPr>
            <p:ph type="sldNum" sz="quarter" idx="15"/>
          </p:nvPr>
        </p:nvSpPr>
        <p:spPr/>
        <p:txBody>
          <a:bodyPr/>
          <a:lstStyle>
            <a:lvl1pPr>
              <a:defRPr/>
            </a:lvl1pPr>
          </a:lstStyle>
          <a:p>
            <a:fld id="{B439F95D-CD6C-461B-AC55-2EEF1AD0C511}" type="slidenum">
              <a:rPr lang="en-US"/>
              <a:pPr/>
              <a:t>‹#›</a:t>
            </a:fld>
            <a:endParaRPr lang="en-US"/>
          </a:p>
        </p:txBody>
      </p:sp>
    </p:spTree>
    <p:extLst>
      <p:ext uri="{BB962C8B-B14F-4D97-AF65-F5344CB8AC3E}">
        <p14:creationId xmlns:p14="http://schemas.microsoft.com/office/powerpoint/2010/main" val="25215685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1CB4B67-FAAC-85EA-9956-88E36A3173CE}"/>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A6E0E9AA-6F9E-105A-DD82-B896A2BF0D5B}"/>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99F791C5-DA0A-FBCC-FFC9-41276076C072}"/>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vl1pPr>
          </a:lstStyle>
          <a:p>
            <a:pPr>
              <a:defRPr/>
            </a:pPr>
            <a:endParaRPr lang="en-US"/>
          </a:p>
        </p:txBody>
      </p:sp>
      <p:sp>
        <p:nvSpPr>
          <p:cNvPr id="1029" name="Rectangle 5">
            <a:extLst>
              <a:ext uri="{FF2B5EF4-FFF2-40B4-BE49-F238E27FC236}">
                <a16:creationId xmlns:a16="http://schemas.microsoft.com/office/drawing/2014/main" id="{4020C3FA-7914-ACB9-699D-8BE457A68146}"/>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vl1pPr>
          </a:lstStyle>
          <a:p>
            <a:pPr>
              <a:defRPr/>
            </a:pPr>
            <a:endParaRPr lang="en-US"/>
          </a:p>
        </p:txBody>
      </p:sp>
      <p:sp>
        <p:nvSpPr>
          <p:cNvPr id="1030" name="Rectangle 6">
            <a:extLst>
              <a:ext uri="{FF2B5EF4-FFF2-40B4-BE49-F238E27FC236}">
                <a16:creationId xmlns:a16="http://schemas.microsoft.com/office/drawing/2014/main" id="{E150BC1A-1BD3-AA3F-E5EC-342F25B740DA}"/>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smtClean="0"/>
            </a:lvl1pPr>
          </a:lstStyle>
          <a:p>
            <a:pPr>
              <a:defRPr/>
            </a:pPr>
            <a:fld id="{598A6F85-667A-4428-84A2-F125C68CA485}"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s://www.worldbank.org/en/topic/taxes-and-government-revenue/brief/tax-revenue-dashboard" TargetMode="External"/><Relationship Id="rId4" Type="http://schemas.openxmlformats.org/officeDocument/2006/relationships/hyperlink" Target="https://bit.ly/tax_dashboard"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76521-22BE-6D78-130C-B326FC85273C}"/>
              </a:ext>
            </a:extLst>
          </p:cNvPr>
          <p:cNvSpPr>
            <a:spLocks noGrp="1"/>
          </p:cNvSpPr>
          <p:nvPr>
            <p:ph type="ctrTitle"/>
          </p:nvPr>
        </p:nvSpPr>
        <p:spPr/>
        <p:txBody>
          <a:bodyPr/>
          <a:lstStyle/>
          <a:p>
            <a:r>
              <a:rPr lang="en-US" altLang="en-US" b="1"/>
              <a:t>Principles of Taxation</a:t>
            </a:r>
            <a:endParaRPr lang="en-US"/>
          </a:p>
        </p:txBody>
      </p:sp>
      <p:sp>
        <p:nvSpPr>
          <p:cNvPr id="3" name="Subtitle 2">
            <a:extLst>
              <a:ext uri="{FF2B5EF4-FFF2-40B4-BE49-F238E27FC236}">
                <a16:creationId xmlns:a16="http://schemas.microsoft.com/office/drawing/2014/main" id="{C7078100-FC6F-ED79-F1B0-7755A8E1C30E}"/>
              </a:ext>
            </a:extLst>
          </p:cNvPr>
          <p:cNvSpPr>
            <a:spLocks noGrp="1"/>
          </p:cNvSpPr>
          <p:nvPr>
            <p:ph type="subTitle" idx="1"/>
          </p:nvPr>
        </p:nvSpPr>
        <p:spPr/>
        <p:txBody>
          <a:bodyPr/>
          <a:lstStyle/>
          <a:p>
            <a:pPr algn="r"/>
            <a:r>
              <a:rPr lang="en-US"/>
              <a:t>Sebastian James</a:t>
            </a:r>
          </a:p>
          <a:p>
            <a:pPr algn="r"/>
            <a:r>
              <a:rPr lang="en-US"/>
              <a:t>World Bank</a:t>
            </a:r>
          </a:p>
        </p:txBody>
      </p:sp>
    </p:spTree>
    <p:extLst>
      <p:ext uri="{BB962C8B-B14F-4D97-AF65-F5344CB8AC3E}">
        <p14:creationId xmlns:p14="http://schemas.microsoft.com/office/powerpoint/2010/main" val="3145458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1974" y="152400"/>
            <a:ext cx="8429625" cy="994172"/>
          </a:xfrm>
        </p:spPr>
        <p:txBody>
          <a:bodyPr/>
          <a:lstStyle/>
          <a:p>
            <a:r>
              <a:rPr lang="en-US" b="1" dirty="0"/>
              <a:t>What are the goals of Tax Policy?</a:t>
            </a:r>
          </a:p>
        </p:txBody>
      </p:sp>
      <p:sp>
        <p:nvSpPr>
          <p:cNvPr id="3" name="Content Placeholder 2"/>
          <p:cNvSpPr>
            <a:spLocks noGrp="1"/>
          </p:cNvSpPr>
          <p:nvPr>
            <p:ph idx="1"/>
          </p:nvPr>
        </p:nvSpPr>
        <p:spPr>
          <a:xfrm>
            <a:off x="628650" y="1371600"/>
            <a:ext cx="7886700" cy="4953000"/>
          </a:xfrm>
        </p:spPr>
        <p:txBody>
          <a:bodyPr>
            <a:normAutofit fontScale="70000" lnSpcReduction="20000"/>
          </a:bodyPr>
          <a:lstStyle/>
          <a:p>
            <a:pPr marL="457200" indent="-457200">
              <a:buFont typeface="Wingdings" panose="05000000000000000000" pitchFamily="2" charset="2"/>
              <a:buChar char="Ø"/>
            </a:pPr>
            <a:r>
              <a:rPr lang="en-US" dirty="0">
                <a:solidFill>
                  <a:schemeClr val="tx1"/>
                </a:solidFill>
              </a:rPr>
              <a:t>What are the goals of Fiscal (Tax and Expenditure) Policy?</a:t>
            </a:r>
          </a:p>
          <a:p>
            <a:pPr marL="819150" lvl="2" indent="-457200">
              <a:buFont typeface="Wingdings" panose="05000000000000000000" pitchFamily="2" charset="2"/>
              <a:buChar char="Ø"/>
            </a:pPr>
            <a:r>
              <a:rPr lang="en-US" dirty="0">
                <a:solidFill>
                  <a:schemeClr val="tx1"/>
                </a:solidFill>
              </a:rPr>
              <a:t>Public Goods, Regulation, Social goals, Fiscal stabilization, Political Economy, etc.</a:t>
            </a:r>
          </a:p>
          <a:p>
            <a:pPr marL="457200" indent="-457200">
              <a:buFont typeface="Wingdings" panose="05000000000000000000" pitchFamily="2" charset="2"/>
              <a:buChar char="Ø"/>
            </a:pPr>
            <a:r>
              <a:rPr lang="en-US" dirty="0">
                <a:solidFill>
                  <a:schemeClr val="tx1"/>
                </a:solidFill>
              </a:rPr>
              <a:t>Should we work on Expenditure enhancements/reductions versus reduction/increased Tax collection?</a:t>
            </a:r>
          </a:p>
          <a:p>
            <a:pPr marL="819150" lvl="2" indent="-457200">
              <a:buFont typeface="Wingdings" panose="05000000000000000000" pitchFamily="2" charset="2"/>
              <a:buChar char="Ø"/>
            </a:pPr>
            <a:r>
              <a:rPr lang="en-US" dirty="0">
                <a:solidFill>
                  <a:schemeClr val="tx1"/>
                </a:solidFill>
              </a:rPr>
              <a:t>Both expenditure reductions and tax increases impose costs on society</a:t>
            </a:r>
          </a:p>
          <a:p>
            <a:pPr marL="457200" indent="-457200">
              <a:buFont typeface="Wingdings" panose="05000000000000000000" pitchFamily="2" charset="2"/>
              <a:buChar char="Ø"/>
            </a:pPr>
            <a:r>
              <a:rPr lang="en-US" dirty="0">
                <a:solidFill>
                  <a:schemeClr val="tx1"/>
                </a:solidFill>
              </a:rPr>
              <a:t>Once we have identified that increased Tax collection are needed, do we:-</a:t>
            </a:r>
          </a:p>
          <a:p>
            <a:pPr marL="819150" lvl="2" indent="-457200">
              <a:buFont typeface="Wingdings" panose="05000000000000000000" pitchFamily="2" charset="2"/>
              <a:buChar char="Ø"/>
            </a:pPr>
            <a:r>
              <a:rPr lang="en-US" dirty="0">
                <a:solidFill>
                  <a:schemeClr val="tx1"/>
                </a:solidFill>
              </a:rPr>
              <a:t>improve efficiency of existing tax instruments (is tax policy the issue or tax administration)?</a:t>
            </a:r>
          </a:p>
          <a:p>
            <a:pPr marL="819150" lvl="2" indent="-457200">
              <a:buFont typeface="Wingdings" panose="05000000000000000000" pitchFamily="2" charset="2"/>
              <a:buChar char="Ø"/>
            </a:pPr>
            <a:r>
              <a:rPr lang="en-US" dirty="0">
                <a:solidFill>
                  <a:schemeClr val="tx1"/>
                </a:solidFill>
              </a:rPr>
              <a:t>change the rates and bases of existing tax instruments?</a:t>
            </a:r>
          </a:p>
          <a:p>
            <a:pPr marL="819150" lvl="2" indent="-457200">
              <a:buFont typeface="Wingdings" panose="05000000000000000000" pitchFamily="2" charset="2"/>
              <a:buChar char="Ø"/>
            </a:pPr>
            <a:r>
              <a:rPr lang="en-US" dirty="0">
                <a:solidFill>
                  <a:schemeClr val="tx1"/>
                </a:solidFill>
              </a:rPr>
              <a:t>use new tax instruments?</a:t>
            </a:r>
          </a:p>
          <a:p>
            <a:pPr marL="457200" indent="-457200">
              <a:buFont typeface="Wingdings" panose="05000000000000000000" pitchFamily="2" charset="2"/>
              <a:buChar char="Ø"/>
            </a:pPr>
            <a:r>
              <a:rPr lang="en-US" dirty="0">
                <a:solidFill>
                  <a:schemeClr val="tx1"/>
                </a:solidFill>
              </a:rPr>
              <a:t>What are the different tax policy options?</a:t>
            </a:r>
          </a:p>
          <a:p>
            <a:pPr marL="819150" lvl="2" indent="-457200">
              <a:buFont typeface="Wingdings" panose="05000000000000000000" pitchFamily="2" charset="2"/>
              <a:buChar char="Ø"/>
            </a:pPr>
            <a:r>
              <a:rPr lang="en-US" dirty="0">
                <a:solidFill>
                  <a:schemeClr val="tx1"/>
                </a:solidFill>
              </a:rPr>
              <a:t>What Taxes to Levy?</a:t>
            </a:r>
          </a:p>
          <a:p>
            <a:pPr marL="819150" lvl="2" indent="-457200">
              <a:buFont typeface="Wingdings" panose="05000000000000000000" pitchFamily="2" charset="2"/>
              <a:buChar char="Ø"/>
            </a:pPr>
            <a:r>
              <a:rPr lang="en-US" dirty="0">
                <a:solidFill>
                  <a:schemeClr val="tx1"/>
                </a:solidFill>
              </a:rPr>
              <a:t>How much?</a:t>
            </a:r>
          </a:p>
          <a:p>
            <a:pPr marL="819150" lvl="2" indent="-457200">
              <a:buFont typeface="Wingdings" panose="05000000000000000000" pitchFamily="2" charset="2"/>
              <a:buChar char="Ø"/>
            </a:pPr>
            <a:r>
              <a:rPr lang="en-US" dirty="0">
                <a:solidFill>
                  <a:schemeClr val="tx1"/>
                </a:solidFill>
              </a:rPr>
              <a:t>On Whom?</a:t>
            </a:r>
          </a:p>
          <a:p>
            <a:pPr marL="457200" indent="-457200">
              <a:buFont typeface="Wingdings" panose="05000000000000000000" pitchFamily="2" charset="2"/>
              <a:buChar char="Ø"/>
            </a:pPr>
            <a:r>
              <a:rPr lang="en-US" dirty="0"/>
              <a:t>How do we evaluate the different policy options?</a:t>
            </a:r>
          </a:p>
        </p:txBody>
      </p:sp>
      <p:sp>
        <p:nvSpPr>
          <p:cNvPr id="4" name="Slide Number Placeholder 3"/>
          <p:cNvSpPr>
            <a:spLocks noGrp="1"/>
          </p:cNvSpPr>
          <p:nvPr>
            <p:ph type="sldNum" sz="quarter" idx="12"/>
          </p:nvPr>
        </p:nvSpPr>
        <p:spPr/>
        <p:txBody>
          <a:bodyPr/>
          <a:lstStyle/>
          <a:p>
            <a:fld id="{4E519381-62F2-4C60-99AC-EDADDE1A24E5}" type="slidenum">
              <a:rPr lang="en-US" smtClean="0"/>
              <a:t>2</a:t>
            </a:fld>
            <a:endParaRPr lang="en-US"/>
          </a:p>
        </p:txBody>
      </p:sp>
    </p:spTree>
    <p:extLst>
      <p:ext uri="{BB962C8B-B14F-4D97-AF65-F5344CB8AC3E}">
        <p14:creationId xmlns:p14="http://schemas.microsoft.com/office/powerpoint/2010/main" val="32729727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55506"/>
            <a:ext cx="9017875" cy="1268494"/>
          </a:xfrm>
        </p:spPr>
        <p:txBody>
          <a:bodyPr/>
          <a:lstStyle/>
          <a:p>
            <a:r>
              <a:rPr lang="en-US" sz="2800" b="1" dirty="0"/>
              <a:t>Tax Policy Performance w.r.t spending</a:t>
            </a:r>
            <a:br>
              <a:rPr lang="en-US" sz="2800" b="1" dirty="0"/>
            </a:br>
            <a:r>
              <a:rPr lang="en-US" sz="2800" b="1" dirty="0"/>
              <a:t>- Revenue vs Fiscal Balance</a:t>
            </a:r>
          </a:p>
        </p:txBody>
      </p:sp>
      <p:sp>
        <p:nvSpPr>
          <p:cNvPr id="4" name="Footer Placeholder 3"/>
          <p:cNvSpPr>
            <a:spLocks noGrp="1"/>
          </p:cNvSpPr>
          <p:nvPr>
            <p:ph type="ftr" sz="quarter" idx="11"/>
          </p:nvPr>
        </p:nvSpPr>
        <p:spPr>
          <a:xfrm>
            <a:off x="3124200" y="6506256"/>
            <a:ext cx="2895600" cy="365125"/>
          </a:xfrm>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ADF31621-AB54-4775-B102-4DF18FEE075B}" type="slidenum">
              <a:rPr lang="en-US" smtClean="0"/>
              <a:pPr>
                <a:defRPr/>
              </a:pPr>
              <a:t>3</a:t>
            </a:fld>
            <a:endParaRPr lang="en-US"/>
          </a:p>
        </p:txBody>
      </p:sp>
      <p:sp>
        <p:nvSpPr>
          <p:cNvPr id="9" name="TextBox 8"/>
          <p:cNvSpPr txBox="1"/>
          <p:nvPr/>
        </p:nvSpPr>
        <p:spPr>
          <a:xfrm>
            <a:off x="2277835" y="6302412"/>
            <a:ext cx="6740041" cy="300082"/>
          </a:xfrm>
          <a:prstGeom prst="rect">
            <a:avLst/>
          </a:prstGeom>
          <a:noFill/>
        </p:spPr>
        <p:txBody>
          <a:bodyPr wrap="square" rtlCol="0">
            <a:spAutoFit/>
          </a:bodyPr>
          <a:lstStyle/>
          <a:p>
            <a:r>
              <a:rPr lang="en-US" sz="1350" dirty="0"/>
              <a:t>Example – Malaysia occupies the High (-</a:t>
            </a:r>
            <a:r>
              <a:rPr lang="en-US" sz="1350" dirty="0" err="1"/>
              <a:t>ve</a:t>
            </a:r>
            <a:r>
              <a:rPr lang="en-US" sz="1350" dirty="0"/>
              <a:t>) Fiscal Balance – Low Revenue quadrant</a:t>
            </a:r>
          </a:p>
        </p:txBody>
      </p:sp>
      <p:pic>
        <p:nvPicPr>
          <p:cNvPr id="12" name="Picture 11" descr="Chart, scatter chart, bubble chart&#10;&#10;Description automatically generated">
            <a:extLst>
              <a:ext uri="{FF2B5EF4-FFF2-40B4-BE49-F238E27FC236}">
                <a16:creationId xmlns:a16="http://schemas.microsoft.com/office/drawing/2014/main" id="{1EA295D1-D6A1-4A3F-9DD1-BA36FD37C712}"/>
              </a:ext>
            </a:extLst>
          </p:cNvPr>
          <p:cNvPicPr>
            <a:picLocks noChangeAspect="1"/>
          </p:cNvPicPr>
          <p:nvPr/>
        </p:nvPicPr>
        <p:blipFill>
          <a:blip r:embed="rId2"/>
          <a:stretch>
            <a:fillRect/>
          </a:stretch>
        </p:blipFill>
        <p:spPr>
          <a:xfrm>
            <a:off x="604837" y="1249678"/>
            <a:ext cx="7019925" cy="5105400"/>
          </a:xfrm>
          <a:prstGeom prst="rect">
            <a:avLst/>
          </a:prstGeom>
        </p:spPr>
      </p:pic>
    </p:spTree>
    <p:extLst>
      <p:ext uri="{BB962C8B-B14F-4D97-AF65-F5344CB8AC3E}">
        <p14:creationId xmlns:p14="http://schemas.microsoft.com/office/powerpoint/2010/main" val="3244568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2172" y="154386"/>
            <a:ext cx="7886700" cy="994172"/>
          </a:xfrm>
        </p:spPr>
        <p:txBody>
          <a:bodyPr/>
          <a:lstStyle/>
          <a:p>
            <a:r>
              <a:rPr lang="en-US" sz="2800" b="1" dirty="0"/>
              <a:t>Tax Policy Performance w.r.t spending </a:t>
            </a:r>
            <a:br>
              <a:rPr lang="en-US" sz="2800" b="1" dirty="0"/>
            </a:br>
            <a:r>
              <a:rPr lang="en-US" sz="2800" b="1" dirty="0"/>
              <a:t>- Revenue versus Debt</a:t>
            </a:r>
          </a:p>
        </p:txBody>
      </p:sp>
      <p:sp>
        <p:nvSpPr>
          <p:cNvPr id="4" name="Footer Placeholder 3"/>
          <p:cNvSpPr>
            <a:spLocks noGrp="1"/>
          </p:cNvSpPr>
          <p:nvPr>
            <p:ph type="ftr" sz="quarter" idx="11"/>
          </p:nvPr>
        </p:nvSpPr>
        <p:spPr>
          <a:xfrm>
            <a:off x="2593427" y="6445098"/>
            <a:ext cx="2895600" cy="365125"/>
          </a:xfrm>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ADF31621-AB54-4775-B102-4DF18FEE075B}" type="slidenum">
              <a:rPr lang="en-US" smtClean="0"/>
              <a:pPr>
                <a:defRPr/>
              </a:pPr>
              <a:t>4</a:t>
            </a:fld>
            <a:endParaRPr lang="en-US"/>
          </a:p>
        </p:txBody>
      </p:sp>
      <p:sp>
        <p:nvSpPr>
          <p:cNvPr id="7" name="TextBox 6"/>
          <p:cNvSpPr txBox="1"/>
          <p:nvPr/>
        </p:nvSpPr>
        <p:spPr>
          <a:xfrm>
            <a:off x="2219779" y="6214000"/>
            <a:ext cx="5886450" cy="300082"/>
          </a:xfrm>
          <a:prstGeom prst="rect">
            <a:avLst/>
          </a:prstGeom>
          <a:noFill/>
        </p:spPr>
        <p:txBody>
          <a:bodyPr wrap="square" rtlCol="0">
            <a:spAutoFit/>
          </a:bodyPr>
          <a:lstStyle/>
          <a:p>
            <a:r>
              <a:rPr lang="en-US" sz="1350" dirty="0"/>
              <a:t>Example – Malaysia is in the High Debt - Low Revenue quadrant</a:t>
            </a:r>
          </a:p>
        </p:txBody>
      </p:sp>
      <p:pic>
        <p:nvPicPr>
          <p:cNvPr id="12" name="Picture 11" descr="Chart, scatter chart, bubble chart&#10;&#10;Description automatically generated">
            <a:extLst>
              <a:ext uri="{FF2B5EF4-FFF2-40B4-BE49-F238E27FC236}">
                <a16:creationId xmlns:a16="http://schemas.microsoft.com/office/drawing/2014/main" id="{2B2397C2-B988-4F81-AEAD-0E0AC80CF477}"/>
              </a:ext>
            </a:extLst>
          </p:cNvPr>
          <p:cNvPicPr>
            <a:picLocks noChangeAspect="1"/>
          </p:cNvPicPr>
          <p:nvPr/>
        </p:nvPicPr>
        <p:blipFill>
          <a:blip r:embed="rId2"/>
          <a:stretch>
            <a:fillRect/>
          </a:stretch>
        </p:blipFill>
        <p:spPr>
          <a:xfrm>
            <a:off x="604837" y="1148558"/>
            <a:ext cx="7019925" cy="5105400"/>
          </a:xfrm>
          <a:prstGeom prst="rect">
            <a:avLst/>
          </a:prstGeom>
        </p:spPr>
      </p:pic>
    </p:spTree>
    <p:extLst>
      <p:ext uri="{BB962C8B-B14F-4D97-AF65-F5344CB8AC3E}">
        <p14:creationId xmlns:p14="http://schemas.microsoft.com/office/powerpoint/2010/main" val="41688903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074">
            <a:extLst>
              <a:ext uri="{FF2B5EF4-FFF2-40B4-BE49-F238E27FC236}">
                <a16:creationId xmlns:a16="http://schemas.microsoft.com/office/drawing/2014/main" id="{43E928BE-EF33-3319-6AC0-D38DE6567366}"/>
              </a:ext>
            </a:extLst>
          </p:cNvPr>
          <p:cNvSpPr>
            <a:spLocks noGrp="1" noChangeArrowheads="1"/>
          </p:cNvSpPr>
          <p:nvPr>
            <p:ph type="title"/>
          </p:nvPr>
        </p:nvSpPr>
        <p:spPr>
          <a:xfrm>
            <a:off x="381000" y="152400"/>
            <a:ext cx="8382000" cy="1905000"/>
          </a:xfrm>
        </p:spPr>
        <p:txBody>
          <a:bodyPr/>
          <a:lstStyle/>
          <a:p>
            <a:pPr eaLnBrk="1" hangingPunct="1"/>
            <a:r>
              <a:rPr lang="en-US" altLang="en-US" sz="3600" b="1">
                <a:solidFill>
                  <a:srgbClr val="003399"/>
                </a:solidFill>
                <a:cs typeface="Times New Roman" panose="02020603050405020304" pitchFamily="18" charset="0"/>
              </a:rPr>
              <a:t>Principles of financing public sector and Sources of revenue</a:t>
            </a:r>
            <a:br>
              <a:rPr lang="en-US" altLang="en-US" b="1">
                <a:solidFill>
                  <a:srgbClr val="003399"/>
                </a:solidFill>
                <a:cs typeface="Times New Roman" panose="02020603050405020304" pitchFamily="18" charset="0"/>
              </a:rPr>
            </a:br>
            <a:r>
              <a:rPr lang="en-US" altLang="en-US" sz="3200">
                <a:solidFill>
                  <a:srgbClr val="FF0000"/>
                </a:solidFill>
                <a:cs typeface="Times New Roman" panose="02020603050405020304" pitchFamily="18" charset="0"/>
              </a:rPr>
              <a:t>Taxation, User Charges and Donations/ Community financing</a:t>
            </a:r>
            <a:r>
              <a:rPr lang="en-US" altLang="en-US" sz="3200" b="1">
                <a:solidFill>
                  <a:srgbClr val="FF0000"/>
                </a:solidFill>
                <a:cs typeface="Times New Roman" panose="02020603050405020304" pitchFamily="18" charset="0"/>
              </a:rPr>
              <a:t> </a:t>
            </a:r>
          </a:p>
        </p:txBody>
      </p:sp>
      <p:sp>
        <p:nvSpPr>
          <p:cNvPr id="28675" name="Rectangle 3075">
            <a:extLst>
              <a:ext uri="{FF2B5EF4-FFF2-40B4-BE49-F238E27FC236}">
                <a16:creationId xmlns:a16="http://schemas.microsoft.com/office/drawing/2014/main" id="{1FB8F629-78E7-EF88-08B8-D18B218FE63E}"/>
              </a:ext>
            </a:extLst>
          </p:cNvPr>
          <p:cNvSpPr>
            <a:spLocks noGrp="1" noChangeArrowheads="1"/>
          </p:cNvSpPr>
          <p:nvPr>
            <p:ph type="body" idx="1"/>
          </p:nvPr>
        </p:nvSpPr>
        <p:spPr>
          <a:xfrm>
            <a:off x="762000" y="2438400"/>
            <a:ext cx="7696200" cy="3962400"/>
          </a:xfrm>
        </p:spPr>
        <p:txBody>
          <a:bodyPr/>
          <a:lstStyle/>
          <a:p>
            <a:pPr eaLnBrk="1" hangingPunct="1"/>
            <a:r>
              <a:rPr lang="en-US" altLang="en-US" sz="2800"/>
              <a:t>Principles of financing public sector</a:t>
            </a:r>
          </a:p>
          <a:p>
            <a:pPr eaLnBrk="1" hangingPunct="1"/>
            <a:r>
              <a:rPr lang="en-US" altLang="en-US" sz="2800"/>
              <a:t>Types of revenue</a:t>
            </a:r>
          </a:p>
          <a:p>
            <a:pPr eaLnBrk="1" hangingPunct="1"/>
            <a:r>
              <a:rPr lang="en-US" altLang="en-US" sz="2800"/>
              <a:t>Types of taxes</a:t>
            </a:r>
          </a:p>
          <a:p>
            <a:pPr eaLnBrk="1" hangingPunct="1"/>
            <a:r>
              <a:rPr lang="en-US" altLang="en-US" sz="2800"/>
              <a:t>Market differences in three types of revenues</a:t>
            </a:r>
          </a:p>
          <a:p>
            <a:pPr lvl="1" eaLnBrk="1" hangingPunct="1"/>
            <a:r>
              <a:rPr lang="en-US" altLang="en-US"/>
              <a:t>Taxation</a:t>
            </a:r>
          </a:p>
          <a:p>
            <a:pPr lvl="1" eaLnBrk="1" hangingPunct="1"/>
            <a:r>
              <a:rPr lang="en-US" altLang="en-US"/>
              <a:t>User charges</a:t>
            </a:r>
          </a:p>
          <a:p>
            <a:pPr lvl="1" eaLnBrk="1" hangingPunct="1"/>
            <a:r>
              <a:rPr lang="en-US" altLang="en-US"/>
              <a:t>Voluntary donations or Community financing: </a:t>
            </a:r>
            <a:r>
              <a:rPr lang="en-US" altLang="en-US" sz="2400"/>
              <a:t>Not paid to government but may serve same purpose</a:t>
            </a:r>
          </a:p>
          <a:p>
            <a:pPr eaLnBrk="1" hangingPunct="1"/>
            <a:endParaRPr lang="en-US" altLang="en-US"/>
          </a:p>
        </p:txBody>
      </p:sp>
    </p:spTree>
    <p:extLst>
      <p:ext uri="{BB962C8B-B14F-4D97-AF65-F5344CB8AC3E}">
        <p14:creationId xmlns:p14="http://schemas.microsoft.com/office/powerpoint/2010/main" val="3495811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3B3AF2C1-FD21-7BA0-FA49-9C22B37248CF}"/>
              </a:ext>
            </a:extLst>
          </p:cNvPr>
          <p:cNvSpPr>
            <a:spLocks noGrp="1" noChangeArrowheads="1"/>
          </p:cNvSpPr>
          <p:nvPr>
            <p:ph type="title"/>
          </p:nvPr>
        </p:nvSpPr>
        <p:spPr>
          <a:xfrm>
            <a:off x="0" y="381000"/>
            <a:ext cx="9144000" cy="533400"/>
          </a:xfrm>
        </p:spPr>
        <p:txBody>
          <a:bodyPr/>
          <a:lstStyle/>
          <a:p>
            <a:pPr eaLnBrk="1" hangingPunct="1"/>
            <a:r>
              <a:rPr lang="en-US" altLang="en-US" sz="3600" b="1">
                <a:solidFill>
                  <a:srgbClr val="003399"/>
                </a:solidFill>
              </a:rPr>
              <a:t>Principles of financing public expenditures(1)</a:t>
            </a:r>
          </a:p>
        </p:txBody>
      </p:sp>
      <p:sp>
        <p:nvSpPr>
          <p:cNvPr id="30723" name="Rectangle 3">
            <a:extLst>
              <a:ext uri="{FF2B5EF4-FFF2-40B4-BE49-F238E27FC236}">
                <a16:creationId xmlns:a16="http://schemas.microsoft.com/office/drawing/2014/main" id="{6CF58DE5-3F01-0095-504E-AE1487B5158D}"/>
              </a:ext>
            </a:extLst>
          </p:cNvPr>
          <p:cNvSpPr>
            <a:spLocks noGrp="1" noChangeArrowheads="1"/>
          </p:cNvSpPr>
          <p:nvPr>
            <p:ph type="body" idx="1"/>
          </p:nvPr>
        </p:nvSpPr>
        <p:spPr>
          <a:xfrm>
            <a:off x="0" y="1066800"/>
            <a:ext cx="8915400" cy="5486400"/>
          </a:xfrm>
        </p:spPr>
        <p:txBody>
          <a:bodyPr/>
          <a:lstStyle/>
          <a:p>
            <a:pPr indent="-225425" eaLnBrk="1" hangingPunct="1">
              <a:lnSpc>
                <a:spcPct val="90000"/>
              </a:lnSpc>
            </a:pPr>
            <a:r>
              <a:rPr lang="en-US" altLang="en-US" b="1"/>
              <a:t>BENEFIT PRINCIPLE</a:t>
            </a:r>
            <a:r>
              <a:rPr lang="en-US" altLang="en-US" sz="2800"/>
              <a:t>  –  </a:t>
            </a:r>
            <a:r>
              <a:rPr lang="en-US" altLang="en-US" sz="2800" b="1">
                <a:cs typeface="Times New Roman" panose="02020603050405020304" pitchFamily="18" charset="0"/>
              </a:rPr>
              <a:t>those who benefit from services should pay.  </a:t>
            </a:r>
          </a:p>
          <a:p>
            <a:pPr indent="-225425" eaLnBrk="1" hangingPunct="1">
              <a:lnSpc>
                <a:spcPct val="90000"/>
              </a:lnSpc>
            </a:pPr>
            <a:r>
              <a:rPr lang="en-US" altLang="en-US" sz="2400">
                <a:cs typeface="Times New Roman" panose="02020603050405020304" pitchFamily="18" charset="0"/>
              </a:rPr>
              <a:t>Applied to goods or services where exclusion of non-payers is feasible. </a:t>
            </a:r>
            <a:r>
              <a:rPr lang="en-US" altLang="en-US" sz="2400"/>
              <a:t>Trying to finance government like a private business. </a:t>
            </a:r>
            <a:r>
              <a:rPr lang="en-US" altLang="en-US" sz="2400" i="1">
                <a:solidFill>
                  <a:srgbClr val="FF0000"/>
                </a:solidFill>
              </a:rPr>
              <a:t>Not applicable to pure public goods.</a:t>
            </a:r>
          </a:p>
          <a:p>
            <a:pPr indent="-225425" eaLnBrk="1" hangingPunct="1">
              <a:lnSpc>
                <a:spcPct val="90000"/>
              </a:lnSpc>
            </a:pPr>
            <a:r>
              <a:rPr lang="en-US" altLang="en-US" sz="2400"/>
              <a:t>User charges: where government provides “private” goods and services, it can charge fees and apply </a:t>
            </a:r>
            <a:r>
              <a:rPr lang="en-US" altLang="en-US" sz="2400" i="1"/>
              <a:t>marginal cost pricing rules </a:t>
            </a:r>
            <a:r>
              <a:rPr lang="en-US" altLang="en-US" sz="2400"/>
              <a:t>(</a:t>
            </a:r>
            <a:r>
              <a:rPr lang="en-US" altLang="en-US" sz="2400">
                <a:solidFill>
                  <a:srgbClr val="FF0000"/>
                </a:solidFill>
              </a:rPr>
              <a:t>for equity or externality considerations however, prices kept below MC</a:t>
            </a:r>
            <a:r>
              <a:rPr lang="en-US" altLang="en-US" sz="2400"/>
              <a:t>).</a:t>
            </a:r>
            <a:r>
              <a:rPr lang="en-US" altLang="en-US" sz="2400" i="1"/>
              <a:t> </a:t>
            </a:r>
          </a:p>
          <a:p>
            <a:pPr indent="-225425" eaLnBrk="1" hangingPunct="1">
              <a:lnSpc>
                <a:spcPct val="90000"/>
              </a:lnSpc>
            </a:pPr>
            <a:r>
              <a:rPr lang="en-US" altLang="en-US" sz="2400">
                <a:cs typeface="Times New Roman" panose="02020603050405020304" pitchFamily="18" charset="0"/>
              </a:rPr>
              <a:t>User charges reflect the benefit or willingness to pay for the good or service received.   </a:t>
            </a:r>
            <a:r>
              <a:rPr lang="en-US" altLang="en-US" sz="2400" i="1">
                <a:cs typeface="Times New Roman" panose="02020603050405020304" pitchFamily="18" charset="0"/>
              </a:rPr>
              <a:t>Costs of producing such goods and services can be recovered from user charges, at least in part or only to cover costs of operations and maintenance, just like the private sector</a:t>
            </a:r>
            <a:r>
              <a:rPr lang="en-US" altLang="en-US" sz="2400">
                <a:cs typeface="Times New Roman" panose="02020603050405020304" pitchFamily="18" charset="0"/>
              </a:rPr>
              <a:t>.</a:t>
            </a:r>
            <a:r>
              <a:rPr lang="en-US" altLang="en-US" sz="2400"/>
              <a:t> </a:t>
            </a:r>
          </a:p>
          <a:p>
            <a:pPr indent="-225425" eaLnBrk="1" hangingPunct="1">
              <a:lnSpc>
                <a:spcPct val="90000"/>
              </a:lnSpc>
            </a:pPr>
            <a:r>
              <a:rPr lang="en-US" altLang="en-US" sz="2400">
                <a:solidFill>
                  <a:srgbClr val="FF0000"/>
                </a:solidFill>
              </a:rPr>
              <a:t>Many government functions or services are not suited to user charges, then taxation is the only option.</a:t>
            </a:r>
            <a:r>
              <a:rPr lang="en-US" altLang="en-US" sz="2400">
                <a:latin typeface="Arial" panose="020B0604020202020204" pitchFamily="34" charset="0"/>
              </a:rPr>
              <a:t> </a:t>
            </a:r>
          </a:p>
          <a:p>
            <a:pPr marL="457200" lvl="1" indent="0" eaLnBrk="1" hangingPunct="1">
              <a:lnSpc>
                <a:spcPct val="90000"/>
              </a:lnSpc>
              <a:buFontTx/>
              <a:buNone/>
            </a:pPr>
            <a:r>
              <a:rPr lang="en-US" altLang="en-US" sz="2400">
                <a:latin typeface="Arial" panose="020B0604020202020204" pitchFamily="34" charset="0"/>
              </a:rPr>
              <a:t>       </a:t>
            </a:r>
          </a:p>
        </p:txBody>
      </p:sp>
    </p:spTree>
    <p:extLst>
      <p:ext uri="{BB962C8B-B14F-4D97-AF65-F5344CB8AC3E}">
        <p14:creationId xmlns:p14="http://schemas.microsoft.com/office/powerpoint/2010/main" val="12461774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050">
            <a:extLst>
              <a:ext uri="{FF2B5EF4-FFF2-40B4-BE49-F238E27FC236}">
                <a16:creationId xmlns:a16="http://schemas.microsoft.com/office/drawing/2014/main" id="{989EDDC3-4C53-0C96-E87F-9F3C9DBFFF7A}"/>
              </a:ext>
            </a:extLst>
          </p:cNvPr>
          <p:cNvSpPr>
            <a:spLocks noGrp="1" noChangeArrowheads="1"/>
          </p:cNvSpPr>
          <p:nvPr>
            <p:ph type="title"/>
          </p:nvPr>
        </p:nvSpPr>
        <p:spPr>
          <a:xfrm>
            <a:off x="685800" y="152400"/>
            <a:ext cx="7772400" cy="1219200"/>
          </a:xfrm>
        </p:spPr>
        <p:txBody>
          <a:bodyPr/>
          <a:lstStyle/>
          <a:p>
            <a:pPr eaLnBrk="1" hangingPunct="1"/>
            <a:r>
              <a:rPr lang="en-US" altLang="en-US" sz="3600" b="1">
                <a:solidFill>
                  <a:srgbClr val="003399"/>
                </a:solidFill>
              </a:rPr>
              <a:t>Principles of financing public expenditures (2)</a:t>
            </a:r>
          </a:p>
        </p:txBody>
      </p:sp>
      <p:sp>
        <p:nvSpPr>
          <p:cNvPr id="33795" name="Rectangle 2051">
            <a:extLst>
              <a:ext uri="{FF2B5EF4-FFF2-40B4-BE49-F238E27FC236}">
                <a16:creationId xmlns:a16="http://schemas.microsoft.com/office/drawing/2014/main" id="{423F8597-C24D-2D54-9D79-0DD8C1232B66}"/>
              </a:ext>
            </a:extLst>
          </p:cNvPr>
          <p:cNvSpPr>
            <a:spLocks noGrp="1" noChangeArrowheads="1"/>
          </p:cNvSpPr>
          <p:nvPr>
            <p:ph type="body" idx="1"/>
          </p:nvPr>
        </p:nvSpPr>
        <p:spPr>
          <a:xfrm>
            <a:off x="609600" y="1524000"/>
            <a:ext cx="7848600" cy="5105400"/>
          </a:xfrm>
        </p:spPr>
        <p:txBody>
          <a:bodyPr/>
          <a:lstStyle/>
          <a:p>
            <a:pPr eaLnBrk="1" hangingPunct="1">
              <a:lnSpc>
                <a:spcPct val="90000"/>
              </a:lnSpc>
              <a:defRPr/>
            </a:pPr>
            <a:r>
              <a:rPr lang="en-US" altLang="en-US" b="1" dirty="0"/>
              <a:t>ABILITY-TO-PAY PRINCIPLE</a:t>
            </a:r>
            <a:r>
              <a:rPr lang="en-US" altLang="en-US" sz="2800" dirty="0"/>
              <a:t>  –  Where not feasible to charge Marginal Cost of public service to beneficiary, raising public finance cannot follow benefit principle – </a:t>
            </a:r>
            <a:r>
              <a:rPr lang="en-US" altLang="en-US" sz="2800" dirty="0">
                <a:solidFill>
                  <a:srgbClr val="FF0000"/>
                </a:solidFill>
              </a:rPr>
              <a:t>in such cases source and use of finance become delinked.</a:t>
            </a:r>
            <a:r>
              <a:rPr lang="en-US" altLang="en-US" sz="2800" dirty="0"/>
              <a:t>  </a:t>
            </a:r>
          </a:p>
          <a:p>
            <a:pPr eaLnBrk="1" hangingPunct="1">
              <a:lnSpc>
                <a:spcPct val="90000"/>
              </a:lnSpc>
              <a:defRPr/>
            </a:pPr>
            <a:r>
              <a:rPr lang="en-US" altLang="en-US" sz="2800" b="1" dirty="0"/>
              <a:t>Ability to pay principle then becomes the dominant principle</a:t>
            </a:r>
            <a:r>
              <a:rPr lang="en-US" altLang="en-US" sz="2800" dirty="0"/>
              <a:t> -financing charges or taxes should be borne in line with ability to pay the tax irrespective of particular benefits received.</a:t>
            </a:r>
            <a:endParaRPr lang="en-US" altLang="en-US" sz="2800" dirty="0">
              <a:latin typeface="Arial" panose="020B0604020202020204" pitchFamily="34" charset="0"/>
            </a:endParaRPr>
          </a:p>
          <a:p>
            <a:pPr lvl="1" eaLnBrk="1" hangingPunct="1">
              <a:lnSpc>
                <a:spcPct val="90000"/>
              </a:lnSpc>
              <a:defRPr/>
            </a:pPr>
            <a:r>
              <a:rPr lang="en-US" altLang="en-US" sz="2400" b="1" dirty="0"/>
              <a:t>All taxes are typically designed primarily to follow the “ability to pay” or income of the taxpayers.  Payment not linked to benefits received from public services. </a:t>
            </a:r>
          </a:p>
          <a:p>
            <a:pPr marL="457200" lvl="1" indent="0" eaLnBrk="1" hangingPunct="1">
              <a:lnSpc>
                <a:spcPct val="90000"/>
              </a:lnSpc>
              <a:buFontTx/>
              <a:buNone/>
              <a:defRPr/>
            </a:pPr>
            <a:endParaRPr lang="en-US" altLang="en-US" sz="2400" i="1" dirty="0"/>
          </a:p>
        </p:txBody>
      </p:sp>
    </p:spTree>
    <p:extLst>
      <p:ext uri="{BB962C8B-B14F-4D97-AF65-F5344CB8AC3E}">
        <p14:creationId xmlns:p14="http://schemas.microsoft.com/office/powerpoint/2010/main" val="32928919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0A3C12CC-FBE4-28DA-80CE-72224F25CD3C}"/>
              </a:ext>
            </a:extLst>
          </p:cNvPr>
          <p:cNvSpPr>
            <a:spLocks noGrp="1" noChangeArrowheads="1"/>
          </p:cNvSpPr>
          <p:nvPr>
            <p:ph type="title"/>
          </p:nvPr>
        </p:nvSpPr>
        <p:spPr>
          <a:xfrm>
            <a:off x="685800" y="228600"/>
            <a:ext cx="7772400" cy="533400"/>
          </a:xfrm>
        </p:spPr>
        <p:txBody>
          <a:bodyPr/>
          <a:lstStyle/>
          <a:p>
            <a:pPr eaLnBrk="1" hangingPunct="1"/>
            <a:r>
              <a:rPr lang="en-US" altLang="en-US" b="1">
                <a:solidFill>
                  <a:srgbClr val="003399"/>
                </a:solidFill>
              </a:rPr>
              <a:t>Types of revenues</a:t>
            </a:r>
          </a:p>
        </p:txBody>
      </p:sp>
      <p:sp>
        <p:nvSpPr>
          <p:cNvPr id="33795" name="Rectangle 3">
            <a:extLst>
              <a:ext uri="{FF2B5EF4-FFF2-40B4-BE49-F238E27FC236}">
                <a16:creationId xmlns:a16="http://schemas.microsoft.com/office/drawing/2014/main" id="{6DB5DE41-8975-EC05-D055-75DDB2629000}"/>
              </a:ext>
            </a:extLst>
          </p:cNvPr>
          <p:cNvSpPr>
            <a:spLocks noGrp="1" noChangeArrowheads="1"/>
          </p:cNvSpPr>
          <p:nvPr>
            <p:ph type="body" idx="1"/>
          </p:nvPr>
        </p:nvSpPr>
        <p:spPr>
          <a:xfrm>
            <a:off x="381000" y="914400"/>
            <a:ext cx="8382000" cy="5867400"/>
          </a:xfrm>
        </p:spPr>
        <p:txBody>
          <a:bodyPr/>
          <a:lstStyle/>
          <a:p>
            <a:pPr eaLnBrk="1" hangingPunct="1">
              <a:lnSpc>
                <a:spcPct val="90000"/>
              </a:lnSpc>
            </a:pPr>
            <a:r>
              <a:rPr lang="en-US" altLang="en-US" sz="2400" b="1"/>
              <a:t>TAXES </a:t>
            </a:r>
            <a:endParaRPr lang="en-US" altLang="en-US" sz="2400" b="1" i="1"/>
          </a:p>
          <a:p>
            <a:pPr lvl="1" eaLnBrk="1" hangingPunct="1">
              <a:lnSpc>
                <a:spcPct val="90000"/>
              </a:lnSpc>
            </a:pPr>
            <a:r>
              <a:rPr lang="en-US" altLang="en-US" sz="2000"/>
              <a:t>Includes administrative cost recovery charges (license or permit fees) where no private benefit from service of registration/licensing</a:t>
            </a:r>
          </a:p>
          <a:p>
            <a:pPr eaLnBrk="1" hangingPunct="1">
              <a:lnSpc>
                <a:spcPct val="90000"/>
              </a:lnSpc>
            </a:pPr>
            <a:r>
              <a:rPr lang="en-US" altLang="en-US" sz="2800" b="1"/>
              <a:t> </a:t>
            </a:r>
            <a:r>
              <a:rPr lang="en-US" altLang="en-US" sz="2400" b="1"/>
              <a:t>NON-TAX REVENUE</a:t>
            </a:r>
          </a:p>
          <a:p>
            <a:pPr lvl="1" eaLnBrk="1" hangingPunct="1">
              <a:lnSpc>
                <a:spcPct val="90000"/>
              </a:lnSpc>
            </a:pPr>
            <a:r>
              <a:rPr lang="en-US" altLang="en-US" sz="2000"/>
              <a:t>CHARGES FOR SERVICES -- tolls, user charges fall in this category</a:t>
            </a:r>
          </a:p>
          <a:p>
            <a:pPr lvl="1" eaLnBrk="1" hangingPunct="1">
              <a:lnSpc>
                <a:spcPct val="90000"/>
              </a:lnSpc>
            </a:pPr>
            <a:r>
              <a:rPr lang="en-US" altLang="en-US" sz="2000"/>
              <a:t>INCOME FROM PROPERTY-- rentals, property sales, loan redemption </a:t>
            </a:r>
          </a:p>
          <a:p>
            <a:pPr lvl="1" eaLnBrk="1" hangingPunct="1">
              <a:lnSpc>
                <a:spcPct val="90000"/>
              </a:lnSpc>
            </a:pPr>
            <a:r>
              <a:rPr lang="en-US" altLang="en-US" sz="2000"/>
              <a:t>CHARGES FOR RIGHTS – fee for use of property, royalty (including natural resources) </a:t>
            </a:r>
          </a:p>
          <a:p>
            <a:pPr eaLnBrk="1" hangingPunct="1">
              <a:lnSpc>
                <a:spcPct val="90000"/>
              </a:lnSpc>
            </a:pPr>
            <a:r>
              <a:rPr lang="en-US" altLang="en-US" sz="2400" b="1"/>
              <a:t>FOREIGN AID and OTHER DONATIONS</a:t>
            </a:r>
          </a:p>
          <a:p>
            <a:pPr lvl="1" eaLnBrk="1" hangingPunct="1">
              <a:lnSpc>
                <a:spcPct val="90000"/>
              </a:lnSpc>
            </a:pPr>
            <a:r>
              <a:rPr lang="en-US" altLang="en-US" sz="2000"/>
              <a:t>Grants (on or off budget)</a:t>
            </a:r>
          </a:p>
          <a:p>
            <a:pPr lvl="1" eaLnBrk="1" hangingPunct="1">
              <a:lnSpc>
                <a:spcPct val="90000"/>
              </a:lnSpc>
            </a:pPr>
            <a:r>
              <a:rPr lang="en-US" altLang="en-US" sz="2000"/>
              <a:t>Loans with some concessionary element (at least 25%)</a:t>
            </a:r>
          </a:p>
          <a:p>
            <a:pPr lvl="1" eaLnBrk="1" hangingPunct="1">
              <a:lnSpc>
                <a:spcPct val="90000"/>
              </a:lnSpc>
            </a:pPr>
            <a:r>
              <a:rPr lang="en-US" altLang="en-US" sz="2000"/>
              <a:t>International/National/Community based financing (off budget)</a:t>
            </a:r>
          </a:p>
          <a:p>
            <a:pPr eaLnBrk="1" hangingPunct="1">
              <a:lnSpc>
                <a:spcPct val="90000"/>
              </a:lnSpc>
            </a:pPr>
            <a:r>
              <a:rPr lang="en-US" altLang="en-US" sz="2400" b="1"/>
              <a:t>DEBT FINANCING</a:t>
            </a:r>
            <a:endParaRPr lang="en-US" altLang="en-US" sz="2400"/>
          </a:p>
          <a:p>
            <a:pPr lvl="1" eaLnBrk="1" hangingPunct="1">
              <a:lnSpc>
                <a:spcPct val="90000"/>
              </a:lnSpc>
            </a:pPr>
            <a:r>
              <a:rPr lang="en-US" altLang="en-US" sz="2000"/>
              <a:t>FOREIGN DEBT</a:t>
            </a:r>
          </a:p>
          <a:p>
            <a:pPr lvl="2" eaLnBrk="1" hangingPunct="1">
              <a:lnSpc>
                <a:spcPct val="90000"/>
              </a:lnSpc>
            </a:pPr>
            <a:r>
              <a:rPr lang="en-US" altLang="en-US" sz="1800"/>
              <a:t>Commercial or concessional debt</a:t>
            </a:r>
          </a:p>
          <a:p>
            <a:pPr lvl="1" eaLnBrk="1" hangingPunct="1">
              <a:lnSpc>
                <a:spcPct val="90000"/>
              </a:lnSpc>
            </a:pPr>
            <a:r>
              <a:rPr lang="en-US" altLang="en-US" sz="2000"/>
              <a:t>DOMESTIC DEBT -- private savings/investment; inflationary financing</a:t>
            </a:r>
          </a:p>
          <a:p>
            <a:pPr lvl="2" eaLnBrk="1" hangingPunct="1">
              <a:lnSpc>
                <a:spcPct val="90000"/>
              </a:lnSpc>
            </a:pPr>
            <a:r>
              <a:rPr lang="en-US" altLang="en-US" sz="1800"/>
              <a:t>REVENUE or ASSET SECURED BONDS</a:t>
            </a:r>
          </a:p>
        </p:txBody>
      </p:sp>
    </p:spTree>
    <p:extLst>
      <p:ext uri="{BB962C8B-B14F-4D97-AF65-F5344CB8AC3E}">
        <p14:creationId xmlns:p14="http://schemas.microsoft.com/office/powerpoint/2010/main" val="12493687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C94D651E-EEE9-9C47-FF13-6A727D8C98B2}"/>
              </a:ext>
            </a:extLst>
          </p:cNvPr>
          <p:cNvSpPr>
            <a:spLocks noGrp="1" noChangeArrowheads="1"/>
          </p:cNvSpPr>
          <p:nvPr>
            <p:ph type="title"/>
          </p:nvPr>
        </p:nvSpPr>
        <p:spPr>
          <a:xfrm>
            <a:off x="685800" y="228600"/>
            <a:ext cx="7772400" cy="1143000"/>
          </a:xfrm>
        </p:spPr>
        <p:txBody>
          <a:bodyPr/>
          <a:lstStyle/>
          <a:p>
            <a:pPr eaLnBrk="1" hangingPunct="1"/>
            <a:r>
              <a:rPr lang="en-US" altLang="en-US" b="1">
                <a:solidFill>
                  <a:srgbClr val="003399"/>
                </a:solidFill>
              </a:rPr>
              <a:t>Types of taxes</a:t>
            </a:r>
          </a:p>
        </p:txBody>
      </p:sp>
      <p:sp>
        <p:nvSpPr>
          <p:cNvPr id="8195" name="Rectangle 3">
            <a:extLst>
              <a:ext uri="{FF2B5EF4-FFF2-40B4-BE49-F238E27FC236}">
                <a16:creationId xmlns:a16="http://schemas.microsoft.com/office/drawing/2014/main" id="{86AC089D-C62F-AD14-70C7-626EBFD3A923}"/>
              </a:ext>
            </a:extLst>
          </p:cNvPr>
          <p:cNvSpPr>
            <a:spLocks noGrp="1" noChangeArrowheads="1"/>
          </p:cNvSpPr>
          <p:nvPr>
            <p:ph type="body" idx="1"/>
          </p:nvPr>
        </p:nvSpPr>
        <p:spPr>
          <a:xfrm>
            <a:off x="457200" y="1371600"/>
            <a:ext cx="7772400" cy="4953000"/>
          </a:xfrm>
        </p:spPr>
        <p:txBody>
          <a:bodyPr/>
          <a:lstStyle/>
          <a:p>
            <a:pPr eaLnBrk="1" hangingPunct="1">
              <a:lnSpc>
                <a:spcPct val="90000"/>
              </a:lnSpc>
              <a:defRPr/>
            </a:pPr>
            <a:r>
              <a:rPr lang="en-US" altLang="en-US" sz="2800" b="1" dirty="0"/>
              <a:t>Direct and Indirect</a:t>
            </a:r>
          </a:p>
          <a:p>
            <a:pPr lvl="1" eaLnBrk="1" hangingPunct="1">
              <a:lnSpc>
                <a:spcPct val="90000"/>
              </a:lnSpc>
              <a:defRPr/>
            </a:pPr>
            <a:r>
              <a:rPr lang="en-US" altLang="en-US" sz="2400" b="1" dirty="0"/>
              <a:t>Direct taxes</a:t>
            </a:r>
            <a:r>
              <a:rPr lang="en-US" altLang="en-US" sz="2400" dirty="0"/>
              <a:t> have a real or legal entity as subject of the tax: income and wealth;  typically charges on factors of production (labor, capital, land)</a:t>
            </a:r>
          </a:p>
          <a:p>
            <a:pPr lvl="1" eaLnBrk="1" hangingPunct="1">
              <a:lnSpc>
                <a:spcPct val="90000"/>
              </a:lnSpc>
              <a:defRPr/>
            </a:pPr>
            <a:r>
              <a:rPr lang="en-US" altLang="en-US" sz="2400" b="1" dirty="0"/>
              <a:t>Indirect taxes</a:t>
            </a:r>
            <a:r>
              <a:rPr lang="en-US" altLang="en-US" sz="2400" dirty="0"/>
              <a:t> target transactions such as international trade, sales, contracts, etc.; typically charges on market transactions of goods/services</a:t>
            </a:r>
          </a:p>
          <a:p>
            <a:pPr eaLnBrk="1" hangingPunct="1">
              <a:lnSpc>
                <a:spcPct val="90000"/>
              </a:lnSpc>
              <a:defRPr/>
            </a:pPr>
            <a:r>
              <a:rPr lang="en-US" altLang="en-US" sz="2800" b="1" dirty="0"/>
              <a:t>Major tax bases</a:t>
            </a:r>
          </a:p>
          <a:p>
            <a:pPr lvl="1" eaLnBrk="1" hangingPunct="1">
              <a:lnSpc>
                <a:spcPct val="90000"/>
              </a:lnSpc>
              <a:defRPr/>
            </a:pPr>
            <a:r>
              <a:rPr lang="en-US" altLang="en-US" sz="2400" b="1" dirty="0"/>
              <a:t>Income</a:t>
            </a:r>
          </a:p>
          <a:p>
            <a:pPr lvl="1" eaLnBrk="1" hangingPunct="1">
              <a:lnSpc>
                <a:spcPct val="90000"/>
              </a:lnSpc>
              <a:defRPr/>
            </a:pPr>
            <a:r>
              <a:rPr lang="en-US" altLang="en-US" sz="2400" b="1" dirty="0"/>
              <a:t>Consumption</a:t>
            </a:r>
          </a:p>
          <a:p>
            <a:pPr lvl="1" eaLnBrk="1" hangingPunct="1">
              <a:lnSpc>
                <a:spcPct val="90000"/>
              </a:lnSpc>
              <a:defRPr/>
            </a:pPr>
            <a:r>
              <a:rPr lang="en-US" altLang="en-US" sz="2400" b="1" dirty="0"/>
              <a:t>International trade (declining with GATT/WTO reductions in trade taxes)</a:t>
            </a:r>
          </a:p>
          <a:p>
            <a:pPr lvl="1" eaLnBrk="1" hangingPunct="1">
              <a:lnSpc>
                <a:spcPct val="90000"/>
              </a:lnSpc>
              <a:defRPr/>
            </a:pPr>
            <a:r>
              <a:rPr lang="en-US" altLang="en-US" sz="2400" b="1" dirty="0"/>
              <a:t>Rents -- natural resources, including land</a:t>
            </a:r>
          </a:p>
          <a:p>
            <a:pPr marL="457200" lvl="1" indent="0" eaLnBrk="1" hangingPunct="1">
              <a:lnSpc>
                <a:spcPct val="90000"/>
              </a:lnSpc>
              <a:buFontTx/>
              <a:buNone/>
              <a:defRPr/>
            </a:pPr>
            <a:endParaRPr lang="en-US" altLang="en-US" sz="2400" b="1" dirty="0"/>
          </a:p>
        </p:txBody>
      </p:sp>
    </p:spTree>
    <p:extLst>
      <p:ext uri="{BB962C8B-B14F-4D97-AF65-F5344CB8AC3E}">
        <p14:creationId xmlns:p14="http://schemas.microsoft.com/office/powerpoint/2010/main" val="32850573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1D349287-729D-1120-C72D-ED33097A765F}"/>
              </a:ext>
            </a:extLst>
          </p:cNvPr>
          <p:cNvSpPr>
            <a:spLocks noGrp="1" noChangeArrowheads="1"/>
          </p:cNvSpPr>
          <p:nvPr>
            <p:ph type="title"/>
          </p:nvPr>
        </p:nvSpPr>
        <p:spPr>
          <a:xfrm>
            <a:off x="609600" y="76200"/>
            <a:ext cx="7772400" cy="990600"/>
          </a:xfrm>
        </p:spPr>
        <p:txBody>
          <a:bodyPr/>
          <a:lstStyle/>
          <a:p>
            <a:pPr eaLnBrk="1" hangingPunct="1"/>
            <a:r>
              <a:rPr lang="en-US" altLang="en-US" sz="3200" b="1">
                <a:solidFill>
                  <a:srgbClr val="003399"/>
                </a:solidFill>
              </a:rPr>
              <a:t>Tax </a:t>
            </a:r>
            <a:r>
              <a:rPr lang="en-US" altLang="en-US" sz="3200" i="1">
                <a:solidFill>
                  <a:srgbClr val="003399"/>
                </a:solidFill>
              </a:rPr>
              <a:t>versus</a:t>
            </a:r>
            <a:r>
              <a:rPr lang="en-US" altLang="en-US" sz="3200" b="1">
                <a:solidFill>
                  <a:srgbClr val="003399"/>
                </a:solidFill>
              </a:rPr>
              <a:t> price or user charge for supply of goods or services</a:t>
            </a:r>
          </a:p>
        </p:txBody>
      </p:sp>
      <p:sp>
        <p:nvSpPr>
          <p:cNvPr id="35843" name="Rectangle 3">
            <a:extLst>
              <a:ext uri="{FF2B5EF4-FFF2-40B4-BE49-F238E27FC236}">
                <a16:creationId xmlns:a16="http://schemas.microsoft.com/office/drawing/2014/main" id="{A5EAC431-531D-8024-19DB-7BAC3D362E51}"/>
              </a:ext>
            </a:extLst>
          </p:cNvPr>
          <p:cNvSpPr>
            <a:spLocks noGrp="1" noChangeArrowheads="1"/>
          </p:cNvSpPr>
          <p:nvPr>
            <p:ph type="body" idx="1"/>
          </p:nvPr>
        </p:nvSpPr>
        <p:spPr>
          <a:xfrm>
            <a:off x="381000" y="1143000"/>
            <a:ext cx="8458200" cy="5257800"/>
          </a:xfrm>
        </p:spPr>
        <p:txBody>
          <a:bodyPr/>
          <a:lstStyle/>
          <a:p>
            <a:pPr eaLnBrk="1" hangingPunct="1">
              <a:lnSpc>
                <a:spcPct val="90000"/>
              </a:lnSpc>
            </a:pPr>
            <a:r>
              <a:rPr lang="en-US" altLang="en-US" sz="2600" b="1"/>
              <a:t>TAX</a:t>
            </a:r>
          </a:p>
          <a:p>
            <a:pPr lvl="1" eaLnBrk="1" hangingPunct="1">
              <a:lnSpc>
                <a:spcPct val="90000"/>
              </a:lnSpc>
            </a:pPr>
            <a:r>
              <a:rPr lang="en-US" altLang="en-US" sz="2300">
                <a:solidFill>
                  <a:srgbClr val="FF0000"/>
                </a:solidFill>
              </a:rPr>
              <a:t>Involuntary (legally sanctioned) transfer of resources to public sector</a:t>
            </a:r>
            <a:r>
              <a:rPr lang="en-US" altLang="en-US" sz="2300"/>
              <a:t>.  Tax captures a </a:t>
            </a:r>
            <a:r>
              <a:rPr lang="en-US" altLang="en-US" sz="2300" b="1"/>
              <a:t>share of market surplus</a:t>
            </a:r>
            <a:r>
              <a:rPr lang="en-US" altLang="en-US" sz="2300"/>
              <a:t> by raising the price paid in a market </a:t>
            </a:r>
            <a:r>
              <a:rPr lang="en-US" altLang="en-US" sz="2300" b="1" i="1"/>
              <a:t>above the full cost of supply. Private sector has to cover costs to be still willing to supply – tax has to be over and above this minimum cost.</a:t>
            </a:r>
          </a:p>
          <a:p>
            <a:pPr eaLnBrk="1" hangingPunct="1">
              <a:lnSpc>
                <a:spcPct val="90000"/>
              </a:lnSpc>
            </a:pPr>
            <a:r>
              <a:rPr lang="en-US" altLang="en-US" sz="2600" b="1"/>
              <a:t>USER CHARGE</a:t>
            </a:r>
          </a:p>
          <a:p>
            <a:pPr lvl="1" eaLnBrk="1" hangingPunct="1">
              <a:lnSpc>
                <a:spcPct val="90000"/>
              </a:lnSpc>
            </a:pPr>
            <a:r>
              <a:rPr lang="en-US" altLang="en-US" sz="2300">
                <a:solidFill>
                  <a:srgbClr val="FF0000"/>
                </a:solidFill>
              </a:rPr>
              <a:t>Voluntary transfer of resources to public sector in exchange for service </a:t>
            </a:r>
            <a:r>
              <a:rPr lang="en-US" altLang="en-US" sz="2300"/>
              <a:t>(charge is fixed or “involuntary” but voluntary choice in use of service.)  User charge is paid by beneficiary and covers </a:t>
            </a:r>
            <a:r>
              <a:rPr lang="en-US" altLang="en-US" sz="2300" b="1" i="1"/>
              <a:t>all or part of the cost of supply</a:t>
            </a:r>
            <a:r>
              <a:rPr lang="en-US" altLang="en-US" sz="2300"/>
              <a:t> of a good or service to beneficiary.  Beneficiary is willing to pay all or part of gross benefit derived from purchase. </a:t>
            </a:r>
            <a:r>
              <a:rPr lang="en-US" altLang="en-US" sz="2300" i="1"/>
              <a:t>Quite similar to private goods</a:t>
            </a:r>
            <a:r>
              <a:rPr lang="en-US" altLang="en-US" sz="2300"/>
              <a:t>.</a:t>
            </a:r>
          </a:p>
          <a:p>
            <a:pPr eaLnBrk="1" hangingPunct="1">
              <a:lnSpc>
                <a:spcPct val="80000"/>
              </a:lnSpc>
            </a:pPr>
            <a:r>
              <a:rPr lang="en-US" altLang="en-US" sz="2400" b="1"/>
              <a:t>Note:</a:t>
            </a:r>
            <a:r>
              <a:rPr lang="en-US" altLang="en-US" sz="2400"/>
              <a:t>  </a:t>
            </a:r>
            <a:r>
              <a:rPr lang="en-US" altLang="en-US" sz="2400" i="1"/>
              <a:t>Administrative cost recovery fees are taxes as no benefit related to fee</a:t>
            </a:r>
            <a:r>
              <a:rPr lang="en-US" altLang="en-US" sz="2800" i="1"/>
              <a:t>. e.g.</a:t>
            </a:r>
            <a:r>
              <a:rPr lang="en-US" altLang="en-US" sz="2000" i="1"/>
              <a:t>, fee for issuing passport or registering a company.</a:t>
            </a:r>
            <a:endParaRPr lang="en-US" altLang="en-US" sz="2400" i="1"/>
          </a:p>
        </p:txBody>
      </p:sp>
    </p:spTree>
    <p:extLst>
      <p:ext uri="{BB962C8B-B14F-4D97-AF65-F5344CB8AC3E}">
        <p14:creationId xmlns:p14="http://schemas.microsoft.com/office/powerpoint/2010/main" val="5438483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40B268DE-320B-C809-F368-B95EF0889B6A}"/>
              </a:ext>
            </a:extLst>
          </p:cNvPr>
          <p:cNvSpPr>
            <a:spLocks noGrp="1"/>
          </p:cNvSpPr>
          <p:nvPr>
            <p:ph type="title"/>
          </p:nvPr>
        </p:nvSpPr>
        <p:spPr>
          <a:xfrm>
            <a:off x="762000" y="0"/>
            <a:ext cx="7772400" cy="1371600"/>
          </a:xfrm>
        </p:spPr>
        <p:txBody>
          <a:bodyPr/>
          <a:lstStyle/>
          <a:p>
            <a:r>
              <a:rPr lang="en-US" altLang="en-US" b="1">
                <a:solidFill>
                  <a:srgbClr val="003399"/>
                </a:solidFill>
              </a:rPr>
              <a:t>Taxes </a:t>
            </a:r>
            <a:r>
              <a:rPr lang="en-US" altLang="en-US" b="1" i="1">
                <a:solidFill>
                  <a:srgbClr val="003399"/>
                </a:solidFill>
              </a:rPr>
              <a:t>vs</a:t>
            </a:r>
            <a:r>
              <a:rPr lang="en-US" altLang="en-US" b="1">
                <a:solidFill>
                  <a:srgbClr val="003399"/>
                </a:solidFill>
              </a:rPr>
              <a:t> User Charges</a:t>
            </a:r>
          </a:p>
        </p:txBody>
      </p:sp>
      <p:sp>
        <p:nvSpPr>
          <p:cNvPr id="38915" name="Content Placeholder 2">
            <a:extLst>
              <a:ext uri="{FF2B5EF4-FFF2-40B4-BE49-F238E27FC236}">
                <a16:creationId xmlns:a16="http://schemas.microsoft.com/office/drawing/2014/main" id="{0E03CCE9-9785-A087-E568-5C39AE776219}"/>
              </a:ext>
            </a:extLst>
          </p:cNvPr>
          <p:cNvSpPr>
            <a:spLocks noGrp="1"/>
          </p:cNvSpPr>
          <p:nvPr>
            <p:ph idx="1"/>
          </p:nvPr>
        </p:nvSpPr>
        <p:spPr>
          <a:xfrm>
            <a:off x="381000" y="1219200"/>
            <a:ext cx="8382000" cy="5638800"/>
          </a:xfrm>
        </p:spPr>
        <p:txBody>
          <a:bodyPr/>
          <a:lstStyle/>
          <a:p>
            <a:r>
              <a:rPr lang="en-US" altLang="en-US" b="1"/>
              <a:t>Tax finance</a:t>
            </a:r>
          </a:p>
          <a:p>
            <a:pPr lvl="1"/>
            <a:r>
              <a:rPr lang="en-US" altLang="en-US" sz="2400" b="1"/>
              <a:t>Costs to economy of raising revenues </a:t>
            </a:r>
            <a:r>
              <a:rPr lang="en-US" altLang="en-US" sz="2400"/>
              <a:t>include </a:t>
            </a:r>
            <a:r>
              <a:rPr lang="en-US" altLang="en-US" sz="2400" b="1" i="1">
                <a:solidFill>
                  <a:srgbClr val="FF0000"/>
                </a:solidFill>
              </a:rPr>
              <a:t>compliance and administrative costs plus economic efficiency cost</a:t>
            </a:r>
            <a:r>
              <a:rPr lang="en-US" altLang="en-US" sz="2400" i="1">
                <a:solidFill>
                  <a:srgbClr val="FF0000"/>
                </a:solidFill>
              </a:rPr>
              <a:t>.  </a:t>
            </a:r>
            <a:r>
              <a:rPr lang="en-US" altLang="en-US" sz="2400"/>
              <a:t>Typically </a:t>
            </a:r>
            <a:r>
              <a:rPr lang="en-US" altLang="en-US" sz="2400" b="1">
                <a:solidFill>
                  <a:srgbClr val="FF0000"/>
                </a:solidFill>
              </a:rPr>
              <a:t>marginal cost of public funds </a:t>
            </a:r>
            <a:r>
              <a:rPr lang="en-US" altLang="en-US" sz="2400"/>
              <a:t>could be as high as 20% to 30% of tax revenue.   These costs will be discussed and defined when covering taxes. </a:t>
            </a:r>
          </a:p>
          <a:p>
            <a:r>
              <a:rPr lang="en-US" altLang="en-US" b="1"/>
              <a:t>User charges</a:t>
            </a:r>
          </a:p>
          <a:p>
            <a:pPr lvl="1"/>
            <a:r>
              <a:rPr lang="en-US" altLang="en-US" sz="2400" b="1"/>
              <a:t>Cost of collection borne by respective agencies and departments. </a:t>
            </a:r>
            <a:r>
              <a:rPr lang="en-US" altLang="en-US" sz="2400"/>
              <a:t>User fees revenues should be included in the respective budgets.</a:t>
            </a:r>
            <a:r>
              <a:rPr lang="en-US" altLang="en-US" sz="2400" b="1"/>
              <a:t> </a:t>
            </a:r>
            <a:r>
              <a:rPr lang="en-US" altLang="en-US" sz="2400"/>
              <a:t>User fees remove low value demand with MB &lt; MC, but possible loss of surplus to </a:t>
            </a:r>
            <a:r>
              <a:rPr lang="en-US" altLang="en-US" sz="2400" b="1"/>
              <a:t>poor users </a:t>
            </a:r>
            <a:r>
              <a:rPr lang="en-US" altLang="en-US" sz="2400"/>
              <a:t>or loss of </a:t>
            </a:r>
            <a:r>
              <a:rPr lang="en-US" altLang="en-US" sz="2400" b="1"/>
              <a:t>positive economic externalities.</a:t>
            </a:r>
          </a:p>
        </p:txBody>
      </p:sp>
    </p:spTree>
    <p:extLst>
      <p:ext uri="{BB962C8B-B14F-4D97-AF65-F5344CB8AC3E}">
        <p14:creationId xmlns:p14="http://schemas.microsoft.com/office/powerpoint/2010/main" val="7213948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0"/>
            <a:ext cx="7772400" cy="1143000"/>
          </a:xfrm>
        </p:spPr>
        <p:txBody>
          <a:bodyPr/>
          <a:lstStyle/>
          <a:p>
            <a:r>
              <a:rPr lang="en-US" b="1" dirty="0">
                <a:cs typeface="Times New Roman" panose="02020603050405020304" pitchFamily="18" charset="0"/>
              </a:rPr>
              <a:t>Principles of Taxation: Evaluating a Tax</a:t>
            </a:r>
            <a:endParaRPr lang="en-US" b="1" dirty="0"/>
          </a:p>
        </p:txBody>
      </p:sp>
      <p:sp>
        <p:nvSpPr>
          <p:cNvPr id="3" name="Content Placeholder 2"/>
          <p:cNvSpPr>
            <a:spLocks noGrp="1"/>
          </p:cNvSpPr>
          <p:nvPr>
            <p:ph idx="1"/>
          </p:nvPr>
        </p:nvSpPr>
        <p:spPr>
          <a:xfrm>
            <a:off x="628650" y="1371600"/>
            <a:ext cx="7886700" cy="4840014"/>
          </a:xfrm>
        </p:spPr>
        <p:txBody>
          <a:bodyPr>
            <a:normAutofit fontScale="62500" lnSpcReduction="20000"/>
          </a:bodyPr>
          <a:lstStyle/>
          <a:p>
            <a:pPr marL="457200" indent="-457200">
              <a:buFont typeface="Wingdings" panose="05000000000000000000" pitchFamily="2" charset="2"/>
              <a:buChar char="Ø"/>
            </a:pPr>
            <a:r>
              <a:rPr lang="en-US" altLang="en-US" dirty="0">
                <a:solidFill>
                  <a:schemeClr val="tx1"/>
                </a:solidFill>
              </a:rPr>
              <a:t>Is the Tax Equitable? (EQUITY PRINCIPLE)</a:t>
            </a:r>
          </a:p>
          <a:p>
            <a:pPr marL="457200" indent="-457200">
              <a:buFont typeface="Wingdings" panose="05000000000000000000" pitchFamily="2" charset="2"/>
              <a:buChar char="Ø"/>
            </a:pPr>
            <a:endParaRPr lang="en-US" altLang="en-US" dirty="0">
              <a:solidFill>
                <a:schemeClr val="tx1"/>
              </a:solidFill>
            </a:endParaRPr>
          </a:p>
          <a:p>
            <a:pPr marL="457200" indent="-457200">
              <a:buFont typeface="Wingdings" panose="05000000000000000000" pitchFamily="2" charset="2"/>
              <a:buChar char="Ø"/>
            </a:pPr>
            <a:r>
              <a:rPr lang="en-US" altLang="en-US" dirty="0">
                <a:solidFill>
                  <a:schemeClr val="tx1"/>
                </a:solidFill>
              </a:rPr>
              <a:t>Does the Tax distort Economic decision making? (EFFICIENCY PRINCIPLE)</a:t>
            </a:r>
          </a:p>
          <a:p>
            <a:pPr marL="457200" indent="-457200">
              <a:buFont typeface="Wingdings" panose="05000000000000000000" pitchFamily="2" charset="2"/>
              <a:buChar char="Ø"/>
            </a:pPr>
            <a:endParaRPr lang="en-US" altLang="en-US" dirty="0">
              <a:solidFill>
                <a:schemeClr val="tx1"/>
              </a:solidFill>
            </a:endParaRPr>
          </a:p>
          <a:p>
            <a:pPr marL="457200" indent="-457200">
              <a:buFont typeface="Wingdings" panose="05000000000000000000" pitchFamily="2" charset="2"/>
              <a:buChar char="Ø"/>
            </a:pPr>
            <a:r>
              <a:rPr lang="en-US" altLang="en-US" dirty="0">
                <a:solidFill>
                  <a:schemeClr val="tx1"/>
                </a:solidFill>
              </a:rPr>
              <a:t>Can the Tax be collected with least cost? (ADMINISTRATIVE SIMPLICITY)</a:t>
            </a:r>
          </a:p>
          <a:p>
            <a:pPr marL="457200" indent="-457200">
              <a:buFont typeface="Wingdings" panose="05000000000000000000" pitchFamily="2" charset="2"/>
              <a:buChar char="Ø"/>
            </a:pPr>
            <a:endParaRPr lang="en-US" altLang="en-US" dirty="0">
              <a:solidFill>
                <a:schemeClr val="tx1"/>
              </a:solidFill>
            </a:endParaRPr>
          </a:p>
          <a:p>
            <a:pPr marL="457200" indent="-457200">
              <a:buFont typeface="Wingdings" panose="05000000000000000000" pitchFamily="2" charset="2"/>
              <a:buChar char="Ø"/>
            </a:pPr>
            <a:r>
              <a:rPr lang="en-US" altLang="en-US" dirty="0">
                <a:solidFill>
                  <a:schemeClr val="tx1"/>
                </a:solidFill>
              </a:rPr>
              <a:t>Other principles to keep in mind and related to the above</a:t>
            </a:r>
          </a:p>
          <a:p>
            <a:pPr marL="1173163" lvl="3" indent="-457200">
              <a:buFont typeface="Wingdings" panose="05000000000000000000" pitchFamily="2" charset="2"/>
              <a:buChar char="Ø"/>
            </a:pPr>
            <a:r>
              <a:rPr lang="en-US" altLang="en-US" sz="2600" dirty="0">
                <a:solidFill>
                  <a:schemeClr val="tx1"/>
                </a:solidFill>
              </a:rPr>
              <a:t>Stability of Revenues</a:t>
            </a:r>
          </a:p>
          <a:p>
            <a:pPr marL="1173163" lvl="3" indent="-457200">
              <a:buFont typeface="Wingdings" panose="05000000000000000000" pitchFamily="2" charset="2"/>
              <a:buChar char="Ø"/>
            </a:pPr>
            <a:r>
              <a:rPr lang="en-US" altLang="en-US" sz="2600" dirty="0">
                <a:solidFill>
                  <a:schemeClr val="tx1"/>
                </a:solidFill>
              </a:rPr>
              <a:t>Neutrality</a:t>
            </a:r>
          </a:p>
          <a:p>
            <a:pPr marL="1173163" lvl="3" indent="-457200">
              <a:buFont typeface="Wingdings" panose="05000000000000000000" pitchFamily="2" charset="2"/>
              <a:buChar char="Ø"/>
            </a:pPr>
            <a:r>
              <a:rPr lang="en-US" altLang="en-US" sz="2600" dirty="0">
                <a:solidFill>
                  <a:schemeClr val="tx1"/>
                </a:solidFill>
              </a:rPr>
              <a:t>Ability to Pay and Benefit principle</a:t>
            </a:r>
          </a:p>
          <a:p>
            <a:endParaRPr lang="en-US" altLang="en-US" dirty="0">
              <a:solidFill>
                <a:schemeClr val="tx1"/>
              </a:solidFill>
            </a:endParaRPr>
          </a:p>
          <a:p>
            <a:endParaRPr lang="en-US" altLang="en-US" dirty="0">
              <a:solidFill>
                <a:schemeClr val="tx1"/>
              </a:solidFill>
            </a:endParaRPr>
          </a:p>
          <a:p>
            <a:r>
              <a:rPr lang="en-US" altLang="en-US" dirty="0">
                <a:solidFill>
                  <a:schemeClr val="tx1"/>
                </a:solidFill>
              </a:rPr>
              <a:t>Principle to keep in mind – Taxes are a by-product of Private Economic Activity (with some exceptions) – Typically forgotten by those working on Tax </a:t>
            </a:r>
          </a:p>
        </p:txBody>
      </p:sp>
      <p:sp>
        <p:nvSpPr>
          <p:cNvPr id="4" name="Slide Number Placeholder 3"/>
          <p:cNvSpPr>
            <a:spLocks noGrp="1"/>
          </p:cNvSpPr>
          <p:nvPr>
            <p:ph type="sldNum" sz="quarter" idx="12"/>
          </p:nvPr>
        </p:nvSpPr>
        <p:spPr/>
        <p:txBody>
          <a:bodyPr/>
          <a:lstStyle/>
          <a:p>
            <a:fld id="{4E519381-62F2-4C60-99AC-EDADDE1A24E5}" type="slidenum">
              <a:rPr lang="en-US" smtClean="0"/>
              <a:t>12</a:t>
            </a:fld>
            <a:endParaRPr lang="en-US"/>
          </a:p>
        </p:txBody>
      </p:sp>
    </p:spTree>
    <p:extLst>
      <p:ext uri="{BB962C8B-B14F-4D97-AF65-F5344CB8AC3E}">
        <p14:creationId xmlns:p14="http://schemas.microsoft.com/office/powerpoint/2010/main" val="19200314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37645"/>
            <a:ext cx="9329505" cy="576263"/>
          </a:xfrm>
        </p:spPr>
        <p:txBody>
          <a:bodyPr/>
          <a:lstStyle/>
          <a:p>
            <a:r>
              <a:rPr lang="en-US" sz="3200" b="1"/>
              <a:t>Estimating the Revenue Impact of policy </a:t>
            </a:r>
            <a:r>
              <a:rPr lang="en-US" sz="3200" b="1" dirty="0"/>
              <a:t>O</a:t>
            </a:r>
            <a:r>
              <a:rPr lang="en-US" sz="3200" b="1"/>
              <a:t>ptions</a:t>
            </a:r>
            <a:r>
              <a:rPr lang="en-US" sz="3200" b="1" dirty="0"/>
              <a:t>?</a:t>
            </a:r>
          </a:p>
        </p:txBody>
      </p:sp>
      <p:sp>
        <p:nvSpPr>
          <p:cNvPr id="3" name="Content Placeholder 2"/>
          <p:cNvSpPr>
            <a:spLocks noGrp="1"/>
          </p:cNvSpPr>
          <p:nvPr>
            <p:ph idx="1"/>
          </p:nvPr>
        </p:nvSpPr>
        <p:spPr>
          <a:xfrm>
            <a:off x="381000" y="1066800"/>
            <a:ext cx="8534400" cy="5029200"/>
          </a:xfrm>
        </p:spPr>
        <p:txBody>
          <a:bodyPr>
            <a:noAutofit/>
          </a:bodyPr>
          <a:lstStyle/>
          <a:p>
            <a:pPr marL="457200" indent="-457200">
              <a:buFont typeface="Wingdings" panose="05000000000000000000" pitchFamily="2" charset="2"/>
              <a:buChar char="Ø"/>
            </a:pPr>
            <a:r>
              <a:rPr lang="en-US" sz="1600" dirty="0">
                <a:solidFill>
                  <a:schemeClr val="tx1"/>
                </a:solidFill>
              </a:rPr>
              <a:t>What is the potential tax that can be collected?</a:t>
            </a:r>
          </a:p>
          <a:p>
            <a:pPr marL="457200" indent="-457200">
              <a:buFont typeface="Wingdings" panose="05000000000000000000" pitchFamily="2" charset="2"/>
              <a:buChar char="Ø"/>
            </a:pPr>
            <a:r>
              <a:rPr lang="en-US" sz="1600" dirty="0">
                <a:solidFill>
                  <a:schemeClr val="tx1"/>
                </a:solidFill>
              </a:rPr>
              <a:t>What part of the tax base has been exempted by policy measures (policy gap)?</a:t>
            </a:r>
          </a:p>
          <a:p>
            <a:pPr marL="1173163" lvl="3" indent="-457200">
              <a:buFont typeface="Wingdings" panose="05000000000000000000" pitchFamily="2" charset="2"/>
              <a:buChar char="Ø"/>
            </a:pPr>
            <a:r>
              <a:rPr lang="en-US" sz="1600" dirty="0">
                <a:solidFill>
                  <a:schemeClr val="tx1"/>
                </a:solidFill>
              </a:rPr>
              <a:t>Tax expenditure estimates are needed</a:t>
            </a:r>
          </a:p>
          <a:p>
            <a:pPr marL="457200" indent="-457200">
              <a:buFont typeface="Wingdings" panose="05000000000000000000" pitchFamily="2" charset="2"/>
              <a:buChar char="Ø"/>
            </a:pPr>
            <a:r>
              <a:rPr lang="en-US" sz="1600" dirty="0">
                <a:solidFill>
                  <a:schemeClr val="tx1"/>
                </a:solidFill>
              </a:rPr>
              <a:t>What part of the tax is not collected as a result of imperfect compliance (compliance gap)?</a:t>
            </a:r>
          </a:p>
          <a:p>
            <a:pPr marL="1173163" lvl="3" indent="-457200">
              <a:buFont typeface="Wingdings" panose="05000000000000000000" pitchFamily="2" charset="2"/>
              <a:buChar char="Ø"/>
            </a:pPr>
            <a:r>
              <a:rPr lang="en-US" sz="1600" dirty="0">
                <a:solidFill>
                  <a:schemeClr val="tx1"/>
                </a:solidFill>
              </a:rPr>
              <a:t>Tax gap needs to be estimated</a:t>
            </a:r>
          </a:p>
          <a:p>
            <a:pPr marL="457200" indent="-457200">
              <a:buFont typeface="Wingdings" panose="05000000000000000000" pitchFamily="2" charset="2"/>
              <a:buChar char="Ø"/>
            </a:pPr>
            <a:r>
              <a:rPr lang="en-US" sz="1600" dirty="0">
                <a:solidFill>
                  <a:schemeClr val="tx1"/>
                </a:solidFill>
              </a:rPr>
              <a:t>What is the elasticity of the tax base to the rates?</a:t>
            </a:r>
          </a:p>
          <a:p>
            <a:pPr marL="1173163" lvl="3" indent="-457200">
              <a:buFont typeface="Wingdings" panose="05000000000000000000" pitchFamily="2" charset="2"/>
              <a:buChar char="Ø"/>
            </a:pPr>
            <a:r>
              <a:rPr lang="en-US" sz="1600" dirty="0">
                <a:solidFill>
                  <a:schemeClr val="tx1"/>
                </a:solidFill>
              </a:rPr>
              <a:t>Estimates includes elasticity of investment to the user cost of capital</a:t>
            </a:r>
          </a:p>
          <a:p>
            <a:pPr marL="1173163" lvl="3" indent="-457200">
              <a:buFont typeface="Wingdings" panose="05000000000000000000" pitchFamily="2" charset="2"/>
              <a:buChar char="Ø"/>
            </a:pPr>
            <a:r>
              <a:rPr lang="en-US" sz="1600" dirty="0">
                <a:solidFill>
                  <a:schemeClr val="tx1"/>
                </a:solidFill>
              </a:rPr>
              <a:t>Elasticity of FDI to tax rates for different kinds of FDI</a:t>
            </a:r>
          </a:p>
          <a:p>
            <a:pPr marL="457200" indent="-457200">
              <a:buFont typeface="Wingdings" panose="05000000000000000000" pitchFamily="2" charset="2"/>
              <a:buChar char="Ø"/>
            </a:pPr>
            <a:r>
              <a:rPr lang="en-US" sz="1600" dirty="0">
                <a:solidFill>
                  <a:schemeClr val="tx1"/>
                </a:solidFill>
              </a:rPr>
              <a:t>What is the role of tax policy to address market failures?</a:t>
            </a:r>
          </a:p>
          <a:p>
            <a:pPr marL="1173163" lvl="3" indent="-457200">
              <a:buFont typeface="Wingdings" panose="05000000000000000000" pitchFamily="2" charset="2"/>
              <a:buChar char="Ø"/>
            </a:pPr>
            <a:r>
              <a:rPr lang="en-US" sz="1600" dirty="0">
                <a:solidFill>
                  <a:schemeClr val="tx1"/>
                </a:solidFill>
              </a:rPr>
              <a:t>Estimating the social returns to investment versus the private financial returns for different kinds of investment</a:t>
            </a:r>
          </a:p>
          <a:p>
            <a:pPr marL="457200" indent="-457200">
              <a:buFont typeface="Wingdings" panose="05000000000000000000" pitchFamily="2" charset="2"/>
              <a:buChar char="Ø"/>
            </a:pPr>
            <a:r>
              <a:rPr lang="en-US" sz="1600" dirty="0">
                <a:solidFill>
                  <a:schemeClr val="tx1"/>
                </a:solidFill>
              </a:rPr>
              <a:t>This analysis applies to all taxes</a:t>
            </a:r>
          </a:p>
          <a:p>
            <a:pPr marL="1173163" lvl="3" indent="-457200">
              <a:buFont typeface="Wingdings" panose="05000000000000000000" pitchFamily="2" charset="2"/>
              <a:buChar char="Ø"/>
            </a:pPr>
            <a:r>
              <a:rPr lang="en-US" sz="1600" dirty="0">
                <a:solidFill>
                  <a:schemeClr val="tx1"/>
                </a:solidFill>
              </a:rPr>
              <a:t>Income Tax</a:t>
            </a:r>
          </a:p>
          <a:p>
            <a:pPr marL="1173163" lvl="3" indent="-457200">
              <a:buFont typeface="Wingdings" panose="05000000000000000000" pitchFamily="2" charset="2"/>
              <a:buChar char="Ø"/>
            </a:pPr>
            <a:r>
              <a:rPr lang="en-US" sz="1600" dirty="0">
                <a:solidFill>
                  <a:schemeClr val="tx1"/>
                </a:solidFill>
              </a:rPr>
              <a:t>Customs Duty</a:t>
            </a:r>
          </a:p>
          <a:p>
            <a:pPr marL="1173163" lvl="3" indent="-457200">
              <a:buFont typeface="Wingdings" panose="05000000000000000000" pitchFamily="2" charset="2"/>
              <a:buChar char="Ø"/>
            </a:pPr>
            <a:r>
              <a:rPr lang="en-US" sz="1600" dirty="0">
                <a:solidFill>
                  <a:schemeClr val="tx1"/>
                </a:solidFill>
              </a:rPr>
              <a:t>VAT</a:t>
            </a:r>
          </a:p>
          <a:p>
            <a:pPr marL="1173163" lvl="3" indent="-457200">
              <a:buFont typeface="Wingdings" panose="05000000000000000000" pitchFamily="2" charset="2"/>
              <a:buChar char="Ø"/>
            </a:pPr>
            <a:r>
              <a:rPr lang="en-US" sz="1600" dirty="0">
                <a:solidFill>
                  <a:schemeClr val="tx1"/>
                </a:solidFill>
              </a:rPr>
              <a:t>Excise</a:t>
            </a:r>
          </a:p>
          <a:p>
            <a:pPr marL="1173163" lvl="3" indent="-457200">
              <a:buFont typeface="Wingdings" panose="05000000000000000000" pitchFamily="2" charset="2"/>
              <a:buChar char="Ø"/>
            </a:pPr>
            <a:r>
              <a:rPr lang="en-US" sz="1600" dirty="0">
                <a:solidFill>
                  <a:schemeClr val="tx1"/>
                </a:solidFill>
              </a:rPr>
              <a:t>Property Tax</a:t>
            </a:r>
          </a:p>
          <a:p>
            <a:pPr marL="1173163" lvl="3" indent="-457200">
              <a:buFont typeface="Wingdings" panose="05000000000000000000" pitchFamily="2" charset="2"/>
              <a:buChar char="Ø"/>
            </a:pPr>
            <a:r>
              <a:rPr lang="en-US" sz="1600" dirty="0">
                <a:solidFill>
                  <a:schemeClr val="tx1"/>
                </a:solidFill>
              </a:rPr>
              <a:t>Royalty (extractive industries)</a:t>
            </a:r>
          </a:p>
        </p:txBody>
      </p:sp>
      <p:sp>
        <p:nvSpPr>
          <p:cNvPr id="4" name="Slide Number Placeholder 3"/>
          <p:cNvSpPr>
            <a:spLocks noGrp="1"/>
          </p:cNvSpPr>
          <p:nvPr>
            <p:ph type="sldNum" sz="quarter" idx="12"/>
          </p:nvPr>
        </p:nvSpPr>
        <p:spPr/>
        <p:txBody>
          <a:bodyPr/>
          <a:lstStyle/>
          <a:p>
            <a:fld id="{4E519381-62F2-4C60-99AC-EDADDE1A24E5}" type="slidenum">
              <a:rPr lang="en-US" smtClean="0"/>
              <a:t>13</a:t>
            </a:fld>
            <a:endParaRPr lang="en-US"/>
          </a:p>
        </p:txBody>
      </p:sp>
    </p:spTree>
    <p:extLst>
      <p:ext uri="{BB962C8B-B14F-4D97-AF65-F5344CB8AC3E}">
        <p14:creationId xmlns:p14="http://schemas.microsoft.com/office/powerpoint/2010/main" val="33316431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7772400" cy="1143000"/>
          </a:xfrm>
        </p:spPr>
        <p:txBody>
          <a:bodyPr/>
          <a:lstStyle/>
          <a:p>
            <a:r>
              <a:rPr lang="en-US" b="1" dirty="0">
                <a:solidFill>
                  <a:schemeClr val="tx1"/>
                </a:solidFill>
              </a:rPr>
              <a:t>What can we Tax, How and Why?</a:t>
            </a:r>
          </a:p>
        </p:txBody>
      </p:sp>
      <p:graphicFrame>
        <p:nvGraphicFramePr>
          <p:cNvPr id="5" name="Content Placeholder 4"/>
          <p:cNvGraphicFramePr>
            <a:graphicFrameLocks noGrp="1"/>
          </p:cNvGraphicFramePr>
          <p:nvPr>
            <p:ph idx="1"/>
          </p:nvPr>
        </p:nvGraphicFramePr>
        <p:xfrm>
          <a:off x="230280" y="1537809"/>
          <a:ext cx="8683439" cy="3908161"/>
        </p:xfrm>
        <a:graphic>
          <a:graphicData uri="http://schemas.openxmlformats.org/drawingml/2006/table">
            <a:tbl>
              <a:tblPr firstRow="1" bandRow="1">
                <a:tableStyleId>{5C22544A-7EE6-4342-B048-85BDC9FD1C3A}</a:tableStyleId>
              </a:tblPr>
              <a:tblGrid>
                <a:gridCol w="1460667">
                  <a:extLst>
                    <a:ext uri="{9D8B030D-6E8A-4147-A177-3AD203B41FA5}">
                      <a16:colId xmlns:a16="http://schemas.microsoft.com/office/drawing/2014/main" val="1251979804"/>
                    </a:ext>
                  </a:extLst>
                </a:gridCol>
                <a:gridCol w="1712869">
                  <a:extLst>
                    <a:ext uri="{9D8B030D-6E8A-4147-A177-3AD203B41FA5}">
                      <a16:colId xmlns:a16="http://schemas.microsoft.com/office/drawing/2014/main" val="1424200730"/>
                    </a:ext>
                  </a:extLst>
                </a:gridCol>
                <a:gridCol w="1113100">
                  <a:extLst>
                    <a:ext uri="{9D8B030D-6E8A-4147-A177-3AD203B41FA5}">
                      <a16:colId xmlns:a16="http://schemas.microsoft.com/office/drawing/2014/main" val="1806341924"/>
                    </a:ext>
                  </a:extLst>
                </a:gridCol>
                <a:gridCol w="2137697">
                  <a:extLst>
                    <a:ext uri="{9D8B030D-6E8A-4147-A177-3AD203B41FA5}">
                      <a16:colId xmlns:a16="http://schemas.microsoft.com/office/drawing/2014/main" val="1674015492"/>
                    </a:ext>
                  </a:extLst>
                </a:gridCol>
                <a:gridCol w="2259106">
                  <a:extLst>
                    <a:ext uri="{9D8B030D-6E8A-4147-A177-3AD203B41FA5}">
                      <a16:colId xmlns:a16="http://schemas.microsoft.com/office/drawing/2014/main" val="2980343478"/>
                    </a:ext>
                  </a:extLst>
                </a:gridCol>
              </a:tblGrid>
              <a:tr h="480060">
                <a:tc>
                  <a:txBody>
                    <a:bodyPr/>
                    <a:lstStyle/>
                    <a:p>
                      <a:r>
                        <a:rPr lang="en-US" sz="1400" dirty="0"/>
                        <a:t>Base/Tax Handles</a:t>
                      </a:r>
                    </a:p>
                  </a:txBody>
                  <a:tcPr marL="68580" marR="68580" marT="34290" marB="34290"/>
                </a:tc>
                <a:tc>
                  <a:txBody>
                    <a:bodyPr/>
                    <a:lstStyle/>
                    <a:p>
                      <a:pPr algn="ctr"/>
                      <a:r>
                        <a:rPr lang="en-US" sz="1400" dirty="0"/>
                        <a:t>Instrument</a:t>
                      </a:r>
                    </a:p>
                  </a:txBody>
                  <a:tcPr marL="68580" marR="68580" marT="34290" marB="34290"/>
                </a:tc>
                <a:tc>
                  <a:txBody>
                    <a:bodyPr/>
                    <a:lstStyle/>
                    <a:p>
                      <a:pPr algn="ctr"/>
                      <a:r>
                        <a:rPr lang="en-US" sz="1400" dirty="0"/>
                        <a:t>Equitable?</a:t>
                      </a:r>
                    </a:p>
                  </a:txBody>
                  <a:tcPr marL="68580" marR="68580" marT="34290" marB="34290"/>
                </a:tc>
                <a:tc>
                  <a:txBody>
                    <a:bodyPr/>
                    <a:lstStyle/>
                    <a:p>
                      <a:pPr algn="ctr"/>
                      <a:r>
                        <a:rPr lang="en-US" sz="1400" dirty="0"/>
                        <a:t>Efficient?</a:t>
                      </a:r>
                    </a:p>
                  </a:txBody>
                  <a:tcPr marL="68580" marR="68580" marT="34290" marB="34290"/>
                </a:tc>
                <a:tc>
                  <a:txBody>
                    <a:bodyPr/>
                    <a:lstStyle/>
                    <a:p>
                      <a:pPr algn="ctr"/>
                      <a:r>
                        <a:rPr lang="en-US" sz="1400" dirty="0"/>
                        <a:t>Easy to Collect?</a:t>
                      </a:r>
                    </a:p>
                  </a:txBody>
                  <a:tcPr marL="68580" marR="68580" marT="34290" marB="34290"/>
                </a:tc>
                <a:extLst>
                  <a:ext uri="{0D108BD9-81ED-4DB2-BD59-A6C34878D82A}">
                    <a16:rowId xmlns:a16="http://schemas.microsoft.com/office/drawing/2014/main" val="3580720968"/>
                  </a:ext>
                </a:extLst>
              </a:tr>
              <a:tr h="532501">
                <a:tc>
                  <a:txBody>
                    <a:bodyPr/>
                    <a:lstStyle/>
                    <a:p>
                      <a:r>
                        <a:rPr lang="en-US" sz="1400" dirty="0"/>
                        <a:t>Wages</a:t>
                      </a:r>
                    </a:p>
                  </a:txBody>
                  <a:tcPr marL="68580" marR="68580" marT="34290" marB="34290"/>
                </a:tc>
                <a:tc>
                  <a:txBody>
                    <a:bodyPr/>
                    <a:lstStyle/>
                    <a:p>
                      <a:pPr algn="ctr"/>
                      <a:r>
                        <a:rPr lang="en-US" sz="1400" dirty="0"/>
                        <a:t>Payroll Tax</a:t>
                      </a:r>
                    </a:p>
                  </a:txBody>
                  <a:tcPr marL="68580" marR="68580" marT="34290" marB="34290"/>
                </a:tc>
                <a:tc>
                  <a:txBody>
                    <a:bodyPr/>
                    <a:lstStyle/>
                    <a:p>
                      <a:pPr algn="ctr"/>
                      <a:r>
                        <a:rPr lang="en-US" sz="1400" dirty="0"/>
                        <a:t>No</a:t>
                      </a:r>
                    </a:p>
                  </a:txBody>
                  <a:tcPr marL="68580" marR="68580" marT="34290" marB="34290"/>
                </a:tc>
                <a:tc>
                  <a:txBody>
                    <a:bodyPr/>
                    <a:lstStyle/>
                    <a:p>
                      <a:pPr algn="ctr"/>
                      <a:r>
                        <a:rPr lang="en-US" sz="1400" dirty="0"/>
                        <a:t>Yes </a:t>
                      </a:r>
                    </a:p>
                    <a:p>
                      <a:pPr algn="ctr"/>
                      <a:r>
                        <a:rPr lang="en-US" sz="1400" dirty="0"/>
                        <a:t>(if rates are reasonable)</a:t>
                      </a:r>
                    </a:p>
                  </a:txBody>
                  <a:tcPr marL="68580" marR="68580" marT="34290" marB="34290"/>
                </a:tc>
                <a:tc>
                  <a:txBody>
                    <a:bodyPr/>
                    <a:lstStyle/>
                    <a:p>
                      <a:pPr algn="ctr"/>
                      <a:r>
                        <a:rPr lang="en-US" sz="1400" dirty="0"/>
                        <a:t>Yes </a:t>
                      </a:r>
                    </a:p>
                    <a:p>
                      <a:pPr algn="ctr"/>
                      <a:r>
                        <a:rPr lang="en-US" sz="1400" dirty="0"/>
                        <a:t>(No from self employed)</a:t>
                      </a:r>
                    </a:p>
                  </a:txBody>
                  <a:tcPr marL="68580" marR="68580" marT="34290" marB="34290"/>
                </a:tc>
                <a:extLst>
                  <a:ext uri="{0D108BD9-81ED-4DB2-BD59-A6C34878D82A}">
                    <a16:rowId xmlns:a16="http://schemas.microsoft.com/office/drawing/2014/main" val="2767971111"/>
                  </a:ext>
                </a:extLst>
              </a:tr>
              <a:tr h="480060">
                <a:tc>
                  <a:txBody>
                    <a:bodyPr/>
                    <a:lstStyle/>
                    <a:p>
                      <a:r>
                        <a:rPr lang="en-US" sz="1400" dirty="0"/>
                        <a:t>Income (Personal)</a:t>
                      </a:r>
                    </a:p>
                  </a:txBody>
                  <a:tcPr marL="68580" marR="68580" marT="34290" marB="34290"/>
                </a:tc>
                <a:tc>
                  <a:txBody>
                    <a:bodyPr/>
                    <a:lstStyle/>
                    <a:p>
                      <a:pPr algn="ctr"/>
                      <a:r>
                        <a:rPr lang="en-US" sz="1400" dirty="0"/>
                        <a:t>Personal Income Tax</a:t>
                      </a:r>
                    </a:p>
                  </a:txBody>
                  <a:tcPr marL="68580" marR="68580" marT="34290" marB="34290"/>
                </a:tc>
                <a:tc>
                  <a:txBody>
                    <a:bodyPr/>
                    <a:lstStyle/>
                    <a:p>
                      <a:pPr algn="ctr"/>
                      <a:r>
                        <a:rPr lang="en-US" sz="1400" dirty="0"/>
                        <a:t>Yes</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Yes </a:t>
                      </a:r>
                    </a:p>
                    <a:p>
                      <a:pPr algn="ctr"/>
                      <a:r>
                        <a:rPr lang="en-US" sz="1400" dirty="0"/>
                        <a:t>(if rates are reasonable)</a:t>
                      </a:r>
                    </a:p>
                  </a:txBody>
                  <a:tcPr marL="68580" marR="68580" marT="34290" marB="34290"/>
                </a:tc>
                <a:tc>
                  <a:txBody>
                    <a:bodyPr/>
                    <a:lstStyle/>
                    <a:p>
                      <a:pPr algn="ctr"/>
                      <a:r>
                        <a:rPr lang="en-US" sz="1400" dirty="0"/>
                        <a:t>Yes </a:t>
                      </a:r>
                    </a:p>
                    <a:p>
                      <a:pPr algn="ctr"/>
                      <a:r>
                        <a:rPr lang="en-US" sz="1400" dirty="0"/>
                        <a:t>(No from self employed)</a:t>
                      </a:r>
                    </a:p>
                  </a:txBody>
                  <a:tcPr marL="68580" marR="68580" marT="34290" marB="34290"/>
                </a:tc>
                <a:extLst>
                  <a:ext uri="{0D108BD9-81ED-4DB2-BD59-A6C34878D82A}">
                    <a16:rowId xmlns:a16="http://schemas.microsoft.com/office/drawing/2014/main" val="804803430"/>
                  </a:ext>
                </a:extLst>
              </a:tr>
              <a:tr h="480060">
                <a:tc>
                  <a:txBody>
                    <a:bodyPr/>
                    <a:lstStyle/>
                    <a:p>
                      <a:r>
                        <a:rPr lang="en-US" sz="1400" dirty="0"/>
                        <a:t>Income (Legal person)</a:t>
                      </a:r>
                    </a:p>
                  </a:txBody>
                  <a:tcPr marL="68580" marR="68580" marT="34290" marB="34290"/>
                </a:tc>
                <a:tc>
                  <a:txBody>
                    <a:bodyPr/>
                    <a:lstStyle/>
                    <a:p>
                      <a:pPr algn="ctr"/>
                      <a:r>
                        <a:rPr lang="en-US" sz="1400" dirty="0"/>
                        <a:t>Income Tax (Corporate)</a:t>
                      </a:r>
                    </a:p>
                  </a:txBody>
                  <a:tcPr marL="68580" marR="68580" marT="34290" marB="34290"/>
                </a:tc>
                <a:tc>
                  <a:txBody>
                    <a:bodyPr/>
                    <a:lstStyle/>
                    <a:p>
                      <a:pPr algn="ctr"/>
                      <a:r>
                        <a:rPr lang="en-US" sz="1400" dirty="0"/>
                        <a:t>Yes</a:t>
                      </a:r>
                    </a:p>
                  </a:txBody>
                  <a:tcPr marL="68580" marR="68580" marT="34290" marB="34290"/>
                </a:tc>
                <a:tc>
                  <a:txBody>
                    <a:bodyPr/>
                    <a:lstStyle/>
                    <a:p>
                      <a:pPr algn="ctr"/>
                      <a:r>
                        <a:rPr lang="en-US" sz="1400" dirty="0"/>
                        <a:t>No for marginal investments</a:t>
                      </a:r>
                    </a:p>
                  </a:txBody>
                  <a:tcPr marL="68580" marR="68580" marT="34290" marB="34290"/>
                </a:tc>
                <a:tc>
                  <a:txBody>
                    <a:bodyPr/>
                    <a:lstStyle/>
                    <a:p>
                      <a:pPr algn="ctr"/>
                      <a:r>
                        <a:rPr lang="en-US" sz="1400" dirty="0"/>
                        <a:t>Yes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(Except for foreign income)</a:t>
                      </a:r>
                    </a:p>
                  </a:txBody>
                  <a:tcPr marL="68580" marR="68580" marT="34290" marB="34290"/>
                </a:tc>
                <a:extLst>
                  <a:ext uri="{0D108BD9-81ED-4DB2-BD59-A6C34878D82A}">
                    <a16:rowId xmlns:a16="http://schemas.microsoft.com/office/drawing/2014/main" val="2216088559"/>
                  </a:ext>
                </a:extLst>
              </a:tr>
              <a:tr h="274320">
                <a:tc>
                  <a:txBody>
                    <a:bodyPr/>
                    <a:lstStyle/>
                    <a:p>
                      <a:r>
                        <a:rPr lang="en-US" sz="1400" dirty="0"/>
                        <a:t>Consumption</a:t>
                      </a:r>
                    </a:p>
                  </a:txBody>
                  <a:tcPr marL="68580" marR="68580" marT="34290" marB="34290"/>
                </a:tc>
                <a:tc>
                  <a:txBody>
                    <a:bodyPr/>
                    <a:lstStyle/>
                    <a:p>
                      <a:pPr algn="ctr"/>
                      <a:r>
                        <a:rPr lang="en-US" sz="1400" dirty="0"/>
                        <a:t>VAT</a:t>
                      </a:r>
                    </a:p>
                  </a:txBody>
                  <a:tcPr marL="68580" marR="68580" marT="34290" marB="34290"/>
                </a:tc>
                <a:tc>
                  <a:txBody>
                    <a:bodyPr/>
                    <a:lstStyle/>
                    <a:p>
                      <a:pPr algn="ctr"/>
                      <a:r>
                        <a:rPr lang="en-US" sz="1400" dirty="0"/>
                        <a:t>No</a:t>
                      </a:r>
                    </a:p>
                  </a:txBody>
                  <a:tcPr marL="68580" marR="68580" marT="34290" marB="34290"/>
                </a:tc>
                <a:tc>
                  <a:txBody>
                    <a:bodyPr/>
                    <a:lstStyle/>
                    <a:p>
                      <a:pPr algn="ctr"/>
                      <a:r>
                        <a:rPr lang="en-US" sz="1400" dirty="0"/>
                        <a:t>Yes</a:t>
                      </a:r>
                    </a:p>
                  </a:txBody>
                  <a:tcPr marL="68580" marR="68580" marT="34290" marB="34290"/>
                </a:tc>
                <a:tc>
                  <a:txBody>
                    <a:bodyPr/>
                    <a:lstStyle/>
                    <a:p>
                      <a:pPr algn="ctr"/>
                      <a:r>
                        <a:rPr lang="en-US" sz="1400" dirty="0"/>
                        <a:t>Yes</a:t>
                      </a:r>
                    </a:p>
                  </a:txBody>
                  <a:tcPr marL="68580" marR="68580" marT="34290" marB="34290"/>
                </a:tc>
                <a:extLst>
                  <a:ext uri="{0D108BD9-81ED-4DB2-BD59-A6C34878D82A}">
                    <a16:rowId xmlns:a16="http://schemas.microsoft.com/office/drawing/2014/main" val="2963775105"/>
                  </a:ext>
                </a:extLst>
              </a:tr>
              <a:tr h="274320">
                <a:tc>
                  <a:txBody>
                    <a:bodyPr/>
                    <a:lstStyle/>
                    <a:p>
                      <a:r>
                        <a:rPr lang="en-US" sz="1400" dirty="0"/>
                        <a:t>Imports</a:t>
                      </a:r>
                    </a:p>
                  </a:txBody>
                  <a:tcPr marL="68580" marR="68580" marT="34290" marB="34290"/>
                </a:tc>
                <a:tc>
                  <a:txBody>
                    <a:bodyPr/>
                    <a:lstStyle/>
                    <a:p>
                      <a:pPr algn="ctr"/>
                      <a:r>
                        <a:rPr lang="en-US" sz="1400" dirty="0"/>
                        <a:t>Import Duty</a:t>
                      </a:r>
                    </a:p>
                  </a:txBody>
                  <a:tcPr marL="68580" marR="68580" marT="34290" marB="34290"/>
                </a:tc>
                <a:tc>
                  <a:txBody>
                    <a:bodyPr/>
                    <a:lstStyle/>
                    <a:p>
                      <a:pPr algn="ctr"/>
                      <a:r>
                        <a:rPr lang="en-US" sz="1400" dirty="0"/>
                        <a:t>No</a:t>
                      </a:r>
                    </a:p>
                  </a:txBody>
                  <a:tcPr marL="68580" marR="68580" marT="34290" marB="34290"/>
                </a:tc>
                <a:tc>
                  <a:txBody>
                    <a:bodyPr/>
                    <a:lstStyle/>
                    <a:p>
                      <a:pPr algn="ctr"/>
                      <a:r>
                        <a:rPr lang="en-US" sz="1400" dirty="0"/>
                        <a:t>No</a:t>
                      </a:r>
                    </a:p>
                  </a:txBody>
                  <a:tcPr marL="68580" marR="68580" marT="34290" marB="34290"/>
                </a:tc>
                <a:tc>
                  <a:txBody>
                    <a:bodyPr/>
                    <a:lstStyle/>
                    <a:p>
                      <a:pPr algn="ctr"/>
                      <a:r>
                        <a:rPr lang="en-US" sz="1400" dirty="0"/>
                        <a:t>Yes</a:t>
                      </a:r>
                    </a:p>
                  </a:txBody>
                  <a:tcPr marL="68580" marR="68580" marT="34290" marB="34290"/>
                </a:tc>
                <a:extLst>
                  <a:ext uri="{0D108BD9-81ED-4DB2-BD59-A6C34878D82A}">
                    <a16:rowId xmlns:a16="http://schemas.microsoft.com/office/drawing/2014/main" val="140800424"/>
                  </a:ext>
                </a:extLst>
              </a:tr>
              <a:tr h="480060">
                <a:tc>
                  <a:txBody>
                    <a:bodyPr/>
                    <a:lstStyle/>
                    <a:p>
                      <a:r>
                        <a:rPr lang="en-US" sz="1400" dirty="0"/>
                        <a:t>Immovable Assets</a:t>
                      </a:r>
                    </a:p>
                  </a:txBody>
                  <a:tcPr marL="68580" marR="68580" marT="34290" marB="34290"/>
                </a:tc>
                <a:tc>
                  <a:txBody>
                    <a:bodyPr/>
                    <a:lstStyle/>
                    <a:p>
                      <a:pPr algn="ctr"/>
                      <a:r>
                        <a:rPr lang="en-US" sz="1400" dirty="0"/>
                        <a:t>Property Tax</a:t>
                      </a:r>
                    </a:p>
                  </a:txBody>
                  <a:tcPr marL="68580" marR="68580" marT="34290" marB="34290"/>
                </a:tc>
                <a:tc>
                  <a:txBody>
                    <a:bodyPr/>
                    <a:lstStyle/>
                    <a:p>
                      <a:pPr algn="ctr"/>
                      <a:r>
                        <a:rPr lang="en-US" sz="1400" dirty="0"/>
                        <a:t>Yes</a:t>
                      </a:r>
                    </a:p>
                  </a:txBody>
                  <a:tcPr marL="68580" marR="68580" marT="34290" marB="34290"/>
                </a:tc>
                <a:tc>
                  <a:txBody>
                    <a:bodyPr/>
                    <a:lstStyle/>
                    <a:p>
                      <a:pPr algn="ctr"/>
                      <a:r>
                        <a:rPr lang="en-US" sz="1400" dirty="0"/>
                        <a:t>Yes</a:t>
                      </a:r>
                    </a:p>
                  </a:txBody>
                  <a:tcPr marL="68580" marR="68580" marT="34290" marB="34290"/>
                </a:tc>
                <a:tc>
                  <a:txBody>
                    <a:bodyPr/>
                    <a:lstStyle/>
                    <a:p>
                      <a:pPr algn="ctr"/>
                      <a:r>
                        <a:rPr lang="en-US" sz="1400" dirty="0"/>
                        <a:t>No</a:t>
                      </a:r>
                    </a:p>
                  </a:txBody>
                  <a:tcPr marL="68580" marR="68580" marT="34290" marB="34290"/>
                </a:tc>
                <a:extLst>
                  <a:ext uri="{0D108BD9-81ED-4DB2-BD59-A6C34878D82A}">
                    <a16:rowId xmlns:a16="http://schemas.microsoft.com/office/drawing/2014/main" val="4060107020"/>
                  </a:ext>
                </a:extLst>
              </a:tr>
              <a:tr h="274320">
                <a:tc>
                  <a:txBody>
                    <a:bodyPr/>
                    <a:lstStyle/>
                    <a:p>
                      <a:r>
                        <a:rPr lang="en-US" sz="1400" dirty="0"/>
                        <a:t>‘</a:t>
                      </a:r>
                      <a:r>
                        <a:rPr lang="en-US" sz="1400" dirty="0" err="1"/>
                        <a:t>Bads</a:t>
                      </a:r>
                      <a:r>
                        <a:rPr lang="en-US" sz="1400" dirty="0"/>
                        <a:t>’</a:t>
                      </a:r>
                    </a:p>
                  </a:txBody>
                  <a:tcPr marL="68580" marR="68580" marT="34290" marB="34290"/>
                </a:tc>
                <a:tc>
                  <a:txBody>
                    <a:bodyPr/>
                    <a:lstStyle/>
                    <a:p>
                      <a:pPr algn="ctr"/>
                      <a:r>
                        <a:rPr lang="en-US" sz="1400" dirty="0"/>
                        <a:t>Excises</a:t>
                      </a:r>
                    </a:p>
                  </a:txBody>
                  <a:tcPr marL="68580" marR="68580" marT="34290" marB="34290"/>
                </a:tc>
                <a:tc>
                  <a:txBody>
                    <a:bodyPr/>
                    <a:lstStyle/>
                    <a:p>
                      <a:pPr algn="ctr"/>
                      <a:r>
                        <a:rPr lang="en-US" sz="1400" dirty="0"/>
                        <a:t>No</a:t>
                      </a:r>
                    </a:p>
                  </a:txBody>
                  <a:tcPr marL="68580" marR="68580" marT="34290" marB="34290"/>
                </a:tc>
                <a:tc>
                  <a:txBody>
                    <a:bodyPr/>
                    <a:lstStyle/>
                    <a:p>
                      <a:pPr algn="ctr"/>
                      <a:r>
                        <a:rPr lang="en-US" sz="1400" dirty="0"/>
                        <a:t>Yes (- </a:t>
                      </a:r>
                      <a:r>
                        <a:rPr lang="en-US" sz="1400" dirty="0" err="1"/>
                        <a:t>ve</a:t>
                      </a:r>
                      <a:r>
                        <a:rPr lang="en-US" sz="1400" dirty="0"/>
                        <a:t> way)</a:t>
                      </a:r>
                    </a:p>
                  </a:txBody>
                  <a:tcPr marL="68580" marR="68580" marT="34290" marB="34290"/>
                </a:tc>
                <a:tc>
                  <a:txBody>
                    <a:bodyPr/>
                    <a:lstStyle/>
                    <a:p>
                      <a:pPr algn="ctr"/>
                      <a:r>
                        <a:rPr lang="en-US" sz="1400" dirty="0"/>
                        <a:t>Yes</a:t>
                      </a:r>
                    </a:p>
                  </a:txBody>
                  <a:tcPr marL="68580" marR="68580" marT="34290" marB="34290"/>
                </a:tc>
                <a:extLst>
                  <a:ext uri="{0D108BD9-81ED-4DB2-BD59-A6C34878D82A}">
                    <a16:rowId xmlns:a16="http://schemas.microsoft.com/office/drawing/2014/main" val="3595427475"/>
                  </a:ext>
                </a:extLst>
              </a:tr>
              <a:tr h="274320">
                <a:tc>
                  <a:txBody>
                    <a:bodyPr/>
                    <a:lstStyle/>
                    <a:p>
                      <a:r>
                        <a:rPr lang="en-US" sz="1400" dirty="0"/>
                        <a:t>Exports</a:t>
                      </a:r>
                    </a:p>
                  </a:txBody>
                  <a:tcPr marL="68580" marR="68580" marT="34290" marB="34290"/>
                </a:tc>
                <a:tc>
                  <a:txBody>
                    <a:bodyPr/>
                    <a:lstStyle/>
                    <a:p>
                      <a:pPr algn="ctr"/>
                      <a:r>
                        <a:rPr lang="en-US" sz="1400" dirty="0"/>
                        <a:t>Export Tax</a:t>
                      </a:r>
                    </a:p>
                  </a:txBody>
                  <a:tcPr marL="68580" marR="68580" marT="34290" marB="34290"/>
                </a:tc>
                <a:tc>
                  <a:txBody>
                    <a:bodyPr/>
                    <a:lstStyle/>
                    <a:p>
                      <a:pPr algn="ctr"/>
                      <a:r>
                        <a:rPr lang="en-US" sz="1400" dirty="0"/>
                        <a:t>No</a:t>
                      </a:r>
                    </a:p>
                  </a:txBody>
                  <a:tcPr marL="68580" marR="68580" marT="34290" marB="34290"/>
                </a:tc>
                <a:tc>
                  <a:txBody>
                    <a:bodyPr/>
                    <a:lstStyle/>
                    <a:p>
                      <a:pPr algn="ctr"/>
                      <a:r>
                        <a:rPr lang="en-US" sz="1400" dirty="0"/>
                        <a:t>Yes</a:t>
                      </a:r>
                    </a:p>
                  </a:txBody>
                  <a:tcPr marL="68580" marR="68580" marT="34290" marB="34290"/>
                </a:tc>
                <a:tc>
                  <a:txBody>
                    <a:bodyPr/>
                    <a:lstStyle/>
                    <a:p>
                      <a:pPr algn="ctr"/>
                      <a:r>
                        <a:rPr lang="en-US" sz="1400" dirty="0"/>
                        <a:t>Yes</a:t>
                      </a:r>
                    </a:p>
                  </a:txBody>
                  <a:tcPr marL="68580" marR="68580" marT="34290" marB="34290"/>
                </a:tc>
                <a:extLst>
                  <a:ext uri="{0D108BD9-81ED-4DB2-BD59-A6C34878D82A}">
                    <a16:rowId xmlns:a16="http://schemas.microsoft.com/office/drawing/2014/main" val="3659652572"/>
                  </a:ext>
                </a:extLst>
              </a:tr>
              <a:tr h="274320">
                <a:tc>
                  <a:txBody>
                    <a:bodyPr/>
                    <a:lstStyle/>
                    <a:p>
                      <a:r>
                        <a:rPr lang="en-US" sz="1400" dirty="0"/>
                        <a:t>Luxuries</a:t>
                      </a:r>
                    </a:p>
                  </a:txBody>
                  <a:tcPr marL="68580" marR="68580" marT="34290" marB="34290"/>
                </a:tc>
                <a:tc>
                  <a:txBody>
                    <a:bodyPr/>
                    <a:lstStyle/>
                    <a:p>
                      <a:pPr algn="ctr"/>
                      <a:r>
                        <a:rPr lang="en-US" sz="1400" dirty="0"/>
                        <a:t>Luxury Tax</a:t>
                      </a:r>
                    </a:p>
                  </a:txBody>
                  <a:tcPr marL="68580" marR="68580" marT="34290" marB="34290"/>
                </a:tc>
                <a:tc>
                  <a:txBody>
                    <a:bodyPr/>
                    <a:lstStyle/>
                    <a:p>
                      <a:pPr algn="ctr"/>
                      <a:r>
                        <a:rPr lang="en-US" sz="1400" dirty="0"/>
                        <a:t>Yes</a:t>
                      </a:r>
                    </a:p>
                  </a:txBody>
                  <a:tcPr marL="68580" marR="68580" marT="34290" marB="34290"/>
                </a:tc>
                <a:tc>
                  <a:txBody>
                    <a:bodyPr/>
                    <a:lstStyle/>
                    <a:p>
                      <a:pPr algn="ctr"/>
                      <a:r>
                        <a:rPr lang="en-US" sz="1400" dirty="0"/>
                        <a:t>Yes</a:t>
                      </a:r>
                    </a:p>
                  </a:txBody>
                  <a:tcPr marL="68580" marR="68580" marT="34290" marB="34290"/>
                </a:tc>
                <a:tc>
                  <a:txBody>
                    <a:bodyPr/>
                    <a:lstStyle/>
                    <a:p>
                      <a:pPr algn="ctr"/>
                      <a:r>
                        <a:rPr lang="en-US" sz="1400" dirty="0"/>
                        <a:t>Yes</a:t>
                      </a:r>
                    </a:p>
                  </a:txBody>
                  <a:tcPr marL="68580" marR="68580" marT="34290" marB="34290"/>
                </a:tc>
                <a:extLst>
                  <a:ext uri="{0D108BD9-81ED-4DB2-BD59-A6C34878D82A}">
                    <a16:rowId xmlns:a16="http://schemas.microsoft.com/office/drawing/2014/main" val="820898657"/>
                  </a:ext>
                </a:extLst>
              </a:tr>
            </a:tbl>
          </a:graphicData>
        </a:graphic>
      </p:graphicFrame>
      <p:sp>
        <p:nvSpPr>
          <p:cNvPr id="4" name="Slide Number Placeholder 3"/>
          <p:cNvSpPr>
            <a:spLocks noGrp="1"/>
          </p:cNvSpPr>
          <p:nvPr>
            <p:ph type="sldNum" sz="quarter" idx="12"/>
          </p:nvPr>
        </p:nvSpPr>
        <p:spPr/>
        <p:txBody>
          <a:bodyPr/>
          <a:lstStyle/>
          <a:p>
            <a:fld id="{4E519381-62F2-4C60-99AC-EDADDE1A24E5}" type="slidenum">
              <a:rPr lang="en-US" smtClean="0"/>
              <a:t>14</a:t>
            </a:fld>
            <a:endParaRPr lang="en-US"/>
          </a:p>
        </p:txBody>
      </p:sp>
    </p:spTree>
    <p:extLst>
      <p:ext uri="{BB962C8B-B14F-4D97-AF65-F5344CB8AC3E}">
        <p14:creationId xmlns:p14="http://schemas.microsoft.com/office/powerpoint/2010/main" val="13470904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02509-4C81-4F98-AC5A-E13712C4C273}"/>
              </a:ext>
            </a:extLst>
          </p:cNvPr>
          <p:cNvSpPr>
            <a:spLocks noGrp="1"/>
          </p:cNvSpPr>
          <p:nvPr>
            <p:ph type="title"/>
          </p:nvPr>
        </p:nvSpPr>
        <p:spPr/>
        <p:txBody>
          <a:bodyPr/>
          <a:lstStyle/>
          <a:p>
            <a:r>
              <a:rPr lang="en-US" b="1" dirty="0">
                <a:cs typeface="Times New Roman" panose="02020603050405020304" pitchFamily="18" charset="0"/>
              </a:rPr>
              <a:t>Principles of Taxation: Evaluating a Tax</a:t>
            </a:r>
            <a:endParaRPr lang="en-US" dirty="0"/>
          </a:p>
        </p:txBody>
      </p:sp>
      <p:sp>
        <p:nvSpPr>
          <p:cNvPr id="3" name="Text Placeholder 2">
            <a:extLst>
              <a:ext uri="{FF2B5EF4-FFF2-40B4-BE49-F238E27FC236}">
                <a16:creationId xmlns:a16="http://schemas.microsoft.com/office/drawing/2014/main" id="{01D9FB0E-607C-4825-A5ED-05DF3C9D578B}"/>
              </a:ext>
            </a:extLst>
          </p:cNvPr>
          <p:cNvSpPr>
            <a:spLocks noGrp="1"/>
          </p:cNvSpPr>
          <p:nvPr>
            <p:ph type="body" sz="quarter" idx="13"/>
          </p:nvPr>
        </p:nvSpPr>
        <p:spPr/>
        <p:txBody>
          <a:bodyPr>
            <a:normAutofit lnSpcReduction="10000"/>
          </a:bodyPr>
          <a:lstStyle/>
          <a:p>
            <a:r>
              <a:rPr lang="en-US" sz="2400" b="1" dirty="0"/>
              <a:t>Question – </a:t>
            </a:r>
            <a:r>
              <a:rPr lang="en-US" altLang="en-US" sz="2400" b="1" dirty="0"/>
              <a:t>How would you evaluate the following Tax Policy Change – </a:t>
            </a:r>
          </a:p>
          <a:p>
            <a:r>
              <a:rPr lang="en-US" altLang="en-US" sz="2400" b="1" dirty="0"/>
              <a:t>  “The Government has created a new Simplified Tax for Small Businesses. These businesses will pay Income Tax of 2% of Turnover(Sales). These businesses do not have to maintain detailed books of accounts. The definition of Small Businesses are those with fewer than 20 employees. The Government believes that such a regime will greatly improve tax compliance.”</a:t>
            </a:r>
          </a:p>
          <a:p>
            <a:r>
              <a:rPr lang="en-US" altLang="en-US" sz="2400" b="1" dirty="0"/>
              <a:t>PS. Regular sized businesses will pay income tax at 30%. It is known that average profit margins are 10% of Sales.</a:t>
            </a:r>
          </a:p>
          <a:p>
            <a:endParaRPr lang="en-US" altLang="en-US" sz="2400" b="1" dirty="0"/>
          </a:p>
        </p:txBody>
      </p:sp>
      <p:sp>
        <p:nvSpPr>
          <p:cNvPr id="4" name="Slide Number Placeholder 3">
            <a:extLst>
              <a:ext uri="{FF2B5EF4-FFF2-40B4-BE49-F238E27FC236}">
                <a16:creationId xmlns:a16="http://schemas.microsoft.com/office/drawing/2014/main" id="{34FCCFA4-42DF-41C5-8AD0-3CB38225C62F}"/>
              </a:ext>
            </a:extLst>
          </p:cNvPr>
          <p:cNvSpPr>
            <a:spLocks noGrp="1"/>
          </p:cNvSpPr>
          <p:nvPr>
            <p:ph type="sldNum" sz="quarter" idx="15"/>
          </p:nvPr>
        </p:nvSpPr>
        <p:spPr/>
        <p:txBody>
          <a:bodyPr/>
          <a:lstStyle/>
          <a:p>
            <a:fld id="{B439F95D-CD6C-461B-AC55-2EEF1AD0C511}" type="slidenum">
              <a:rPr lang="en-US" smtClean="0"/>
              <a:pPr/>
              <a:t>15</a:t>
            </a:fld>
            <a:endParaRPr lang="en-US"/>
          </a:p>
        </p:txBody>
      </p:sp>
    </p:spTree>
    <p:extLst>
      <p:ext uri="{BB962C8B-B14F-4D97-AF65-F5344CB8AC3E}">
        <p14:creationId xmlns:p14="http://schemas.microsoft.com/office/powerpoint/2010/main" val="860421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1538100B-C110-B193-514C-085340C3EC3D}"/>
              </a:ext>
            </a:extLst>
          </p:cNvPr>
          <p:cNvSpPr>
            <a:spLocks noGrp="1" noChangeArrowheads="1"/>
          </p:cNvSpPr>
          <p:nvPr>
            <p:ph type="title"/>
          </p:nvPr>
        </p:nvSpPr>
        <p:spPr>
          <a:xfrm>
            <a:off x="685800" y="76200"/>
            <a:ext cx="7772400" cy="720725"/>
          </a:xfrm>
        </p:spPr>
        <p:txBody>
          <a:bodyPr/>
          <a:lstStyle/>
          <a:p>
            <a:r>
              <a:rPr lang="en-US" altLang="en-US" sz="3200" dirty="0">
                <a:cs typeface="Times New Roman" panose="02020603050405020304" pitchFamily="18" charset="0"/>
              </a:rPr>
              <a:t>Recent Trend in Total Revenues by Income </a:t>
            </a:r>
            <a:br>
              <a:rPr lang="en-US" altLang="en-US" sz="2800" dirty="0">
                <a:cs typeface="Times New Roman" panose="02020603050405020304" pitchFamily="18" charset="0"/>
              </a:rPr>
            </a:br>
            <a:endParaRPr lang="en-US" altLang="en-US" sz="2800" dirty="0">
              <a:cs typeface="Times New Roman" panose="02020603050405020304" pitchFamily="18" charset="0"/>
            </a:endParaRPr>
          </a:p>
        </p:txBody>
      </p:sp>
      <p:sp>
        <p:nvSpPr>
          <p:cNvPr id="5" name="Content Placeholder 4">
            <a:extLst>
              <a:ext uri="{FF2B5EF4-FFF2-40B4-BE49-F238E27FC236}">
                <a16:creationId xmlns:a16="http://schemas.microsoft.com/office/drawing/2014/main" id="{F43AF855-03AB-3CE9-8785-B4B2C70D0AF1}"/>
              </a:ext>
            </a:extLst>
          </p:cNvPr>
          <p:cNvSpPr>
            <a:spLocks noGrp="1"/>
          </p:cNvSpPr>
          <p:nvPr>
            <p:ph idx="1"/>
          </p:nvPr>
        </p:nvSpPr>
        <p:spPr>
          <a:xfrm>
            <a:off x="685800" y="914400"/>
            <a:ext cx="7772400" cy="533400"/>
          </a:xfrm>
        </p:spPr>
        <p:txBody>
          <a:bodyPr numCol="2">
            <a:normAutofit/>
          </a:bodyPr>
          <a:lstStyle/>
          <a:p>
            <a:pPr marL="0" indent="0" algn="r">
              <a:buFontTx/>
              <a:buNone/>
              <a:defRPr/>
            </a:pPr>
            <a:endParaRPr lang="en-US" sz="1050" dirty="0"/>
          </a:p>
          <a:p>
            <a:pPr marL="0" indent="0" algn="r">
              <a:buFontTx/>
              <a:buNone/>
              <a:defRPr/>
            </a:pPr>
            <a:endParaRPr lang="en-US" sz="1050" dirty="0"/>
          </a:p>
          <a:p>
            <a:pPr marL="0" indent="0" algn="r">
              <a:buFontTx/>
              <a:buNone/>
              <a:defRPr/>
            </a:pPr>
            <a:endParaRPr lang="en-US" sz="1050" dirty="0"/>
          </a:p>
        </p:txBody>
      </p:sp>
      <p:pic>
        <p:nvPicPr>
          <p:cNvPr id="3" name="Picture 2">
            <a:extLst>
              <a:ext uri="{FF2B5EF4-FFF2-40B4-BE49-F238E27FC236}">
                <a16:creationId xmlns:a16="http://schemas.microsoft.com/office/drawing/2014/main" id="{AAFF9289-94A7-F358-CE85-E8B23CC83967}"/>
              </a:ext>
            </a:extLst>
          </p:cNvPr>
          <p:cNvPicPr>
            <a:picLocks noChangeAspect="1"/>
          </p:cNvPicPr>
          <p:nvPr/>
        </p:nvPicPr>
        <p:blipFill>
          <a:blip r:embed="rId3"/>
          <a:stretch>
            <a:fillRect/>
          </a:stretch>
        </p:blipFill>
        <p:spPr>
          <a:xfrm>
            <a:off x="0" y="946450"/>
            <a:ext cx="9144000" cy="3593500"/>
          </a:xfrm>
          <a:prstGeom prst="rect">
            <a:avLst/>
          </a:prstGeom>
        </p:spPr>
      </p:pic>
      <p:sp>
        <p:nvSpPr>
          <p:cNvPr id="4" name="Title 1">
            <a:extLst>
              <a:ext uri="{FF2B5EF4-FFF2-40B4-BE49-F238E27FC236}">
                <a16:creationId xmlns:a16="http://schemas.microsoft.com/office/drawing/2014/main" id="{DEDE4AF0-3C5C-4C2A-9B5C-5E5143AADE92}"/>
              </a:ext>
            </a:extLst>
          </p:cNvPr>
          <p:cNvSpPr txBox="1">
            <a:spLocks noChangeArrowheads="1"/>
          </p:cNvSpPr>
          <p:nvPr/>
        </p:nvSpPr>
        <p:spPr bwMode="auto">
          <a:xfrm>
            <a:off x="689020" y="5340350"/>
            <a:ext cx="777240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a:lstStyle>
          <a:p>
            <a:r>
              <a:rPr lang="en-US" altLang="en-US" sz="3200" kern="0">
                <a:cs typeface="Times New Roman" panose="02020603050405020304" pitchFamily="18" charset="0"/>
                <a:hlinkClick r:id="rId4"/>
              </a:rPr>
              <a:t>Revenue Dashboard</a:t>
            </a:r>
            <a:endParaRPr lang="en-US" altLang="en-US" sz="3200" kern="0">
              <a:cs typeface="Times New Roman" panose="02020603050405020304" pitchFamily="18" charset="0"/>
              <a:hlinkClick r:id="rId5"/>
            </a:endParaRPr>
          </a:p>
          <a:p>
            <a:endParaRPr lang="en-US" altLang="en-US" sz="3200" kern="0">
              <a:cs typeface="Times New Roman" panose="02020603050405020304" pitchFamily="18" charset="0"/>
              <a:hlinkClick r:id="rId5"/>
            </a:endParaRPr>
          </a:p>
          <a:p>
            <a:r>
              <a:rPr lang="en-US" altLang="en-US" sz="3200" kern="0">
                <a:cs typeface="Times New Roman" panose="02020603050405020304" pitchFamily="18" charset="0"/>
                <a:hlinkClick r:id="rId5"/>
              </a:rPr>
              <a:t>World </a:t>
            </a:r>
            <a:r>
              <a:rPr lang="en-US" altLang="en-US" sz="3200" kern="0" dirty="0">
                <a:cs typeface="Times New Roman" panose="02020603050405020304" pitchFamily="18" charset="0"/>
                <a:hlinkClick r:id="rId5"/>
              </a:rPr>
              <a:t>Bank Revenue Dashboard</a:t>
            </a:r>
            <a:endParaRPr lang="en-US" altLang="en-US" sz="2800" kern="0" dirty="0">
              <a:cs typeface="Times New Roman" panose="02020603050405020304" pitchFamily="18" charset="0"/>
            </a:endParaRPr>
          </a:p>
        </p:txBody>
      </p:sp>
    </p:spTree>
    <p:extLst>
      <p:ext uri="{BB962C8B-B14F-4D97-AF65-F5344CB8AC3E}">
        <p14:creationId xmlns:p14="http://schemas.microsoft.com/office/powerpoint/2010/main" val="24076913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52400"/>
            <a:ext cx="8839200" cy="1143000"/>
          </a:xfrm>
        </p:spPr>
        <p:txBody>
          <a:bodyPr/>
          <a:lstStyle/>
          <a:p>
            <a:r>
              <a:rPr lang="en-US" sz="3600" b="1" dirty="0"/>
              <a:t>Evaluating Tax Policy: More in-depth</a:t>
            </a:r>
          </a:p>
        </p:txBody>
      </p:sp>
      <p:sp>
        <p:nvSpPr>
          <p:cNvPr id="3" name="Content Placeholder 2"/>
          <p:cNvSpPr>
            <a:spLocks noGrp="1"/>
          </p:cNvSpPr>
          <p:nvPr>
            <p:ph idx="1"/>
          </p:nvPr>
        </p:nvSpPr>
        <p:spPr/>
        <p:txBody>
          <a:bodyPr/>
          <a:lstStyle/>
          <a:p>
            <a:r>
              <a:rPr lang="en-US" dirty="0"/>
              <a:t>Different Models used:</a:t>
            </a:r>
          </a:p>
          <a:p>
            <a:pPr marL="457200" lvl="1" indent="-457200">
              <a:buFont typeface="Wingdings" panose="05000000000000000000" pitchFamily="2" charset="2"/>
              <a:buChar char="Ø"/>
            </a:pPr>
            <a:r>
              <a:rPr lang="en-US" dirty="0">
                <a:solidFill>
                  <a:schemeClr val="tx1"/>
                </a:solidFill>
              </a:rPr>
              <a:t>Macro/GDP-based </a:t>
            </a:r>
          </a:p>
          <a:p>
            <a:pPr marL="457200" lvl="1" indent="-457200">
              <a:buFont typeface="Wingdings" panose="05000000000000000000" pitchFamily="2" charset="2"/>
              <a:buChar char="Ø"/>
            </a:pPr>
            <a:r>
              <a:rPr lang="en-US" dirty="0">
                <a:solidFill>
                  <a:schemeClr val="tx1"/>
                </a:solidFill>
              </a:rPr>
              <a:t>Micro-Simulation </a:t>
            </a:r>
          </a:p>
          <a:p>
            <a:pPr marL="457200" lvl="1" indent="-457200">
              <a:buFont typeface="Wingdings" panose="05000000000000000000" pitchFamily="2" charset="2"/>
              <a:buChar char="Ø"/>
            </a:pPr>
            <a:r>
              <a:rPr lang="en-US" dirty="0">
                <a:solidFill>
                  <a:schemeClr val="tx1"/>
                </a:solidFill>
              </a:rPr>
              <a:t>CGE Models</a:t>
            </a:r>
          </a:p>
          <a:p>
            <a:pPr marL="457200" lvl="1" indent="-457200">
              <a:buFont typeface="Wingdings" panose="05000000000000000000" pitchFamily="2" charset="2"/>
              <a:buChar char="Ø"/>
            </a:pPr>
            <a:r>
              <a:rPr lang="en-US" dirty="0">
                <a:solidFill>
                  <a:schemeClr val="tx1"/>
                </a:solidFill>
              </a:rPr>
              <a:t>Other Models</a:t>
            </a:r>
          </a:p>
          <a:p>
            <a:pPr marL="868363" lvl="3">
              <a:spcBef>
                <a:spcPts val="750"/>
              </a:spcBef>
              <a:buFont typeface="Wingdings" panose="05000000000000000000" pitchFamily="2" charset="2"/>
              <a:buChar char="Ø"/>
            </a:pPr>
            <a:r>
              <a:rPr lang="en-US" dirty="0">
                <a:solidFill>
                  <a:schemeClr val="tx1"/>
                </a:solidFill>
              </a:rPr>
              <a:t>Optimal Income Tax Models, User Cost of Capital Models, METR, Tax Incidence Models, Tax Expenditure Models, Tax Gap Models, etc.</a:t>
            </a:r>
          </a:p>
        </p:txBody>
      </p:sp>
      <p:sp>
        <p:nvSpPr>
          <p:cNvPr id="4" name="Slide Number Placeholder 3"/>
          <p:cNvSpPr>
            <a:spLocks noGrp="1"/>
          </p:cNvSpPr>
          <p:nvPr>
            <p:ph type="sldNum" sz="quarter" idx="12"/>
          </p:nvPr>
        </p:nvSpPr>
        <p:spPr/>
        <p:txBody>
          <a:bodyPr/>
          <a:lstStyle/>
          <a:p>
            <a:fld id="{B568120A-2759-47C5-BEF8-A441BA0FE536}" type="slidenum">
              <a:rPr lang="en-US" smtClean="0"/>
              <a:t>17</a:t>
            </a:fld>
            <a:endParaRPr lang="en-US"/>
          </a:p>
        </p:txBody>
      </p:sp>
    </p:spTree>
    <p:extLst>
      <p:ext uri="{BB962C8B-B14F-4D97-AF65-F5344CB8AC3E}">
        <p14:creationId xmlns:p14="http://schemas.microsoft.com/office/powerpoint/2010/main" val="31794079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Macro or GDP-based model</a:t>
            </a:r>
          </a:p>
        </p:txBody>
      </p:sp>
      <p:sp>
        <p:nvSpPr>
          <p:cNvPr id="3" name="Content Placeholder 2"/>
          <p:cNvSpPr>
            <a:spLocks noGrp="1"/>
          </p:cNvSpPr>
          <p:nvPr>
            <p:ph idx="1"/>
          </p:nvPr>
        </p:nvSpPr>
        <p:spPr/>
        <p:txBody>
          <a:bodyPr>
            <a:normAutofit fontScale="92500"/>
          </a:bodyPr>
          <a:lstStyle/>
          <a:p>
            <a:pPr marL="457200" indent="-457200">
              <a:buFont typeface="Arial" panose="020B0604020202020204" pitchFamily="34" charset="0"/>
              <a:buChar char="•"/>
            </a:pPr>
            <a:r>
              <a:rPr lang="en-US" dirty="0">
                <a:solidFill>
                  <a:schemeClr val="tx1"/>
                </a:solidFill>
              </a:rPr>
              <a:t>Applicable to all tax types: VAT, Excises, income taxes and trade taxes.</a:t>
            </a:r>
          </a:p>
          <a:p>
            <a:pPr marL="457200" indent="-457200">
              <a:buFont typeface="Arial" panose="020B0604020202020204" pitchFamily="34" charset="0"/>
              <a:buChar char="•"/>
            </a:pPr>
            <a:r>
              <a:rPr lang="en-US" dirty="0">
                <a:solidFill>
                  <a:schemeClr val="tx1"/>
                </a:solidFill>
              </a:rPr>
              <a:t>Data requirement:  </a:t>
            </a:r>
          </a:p>
          <a:p>
            <a:pPr marL="819150" lvl="2" indent="-457200"/>
            <a:r>
              <a:rPr lang="en-US" dirty="0">
                <a:solidFill>
                  <a:schemeClr val="tx1"/>
                </a:solidFill>
              </a:rPr>
              <a:t>series of tax revenues, and </a:t>
            </a:r>
          </a:p>
          <a:p>
            <a:pPr marL="819150" lvl="2" indent="-457200"/>
            <a:r>
              <a:rPr lang="en-US" dirty="0">
                <a:solidFill>
                  <a:schemeClr val="tx1"/>
                </a:solidFill>
              </a:rPr>
              <a:t>their bases (e.g., GDP, consumption or imports). </a:t>
            </a:r>
          </a:p>
          <a:p>
            <a:pPr marL="457200" indent="-457200">
              <a:buFont typeface="Arial" panose="020B0604020202020204" pitchFamily="34" charset="0"/>
              <a:buChar char="•"/>
            </a:pPr>
            <a:r>
              <a:rPr lang="en-US" dirty="0">
                <a:solidFill>
                  <a:schemeClr val="tx1"/>
                </a:solidFill>
              </a:rPr>
              <a:t>Steps:</a:t>
            </a:r>
          </a:p>
          <a:p>
            <a:pPr marL="819150" lvl="2" indent="-457200"/>
            <a:r>
              <a:rPr lang="en-US" dirty="0">
                <a:solidFill>
                  <a:schemeClr val="tx1"/>
                </a:solidFill>
              </a:rPr>
              <a:t>Then, future changes in tax revenues are simply determined as the product of expected changes in the base and the buoyancy applied to GDP growth projections.  </a:t>
            </a:r>
          </a:p>
          <a:p>
            <a:endParaRPr lang="en-US" dirty="0"/>
          </a:p>
        </p:txBody>
      </p:sp>
      <p:sp>
        <p:nvSpPr>
          <p:cNvPr id="4" name="Slide Number Placeholder 3"/>
          <p:cNvSpPr>
            <a:spLocks noGrp="1"/>
          </p:cNvSpPr>
          <p:nvPr>
            <p:ph type="sldNum" sz="quarter" idx="12"/>
          </p:nvPr>
        </p:nvSpPr>
        <p:spPr/>
        <p:txBody>
          <a:bodyPr/>
          <a:lstStyle/>
          <a:p>
            <a:fld id="{B568120A-2759-47C5-BEF8-A441BA0FE536}" type="slidenum">
              <a:rPr lang="en-US" smtClean="0"/>
              <a:t>18</a:t>
            </a:fld>
            <a:endParaRPr lang="en-US"/>
          </a:p>
        </p:txBody>
      </p:sp>
    </p:spTree>
    <p:extLst>
      <p:ext uri="{BB962C8B-B14F-4D97-AF65-F5344CB8AC3E}">
        <p14:creationId xmlns:p14="http://schemas.microsoft.com/office/powerpoint/2010/main" val="2228897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Micro-simulation model</a:t>
            </a:r>
          </a:p>
        </p:txBody>
      </p:sp>
      <p:sp>
        <p:nvSpPr>
          <p:cNvPr id="3" name="Content Placeholder 2"/>
          <p:cNvSpPr>
            <a:spLocks noGrp="1"/>
          </p:cNvSpPr>
          <p:nvPr>
            <p:ph idx="1"/>
          </p:nvPr>
        </p:nvSpPr>
        <p:spPr/>
        <p:txBody>
          <a:bodyPr>
            <a:normAutofit fontScale="62500" lnSpcReduction="20000"/>
          </a:bodyPr>
          <a:lstStyle/>
          <a:p>
            <a:pPr lvl="0"/>
            <a:r>
              <a:rPr lang="en-US" dirty="0">
                <a:solidFill>
                  <a:schemeClr val="tx1"/>
                </a:solidFill>
              </a:rPr>
              <a:t>Applied typically to direct income taxes (PIT, CIT) when database computerized.  Distributional impact of policy change can be qualified.</a:t>
            </a:r>
          </a:p>
          <a:p>
            <a:pPr lvl="0"/>
            <a:endParaRPr lang="en-US" b="1" dirty="0">
              <a:solidFill>
                <a:schemeClr val="tx1"/>
              </a:solidFill>
            </a:endParaRPr>
          </a:p>
          <a:p>
            <a:pPr lvl="0"/>
            <a:r>
              <a:rPr lang="en-US" b="1" dirty="0">
                <a:solidFill>
                  <a:schemeClr val="tx1"/>
                </a:solidFill>
              </a:rPr>
              <a:t>Data requirement:  </a:t>
            </a:r>
            <a:r>
              <a:rPr lang="en-US" dirty="0">
                <a:solidFill>
                  <a:schemeClr val="tx1"/>
                </a:solidFill>
              </a:rPr>
              <a:t>Individual income tax returns and the appropriate PIT/CIT tax provisions.</a:t>
            </a:r>
            <a:endParaRPr lang="en-US" sz="1350" dirty="0">
              <a:solidFill>
                <a:schemeClr val="tx1"/>
              </a:solidFill>
            </a:endParaRPr>
          </a:p>
          <a:p>
            <a:pPr lvl="0"/>
            <a:r>
              <a:rPr lang="en-US" b="1" dirty="0">
                <a:solidFill>
                  <a:schemeClr val="tx1"/>
                </a:solidFill>
              </a:rPr>
              <a:t>Steps:</a:t>
            </a:r>
            <a:endParaRPr lang="en-US" sz="1350" b="1" dirty="0">
              <a:solidFill>
                <a:schemeClr val="tx1"/>
              </a:solidFill>
            </a:endParaRPr>
          </a:p>
          <a:p>
            <a:pPr lvl="1"/>
            <a:r>
              <a:rPr lang="en-US" b="1" dirty="0">
                <a:solidFill>
                  <a:schemeClr val="tx1"/>
                </a:solidFill>
              </a:rPr>
              <a:t>Sampling</a:t>
            </a:r>
            <a:r>
              <a:rPr lang="en-US" dirty="0">
                <a:solidFill>
                  <a:schemeClr val="tx1"/>
                </a:solidFill>
              </a:rPr>
              <a:t> of tax returns (Stratified sampling). </a:t>
            </a:r>
          </a:p>
          <a:p>
            <a:pPr lvl="3">
              <a:buFont typeface="Wingdings" panose="05000000000000000000" pitchFamily="2" charset="2"/>
              <a:buChar char="Ø"/>
            </a:pPr>
            <a:r>
              <a:rPr lang="en-US" dirty="0">
                <a:solidFill>
                  <a:schemeClr val="tx1"/>
                </a:solidFill>
              </a:rPr>
              <a:t>First, different strata are established on the basis of some critical categories such as size of assets, income, industry, or region.  Firms in each stratum resemble by the category used to select the strata.  </a:t>
            </a:r>
          </a:p>
          <a:p>
            <a:pPr lvl="3">
              <a:buFont typeface="Wingdings" panose="05000000000000000000" pitchFamily="2" charset="2"/>
              <a:buChar char="Ø"/>
            </a:pPr>
            <a:r>
              <a:rPr lang="en-US" dirty="0">
                <a:solidFill>
                  <a:schemeClr val="tx1"/>
                </a:solidFill>
              </a:rPr>
              <a:t>Second, sample of firms/individual taxpayers selected from these strata.  </a:t>
            </a:r>
          </a:p>
          <a:p>
            <a:pPr lvl="1"/>
            <a:r>
              <a:rPr lang="en-US" b="1" dirty="0">
                <a:solidFill>
                  <a:schemeClr val="tx1"/>
                </a:solidFill>
              </a:rPr>
              <a:t>Data cleaning and completion</a:t>
            </a:r>
            <a:r>
              <a:rPr lang="en-US" dirty="0">
                <a:solidFill>
                  <a:schemeClr val="tx1"/>
                </a:solidFill>
              </a:rPr>
              <a:t>.  </a:t>
            </a:r>
          </a:p>
          <a:p>
            <a:pPr lvl="3">
              <a:buFont typeface="Wingdings" panose="05000000000000000000" pitchFamily="2" charset="2"/>
              <a:buChar char="Ø"/>
            </a:pPr>
            <a:r>
              <a:rPr lang="en-US" dirty="0">
                <a:solidFill>
                  <a:schemeClr val="tx1"/>
                </a:solidFill>
              </a:rPr>
              <a:t>This step is to ensure consistency and reliability of data selected for the simulations.</a:t>
            </a:r>
          </a:p>
          <a:p>
            <a:pPr lvl="3">
              <a:buFont typeface="Wingdings" panose="05000000000000000000" pitchFamily="2" charset="2"/>
              <a:buChar char="Ø"/>
            </a:pPr>
            <a:r>
              <a:rPr lang="en-US" dirty="0">
                <a:solidFill>
                  <a:schemeClr val="tx1"/>
                </a:solidFill>
              </a:rPr>
              <a:t>Filling in missing data relies on either data from corporate financial statements, individual tax filings, and/or imputation data.</a:t>
            </a:r>
            <a:endParaRPr lang="en-US" sz="700" dirty="0">
              <a:solidFill>
                <a:schemeClr val="tx1"/>
              </a:solidFill>
            </a:endParaRPr>
          </a:p>
          <a:p>
            <a:pPr lvl="1"/>
            <a:r>
              <a:rPr lang="en-US" b="1" dirty="0">
                <a:solidFill>
                  <a:schemeClr val="tx1"/>
                </a:solidFill>
              </a:rPr>
              <a:t>Construct a </a:t>
            </a:r>
            <a:r>
              <a:rPr lang="en-US" b="1" u="sng" dirty="0">
                <a:solidFill>
                  <a:schemeClr val="tx1"/>
                </a:solidFill>
              </a:rPr>
              <a:t>tax calculator </a:t>
            </a:r>
            <a:r>
              <a:rPr lang="en-US" dirty="0">
                <a:solidFill>
                  <a:schemeClr val="tx1"/>
                </a:solidFill>
              </a:rPr>
              <a:t>to simulate PIT/CIT.  </a:t>
            </a:r>
            <a:endParaRPr lang="en-US" sz="1200" dirty="0">
              <a:solidFill>
                <a:schemeClr val="tx1"/>
              </a:solidFill>
            </a:endParaRPr>
          </a:p>
          <a:p>
            <a:endParaRPr lang="en-US" dirty="0">
              <a:solidFill>
                <a:schemeClr val="tx1"/>
              </a:solidFill>
            </a:endParaRPr>
          </a:p>
        </p:txBody>
      </p:sp>
      <p:sp>
        <p:nvSpPr>
          <p:cNvPr id="4" name="Slide Number Placeholder 3"/>
          <p:cNvSpPr>
            <a:spLocks noGrp="1"/>
          </p:cNvSpPr>
          <p:nvPr>
            <p:ph type="sldNum" sz="quarter" idx="12"/>
          </p:nvPr>
        </p:nvSpPr>
        <p:spPr/>
        <p:txBody>
          <a:bodyPr/>
          <a:lstStyle/>
          <a:p>
            <a:fld id="{B568120A-2759-47C5-BEF8-A441BA0FE536}" type="slidenum">
              <a:rPr lang="en-US" smtClean="0"/>
              <a:t>19</a:t>
            </a:fld>
            <a:endParaRPr lang="en-US"/>
          </a:p>
        </p:txBody>
      </p:sp>
    </p:spTree>
    <p:extLst>
      <p:ext uri="{BB962C8B-B14F-4D97-AF65-F5344CB8AC3E}">
        <p14:creationId xmlns:p14="http://schemas.microsoft.com/office/powerpoint/2010/main" val="41042381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850" y="152400"/>
            <a:ext cx="8496300" cy="576263"/>
          </a:xfrm>
        </p:spPr>
        <p:txBody>
          <a:bodyPr/>
          <a:lstStyle/>
          <a:p>
            <a:r>
              <a:rPr lang="en-US" sz="2800" dirty="0"/>
              <a:t>US Treasury Department Microsimulation Model estimates of Tax Reform Proposals</a:t>
            </a:r>
          </a:p>
        </p:txBody>
      </p:sp>
      <p:sp>
        <p:nvSpPr>
          <p:cNvPr id="4" name="Slide Number Placeholder 3"/>
          <p:cNvSpPr>
            <a:spLocks noGrp="1"/>
          </p:cNvSpPr>
          <p:nvPr>
            <p:ph type="sldNum" sz="quarter" idx="11"/>
          </p:nvPr>
        </p:nvSpPr>
        <p:spPr/>
        <p:txBody>
          <a:bodyPr/>
          <a:lstStyle/>
          <a:p>
            <a:pPr>
              <a:defRPr/>
            </a:pPr>
            <a:fld id="{EF62D93A-3BA0-8848-BFA3-D7046C1B555D}" type="slidenum">
              <a:rPr lang="en-US" smtClean="0"/>
              <a:pPr>
                <a:defRPr/>
              </a:pPr>
              <a:t>20</a:t>
            </a:fld>
            <a:endParaRPr lang="en-US" dirty="0"/>
          </a:p>
        </p:txBody>
      </p:sp>
      <p:pic>
        <p:nvPicPr>
          <p:cNvPr id="5" name="Picture 4"/>
          <p:cNvPicPr>
            <a:picLocks noChangeAspect="1"/>
          </p:cNvPicPr>
          <p:nvPr/>
        </p:nvPicPr>
        <p:blipFill>
          <a:blip r:embed="rId2"/>
          <a:stretch>
            <a:fillRect/>
          </a:stretch>
        </p:blipFill>
        <p:spPr>
          <a:xfrm>
            <a:off x="0" y="1009933"/>
            <a:ext cx="9144000" cy="5362801"/>
          </a:xfrm>
          <a:prstGeom prst="rect">
            <a:avLst/>
          </a:prstGeom>
        </p:spPr>
      </p:pic>
    </p:spTree>
    <p:extLst>
      <p:ext uri="{BB962C8B-B14F-4D97-AF65-F5344CB8AC3E}">
        <p14:creationId xmlns:p14="http://schemas.microsoft.com/office/powerpoint/2010/main" val="14774404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5256" y="106401"/>
            <a:ext cx="7886700" cy="771520"/>
          </a:xfrm>
        </p:spPr>
        <p:txBody>
          <a:bodyPr/>
          <a:lstStyle/>
          <a:p>
            <a:r>
              <a:rPr lang="en-US" b="1" dirty="0"/>
              <a:t>Growth and taxation</a:t>
            </a:r>
          </a:p>
        </p:txBody>
      </p:sp>
      <p:sp>
        <p:nvSpPr>
          <p:cNvPr id="3" name="Content Placeholder 2"/>
          <p:cNvSpPr>
            <a:spLocks noGrp="1"/>
          </p:cNvSpPr>
          <p:nvPr>
            <p:ph idx="1"/>
          </p:nvPr>
        </p:nvSpPr>
        <p:spPr>
          <a:xfrm>
            <a:off x="628650" y="1066800"/>
            <a:ext cx="7886700" cy="5181600"/>
          </a:xfrm>
        </p:spPr>
        <p:txBody>
          <a:bodyPr>
            <a:noAutofit/>
          </a:bodyPr>
          <a:lstStyle/>
          <a:p>
            <a:r>
              <a:rPr lang="en-US" sz="1600" dirty="0">
                <a:solidFill>
                  <a:schemeClr val="tx1"/>
                </a:solidFill>
              </a:rPr>
              <a:t>What is the impact of Taxation on Investment and Growth?</a:t>
            </a:r>
          </a:p>
          <a:p>
            <a:pPr marL="857250" lvl="2" indent="-457200">
              <a:buFont typeface="Wingdings" panose="05000000000000000000" pitchFamily="2" charset="2"/>
              <a:buChar char="Ø"/>
            </a:pPr>
            <a:r>
              <a:rPr lang="en-US" sz="1600" dirty="0">
                <a:solidFill>
                  <a:schemeClr val="tx1"/>
                </a:solidFill>
              </a:rPr>
              <a:t>The role of Tax Incentives</a:t>
            </a:r>
          </a:p>
          <a:p>
            <a:pPr marL="857250" lvl="2" indent="-457200">
              <a:buFont typeface="Wingdings" panose="05000000000000000000" pitchFamily="2" charset="2"/>
              <a:buChar char="Ø"/>
            </a:pPr>
            <a:r>
              <a:rPr lang="en-US" sz="1600" dirty="0">
                <a:solidFill>
                  <a:schemeClr val="tx1"/>
                </a:solidFill>
              </a:rPr>
              <a:t>What are the revenue costs of tax incentives (Tax Expenditures)</a:t>
            </a:r>
          </a:p>
          <a:p>
            <a:endParaRPr lang="en-US" sz="1600" dirty="0">
              <a:solidFill>
                <a:schemeClr val="tx1"/>
              </a:solidFill>
            </a:endParaRPr>
          </a:p>
          <a:p>
            <a:r>
              <a:rPr lang="en-US" sz="1600" dirty="0">
                <a:solidFill>
                  <a:schemeClr val="tx1"/>
                </a:solidFill>
              </a:rPr>
              <a:t>What are the fiscal multipliers?</a:t>
            </a:r>
          </a:p>
          <a:p>
            <a:pPr marL="857250" lvl="2" indent="-457200">
              <a:buFont typeface="Wingdings" panose="05000000000000000000" pitchFamily="2" charset="2"/>
              <a:buChar char="Ø"/>
            </a:pPr>
            <a:r>
              <a:rPr lang="en-US" sz="1600" dirty="0">
                <a:solidFill>
                  <a:schemeClr val="tx1"/>
                </a:solidFill>
              </a:rPr>
              <a:t>Measures the effect of a $1 change in spending or a $1 change in tax revenue on the level of GDP</a:t>
            </a:r>
          </a:p>
          <a:p>
            <a:pPr marL="857250" lvl="2" indent="-457200">
              <a:buFont typeface="Wingdings" panose="05000000000000000000" pitchFamily="2" charset="2"/>
              <a:buChar char="Ø"/>
            </a:pPr>
            <a:r>
              <a:rPr lang="en-US" sz="1600" dirty="0">
                <a:solidFill>
                  <a:schemeClr val="tx1"/>
                </a:solidFill>
              </a:rPr>
              <a:t>The literature says that the multipliers for Emerging Market Economies are small and hence not very effective </a:t>
            </a:r>
          </a:p>
          <a:p>
            <a:endParaRPr lang="en-US" sz="1600" dirty="0">
              <a:solidFill>
                <a:schemeClr val="tx1"/>
              </a:solidFill>
            </a:endParaRPr>
          </a:p>
          <a:p>
            <a:r>
              <a:rPr lang="en-US" sz="1600" dirty="0">
                <a:solidFill>
                  <a:schemeClr val="tx1"/>
                </a:solidFill>
              </a:rPr>
              <a:t>There exists hierarchy in terms of the damage that different taxes do: </a:t>
            </a:r>
          </a:p>
          <a:p>
            <a:pPr marL="857250" lvl="2" indent="-457200">
              <a:buFont typeface="Wingdings" panose="05000000000000000000" pitchFamily="2" charset="2"/>
              <a:buChar char="Ø"/>
            </a:pPr>
            <a:r>
              <a:rPr lang="en-US" sz="1600" dirty="0">
                <a:solidFill>
                  <a:schemeClr val="tx1"/>
                </a:solidFill>
              </a:rPr>
              <a:t>Those taxes that directly affect investment and labor are the most damaging tax from the point of view of growth and employment (corporate tax on marginal investments, personal income taxes if very high)</a:t>
            </a:r>
          </a:p>
          <a:p>
            <a:pPr marL="857250" lvl="2" indent="-457200">
              <a:buFont typeface="Wingdings" panose="05000000000000000000" pitchFamily="2" charset="2"/>
              <a:buChar char="Ø"/>
            </a:pPr>
            <a:r>
              <a:rPr lang="en-US" sz="1600" dirty="0">
                <a:solidFill>
                  <a:schemeClr val="tx1"/>
                </a:solidFill>
              </a:rPr>
              <a:t>Import duties on investment goods affect the cost of investment</a:t>
            </a:r>
          </a:p>
          <a:p>
            <a:pPr marL="857250" lvl="2" indent="-457200">
              <a:buFont typeface="Wingdings" panose="05000000000000000000" pitchFamily="2" charset="2"/>
              <a:buChar char="Ø"/>
            </a:pPr>
            <a:r>
              <a:rPr lang="en-US" sz="1600" dirty="0">
                <a:solidFill>
                  <a:schemeClr val="tx1"/>
                </a:solidFill>
              </a:rPr>
              <a:t>Taxes on consumption are less distorting to growth, VAT and import duty on consumption items</a:t>
            </a:r>
          </a:p>
          <a:p>
            <a:pPr marL="857250" lvl="2" indent="-457200">
              <a:buFont typeface="Wingdings" panose="05000000000000000000" pitchFamily="2" charset="2"/>
              <a:buChar char="Ø"/>
            </a:pPr>
            <a:r>
              <a:rPr lang="en-US" sz="1600" dirty="0">
                <a:solidFill>
                  <a:schemeClr val="tx1"/>
                </a:solidFill>
              </a:rPr>
              <a:t>Property taxes on residential property has a lower impact on growth in the short run than the other taxes</a:t>
            </a:r>
          </a:p>
        </p:txBody>
      </p:sp>
      <p:sp>
        <p:nvSpPr>
          <p:cNvPr id="4" name="Slide Number Placeholder 3"/>
          <p:cNvSpPr>
            <a:spLocks noGrp="1"/>
          </p:cNvSpPr>
          <p:nvPr>
            <p:ph type="sldNum" sz="quarter" idx="12"/>
          </p:nvPr>
        </p:nvSpPr>
        <p:spPr/>
        <p:txBody>
          <a:bodyPr/>
          <a:lstStyle/>
          <a:p>
            <a:fld id="{B568120A-2759-47C5-BEF8-A441BA0FE536}" type="slidenum">
              <a:rPr lang="en-US" smtClean="0"/>
              <a:t>21</a:t>
            </a:fld>
            <a:endParaRPr lang="en-US"/>
          </a:p>
        </p:txBody>
      </p:sp>
    </p:spTree>
    <p:extLst>
      <p:ext uri="{BB962C8B-B14F-4D97-AF65-F5344CB8AC3E}">
        <p14:creationId xmlns:p14="http://schemas.microsoft.com/office/powerpoint/2010/main" val="37159758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179310"/>
            <a:ext cx="7886700" cy="814862"/>
          </a:xfrm>
        </p:spPr>
        <p:txBody>
          <a:bodyPr/>
          <a:lstStyle/>
          <a:p>
            <a:r>
              <a:rPr lang="en-US" b="1" dirty="0">
                <a:solidFill>
                  <a:schemeClr val="tx1"/>
                </a:solidFill>
              </a:rPr>
              <a:t>Globalization and taxation</a:t>
            </a:r>
          </a:p>
        </p:txBody>
      </p:sp>
      <p:sp>
        <p:nvSpPr>
          <p:cNvPr id="3" name="Content Placeholder 2"/>
          <p:cNvSpPr>
            <a:spLocks noGrp="1"/>
          </p:cNvSpPr>
          <p:nvPr>
            <p:ph idx="1"/>
          </p:nvPr>
        </p:nvSpPr>
        <p:spPr>
          <a:xfrm>
            <a:off x="628650" y="994172"/>
            <a:ext cx="7886700" cy="5254228"/>
          </a:xfrm>
        </p:spPr>
        <p:txBody>
          <a:bodyPr>
            <a:noAutofit/>
          </a:bodyPr>
          <a:lstStyle/>
          <a:p>
            <a:pPr marL="457200" indent="-457200">
              <a:buFont typeface="Arial" panose="020B0604020202020204" pitchFamily="34" charset="0"/>
              <a:buChar char="•"/>
            </a:pPr>
            <a:r>
              <a:rPr lang="en-US" sz="2000" dirty="0">
                <a:solidFill>
                  <a:schemeClr val="tx1"/>
                </a:solidFill>
              </a:rPr>
              <a:t>How has Globalization affected tax?</a:t>
            </a:r>
          </a:p>
          <a:p>
            <a:pPr marL="457200" indent="-457200">
              <a:buFont typeface="Arial" panose="020B0604020202020204" pitchFamily="34" charset="0"/>
              <a:buChar char="•"/>
            </a:pPr>
            <a:endParaRPr lang="en-US" sz="2000" dirty="0">
              <a:solidFill>
                <a:schemeClr val="tx1"/>
              </a:solidFill>
            </a:endParaRPr>
          </a:p>
          <a:p>
            <a:pPr marL="457200" indent="-457200">
              <a:buFont typeface="Arial" panose="020B0604020202020204" pitchFamily="34" charset="0"/>
              <a:buChar char="•"/>
            </a:pPr>
            <a:r>
              <a:rPr lang="en-US" sz="2000" dirty="0">
                <a:solidFill>
                  <a:schemeClr val="tx1"/>
                </a:solidFill>
              </a:rPr>
              <a:t>Trade taxes become less important as a revenue raising instrument.</a:t>
            </a:r>
          </a:p>
          <a:p>
            <a:pPr marL="457200" indent="-457200">
              <a:buFont typeface="Arial" panose="020B0604020202020204" pitchFamily="34" charset="0"/>
              <a:buChar char="•"/>
            </a:pPr>
            <a:endParaRPr lang="en-US" sz="2000" dirty="0">
              <a:solidFill>
                <a:schemeClr val="tx1"/>
              </a:solidFill>
            </a:endParaRPr>
          </a:p>
          <a:p>
            <a:pPr marL="457200" indent="-457200">
              <a:buFont typeface="Arial" panose="020B0604020202020204" pitchFamily="34" charset="0"/>
              <a:buChar char="•"/>
            </a:pPr>
            <a:r>
              <a:rPr lang="en-US" sz="2000" dirty="0">
                <a:solidFill>
                  <a:schemeClr val="tx1"/>
                </a:solidFill>
              </a:rPr>
              <a:t>Globalization exerting downward pressure on CIT and PIT.</a:t>
            </a:r>
          </a:p>
          <a:p>
            <a:pPr marL="457200" lvl="1" indent="-457200">
              <a:buFont typeface="Arial" panose="020B0604020202020204" pitchFamily="34" charset="0"/>
              <a:buChar char="•"/>
            </a:pPr>
            <a:endParaRPr lang="en-US" sz="2000" dirty="0">
              <a:solidFill>
                <a:schemeClr val="tx1"/>
              </a:solidFill>
            </a:endParaRPr>
          </a:p>
          <a:p>
            <a:pPr marL="457200" lvl="1" indent="-457200">
              <a:buFont typeface="Arial" panose="020B0604020202020204" pitchFamily="34" charset="0"/>
              <a:buChar char="•"/>
            </a:pPr>
            <a:r>
              <a:rPr lang="en-US" sz="2000" dirty="0">
                <a:solidFill>
                  <a:schemeClr val="tx1"/>
                </a:solidFill>
              </a:rPr>
              <a:t>Tax competition</a:t>
            </a:r>
          </a:p>
          <a:p>
            <a:pPr lvl="1"/>
            <a:endParaRPr lang="en-US" sz="2000" dirty="0">
              <a:solidFill>
                <a:schemeClr val="tx1"/>
              </a:solidFill>
            </a:endParaRPr>
          </a:p>
          <a:p>
            <a:pPr marL="457200" lvl="1" indent="-457200">
              <a:buFont typeface="Arial" panose="020B0604020202020204" pitchFamily="34" charset="0"/>
              <a:buChar char="•"/>
            </a:pPr>
            <a:r>
              <a:rPr lang="en-US" sz="2000" dirty="0">
                <a:solidFill>
                  <a:schemeClr val="tx1"/>
                </a:solidFill>
              </a:rPr>
              <a:t>Base erosion and profit shifting induced by cross-border transaction.</a:t>
            </a:r>
          </a:p>
          <a:p>
            <a:pPr lvl="3"/>
            <a:r>
              <a:rPr lang="en-US" dirty="0">
                <a:solidFill>
                  <a:schemeClr val="tx1"/>
                </a:solidFill>
              </a:rPr>
              <a:t>Transfer pricing.</a:t>
            </a:r>
          </a:p>
          <a:p>
            <a:pPr lvl="3"/>
            <a:r>
              <a:rPr lang="en-US" dirty="0">
                <a:solidFill>
                  <a:schemeClr val="tx1"/>
                </a:solidFill>
              </a:rPr>
              <a:t>CFC-shifting tax base outside of the country of residence.</a:t>
            </a:r>
          </a:p>
          <a:p>
            <a:pPr lvl="3"/>
            <a:r>
              <a:rPr lang="en-US" dirty="0">
                <a:solidFill>
                  <a:schemeClr val="tx1"/>
                </a:solidFill>
              </a:rPr>
              <a:t>The US:  companies parking profits overseas ‘perpetually.’</a:t>
            </a:r>
          </a:p>
          <a:p>
            <a:pPr lvl="3">
              <a:spcBef>
                <a:spcPts val="750"/>
              </a:spcBef>
            </a:pPr>
            <a:r>
              <a:rPr lang="en-US" dirty="0">
                <a:solidFill>
                  <a:schemeClr val="tx1"/>
                </a:solidFill>
              </a:rPr>
              <a:t>Globalization complicating further and eroding the VAT base.</a:t>
            </a:r>
          </a:p>
          <a:p>
            <a:pPr lvl="3"/>
            <a:r>
              <a:rPr lang="en-US" dirty="0">
                <a:solidFill>
                  <a:schemeClr val="tx1"/>
                </a:solidFill>
              </a:rPr>
              <a:t>Treatment of services and intangibles.</a:t>
            </a:r>
          </a:p>
          <a:p>
            <a:pPr lvl="3"/>
            <a:r>
              <a:rPr lang="en-US" dirty="0">
                <a:solidFill>
                  <a:schemeClr val="tx1"/>
                </a:solidFill>
              </a:rPr>
              <a:t>E-commerce.</a:t>
            </a:r>
          </a:p>
          <a:p>
            <a:pPr lvl="2"/>
            <a:endParaRPr lang="en-US" sz="2000" dirty="0">
              <a:solidFill>
                <a:schemeClr val="tx1"/>
              </a:solidFill>
            </a:endParaRPr>
          </a:p>
          <a:p>
            <a:pPr lvl="1"/>
            <a:endParaRPr lang="en-US" sz="2000" dirty="0">
              <a:solidFill>
                <a:schemeClr val="tx1"/>
              </a:solidFill>
            </a:endParaRPr>
          </a:p>
        </p:txBody>
      </p:sp>
      <p:sp>
        <p:nvSpPr>
          <p:cNvPr id="4" name="Slide Number Placeholder 3"/>
          <p:cNvSpPr>
            <a:spLocks noGrp="1"/>
          </p:cNvSpPr>
          <p:nvPr>
            <p:ph type="sldNum" sz="quarter" idx="12"/>
          </p:nvPr>
        </p:nvSpPr>
        <p:spPr/>
        <p:txBody>
          <a:bodyPr/>
          <a:lstStyle/>
          <a:p>
            <a:fld id="{B568120A-2759-47C5-BEF8-A441BA0FE536}" type="slidenum">
              <a:rPr lang="en-US" smtClean="0"/>
              <a:t>22</a:t>
            </a:fld>
            <a:endParaRPr lang="en-US"/>
          </a:p>
        </p:txBody>
      </p:sp>
    </p:spTree>
    <p:extLst>
      <p:ext uri="{BB962C8B-B14F-4D97-AF65-F5344CB8AC3E}">
        <p14:creationId xmlns:p14="http://schemas.microsoft.com/office/powerpoint/2010/main" val="29534822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8233" y="125731"/>
            <a:ext cx="7886700" cy="646982"/>
          </a:xfrm>
        </p:spPr>
        <p:txBody>
          <a:bodyPr/>
          <a:lstStyle/>
          <a:p>
            <a:r>
              <a:rPr lang="en-US" b="1" dirty="0">
                <a:solidFill>
                  <a:schemeClr val="tx1"/>
                </a:solidFill>
              </a:rPr>
              <a:t>Topics in Tax Policy</a:t>
            </a:r>
          </a:p>
        </p:txBody>
      </p:sp>
      <p:graphicFrame>
        <p:nvGraphicFramePr>
          <p:cNvPr id="6" name="Content Placeholder 5"/>
          <p:cNvGraphicFramePr>
            <a:graphicFrameLocks noGrp="1"/>
          </p:cNvGraphicFramePr>
          <p:nvPr>
            <p:ph idx="1"/>
          </p:nvPr>
        </p:nvGraphicFramePr>
        <p:xfrm>
          <a:off x="219975" y="1146048"/>
          <a:ext cx="8578969" cy="4937754"/>
        </p:xfrm>
        <a:graphic>
          <a:graphicData uri="http://schemas.openxmlformats.org/drawingml/2006/table">
            <a:tbl>
              <a:tblPr bandRow="1">
                <a:tableStyleId>{5C22544A-7EE6-4342-B048-85BDC9FD1C3A}</a:tableStyleId>
              </a:tblPr>
              <a:tblGrid>
                <a:gridCol w="2277372">
                  <a:extLst>
                    <a:ext uri="{9D8B030D-6E8A-4147-A177-3AD203B41FA5}">
                      <a16:colId xmlns:a16="http://schemas.microsoft.com/office/drawing/2014/main" val="22364509"/>
                    </a:ext>
                  </a:extLst>
                </a:gridCol>
                <a:gridCol w="3575570">
                  <a:extLst>
                    <a:ext uri="{9D8B030D-6E8A-4147-A177-3AD203B41FA5}">
                      <a16:colId xmlns:a16="http://schemas.microsoft.com/office/drawing/2014/main" val="3033850537"/>
                    </a:ext>
                  </a:extLst>
                </a:gridCol>
                <a:gridCol w="2726027">
                  <a:extLst>
                    <a:ext uri="{9D8B030D-6E8A-4147-A177-3AD203B41FA5}">
                      <a16:colId xmlns:a16="http://schemas.microsoft.com/office/drawing/2014/main" val="2014167940"/>
                    </a:ext>
                  </a:extLst>
                </a:gridCol>
              </a:tblGrid>
              <a:tr h="509451">
                <a:tc>
                  <a:txBody>
                    <a:bodyPr/>
                    <a:lstStyle/>
                    <a:p>
                      <a:r>
                        <a:rPr lang="en-US" sz="1400" dirty="0"/>
                        <a:t>Taxation and Efficiency</a:t>
                      </a:r>
                    </a:p>
                  </a:txBody>
                  <a:tcPr marL="68580" marR="68580" marT="34290" marB="34290"/>
                </a:tc>
                <a:tc>
                  <a:txBody>
                    <a:bodyPr/>
                    <a:lstStyle/>
                    <a:p>
                      <a:r>
                        <a:rPr lang="en-US" sz="1400" dirty="0"/>
                        <a:t>Personal Income Taxes</a:t>
                      </a:r>
                    </a:p>
                  </a:txBody>
                  <a:tcPr marL="68580" marR="68580" marT="34290" marB="34290"/>
                </a:tc>
                <a:tc>
                  <a:txBody>
                    <a:bodyPr/>
                    <a:lstStyle/>
                    <a:p>
                      <a:r>
                        <a:rPr lang="en-US" sz="1400" dirty="0"/>
                        <a:t>Tax Competition and Harmonization</a:t>
                      </a:r>
                    </a:p>
                  </a:txBody>
                  <a:tcPr marL="68580" marR="68580" marT="34290" marB="34290"/>
                </a:tc>
                <a:extLst>
                  <a:ext uri="{0D108BD9-81ED-4DB2-BD59-A6C34878D82A}">
                    <a16:rowId xmlns:a16="http://schemas.microsoft.com/office/drawing/2014/main" val="507014318"/>
                  </a:ext>
                </a:extLst>
              </a:tr>
              <a:tr h="289995">
                <a:tc>
                  <a:txBody>
                    <a:bodyPr/>
                    <a:lstStyle/>
                    <a:p>
                      <a:r>
                        <a:rPr lang="en-US" sz="1400" dirty="0"/>
                        <a:t>Taxation and Equity</a:t>
                      </a:r>
                    </a:p>
                  </a:txBody>
                  <a:tcPr marL="68580" marR="68580" marT="34290" marB="34290"/>
                </a:tc>
                <a:tc>
                  <a:txBody>
                    <a:bodyPr/>
                    <a:lstStyle/>
                    <a:p>
                      <a:r>
                        <a:rPr lang="en-US" sz="1400" dirty="0"/>
                        <a:t>Taxation of Business Income</a:t>
                      </a:r>
                    </a:p>
                  </a:txBody>
                  <a:tcPr marL="68580" marR="68580" marT="34290" marB="34290"/>
                </a:tc>
                <a:tc>
                  <a:txBody>
                    <a:bodyPr/>
                    <a:lstStyle/>
                    <a:p>
                      <a:r>
                        <a:rPr lang="en-US" sz="1400" dirty="0"/>
                        <a:t>Revenue Forecasting</a:t>
                      </a:r>
                    </a:p>
                  </a:txBody>
                  <a:tcPr marL="68580" marR="68580" marT="34290" marB="34290"/>
                </a:tc>
                <a:extLst>
                  <a:ext uri="{0D108BD9-81ED-4DB2-BD59-A6C34878D82A}">
                    <a16:rowId xmlns:a16="http://schemas.microsoft.com/office/drawing/2014/main" val="1388497809"/>
                  </a:ext>
                </a:extLst>
              </a:tr>
              <a:tr h="289995">
                <a:tc>
                  <a:txBody>
                    <a:bodyPr/>
                    <a:lstStyle/>
                    <a:p>
                      <a:r>
                        <a:rPr lang="en-US" sz="1400" dirty="0"/>
                        <a:t>Tax Incidence</a:t>
                      </a:r>
                    </a:p>
                  </a:txBody>
                  <a:tcPr marL="68580" marR="68580" marT="34290" marB="34290"/>
                </a:tc>
                <a:tc>
                  <a:txBody>
                    <a:bodyPr/>
                    <a:lstStyle/>
                    <a:p>
                      <a:r>
                        <a:rPr lang="en-US" sz="1400" dirty="0"/>
                        <a:t>Corporate Income Tax</a:t>
                      </a:r>
                    </a:p>
                  </a:txBody>
                  <a:tcPr marL="68580" marR="68580" marT="34290" marB="34290"/>
                </a:tc>
                <a:tc>
                  <a:txBody>
                    <a:bodyPr/>
                    <a:lstStyle/>
                    <a:p>
                      <a:r>
                        <a:rPr lang="en-US" sz="1400" dirty="0"/>
                        <a:t>Minimum Taxes</a:t>
                      </a:r>
                    </a:p>
                  </a:txBody>
                  <a:tcPr marL="68580" marR="68580" marT="34290" marB="34290"/>
                </a:tc>
                <a:extLst>
                  <a:ext uri="{0D108BD9-81ED-4DB2-BD59-A6C34878D82A}">
                    <a16:rowId xmlns:a16="http://schemas.microsoft.com/office/drawing/2014/main" val="328350088"/>
                  </a:ext>
                </a:extLst>
              </a:tr>
              <a:tr h="509451">
                <a:tc>
                  <a:txBody>
                    <a:bodyPr/>
                    <a:lstStyle/>
                    <a:p>
                      <a:r>
                        <a:rPr lang="en-US" sz="1400" dirty="0"/>
                        <a:t>General Equilibrium Models</a:t>
                      </a:r>
                    </a:p>
                  </a:txBody>
                  <a:tcPr marL="68580" marR="68580" marT="34290" marB="34290"/>
                </a:tc>
                <a:tc>
                  <a:txBody>
                    <a:bodyPr/>
                    <a:lstStyle/>
                    <a:p>
                      <a:r>
                        <a:rPr lang="en-US" sz="1400" dirty="0"/>
                        <a:t>Capital Gains Tax</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Taxation of the Financial Sector</a:t>
                      </a:r>
                    </a:p>
                  </a:txBody>
                  <a:tcPr marL="68580" marR="68580" marT="34290" marB="34290"/>
                </a:tc>
                <a:extLst>
                  <a:ext uri="{0D108BD9-81ED-4DB2-BD59-A6C34878D82A}">
                    <a16:rowId xmlns:a16="http://schemas.microsoft.com/office/drawing/2014/main" val="3102918320"/>
                  </a:ext>
                </a:extLst>
              </a:tr>
              <a:tr h="289995">
                <a:tc>
                  <a:txBody>
                    <a:bodyPr/>
                    <a:lstStyle/>
                    <a:p>
                      <a:r>
                        <a:rPr lang="en-US" sz="1400" dirty="0"/>
                        <a:t>Taxation and Risk taking</a:t>
                      </a:r>
                    </a:p>
                  </a:txBody>
                  <a:tcPr marL="68580" marR="68580" marT="34290" marB="34290"/>
                </a:tc>
                <a:tc>
                  <a:txBody>
                    <a:bodyPr/>
                    <a:lstStyle/>
                    <a:p>
                      <a:r>
                        <a:rPr lang="en-US" sz="1400" dirty="0"/>
                        <a:t>Tax Incentives</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Taxation of Mineral Resources</a:t>
                      </a:r>
                    </a:p>
                  </a:txBody>
                  <a:tcPr marL="68580" marR="68580" marT="34290" marB="34290"/>
                </a:tc>
                <a:extLst>
                  <a:ext uri="{0D108BD9-81ED-4DB2-BD59-A6C34878D82A}">
                    <a16:rowId xmlns:a16="http://schemas.microsoft.com/office/drawing/2014/main" val="3653523077"/>
                  </a:ext>
                </a:extLst>
              </a:tr>
              <a:tr h="289995">
                <a:tc>
                  <a:txBody>
                    <a:bodyPr/>
                    <a:lstStyle/>
                    <a:p>
                      <a:r>
                        <a:rPr lang="en-US" sz="1400" dirty="0"/>
                        <a:t>Taxation and Savings</a:t>
                      </a:r>
                    </a:p>
                  </a:txBody>
                  <a:tcPr marL="68580" marR="68580" marT="34290" marB="34290"/>
                </a:tc>
                <a:tc>
                  <a:txBody>
                    <a:bodyPr/>
                    <a:lstStyle/>
                    <a:p>
                      <a:r>
                        <a:rPr lang="en-US" sz="1400" dirty="0"/>
                        <a:t>Cash Flow Taxes</a:t>
                      </a:r>
                    </a:p>
                  </a:txBody>
                  <a:tcPr marL="68580" marR="68580" marT="34290" marB="34290"/>
                </a:tc>
                <a:tc>
                  <a:txBody>
                    <a:bodyPr/>
                    <a:lstStyle/>
                    <a:p>
                      <a:endParaRPr lang="en-US" sz="1400" dirty="0"/>
                    </a:p>
                  </a:txBody>
                  <a:tcPr marL="68580" marR="68580" marT="34290" marB="34290"/>
                </a:tc>
                <a:extLst>
                  <a:ext uri="{0D108BD9-81ED-4DB2-BD59-A6C34878D82A}">
                    <a16:rowId xmlns:a16="http://schemas.microsoft.com/office/drawing/2014/main" val="990406059"/>
                  </a:ext>
                </a:extLst>
              </a:tr>
              <a:tr h="289995">
                <a:tc>
                  <a:txBody>
                    <a:bodyPr/>
                    <a:lstStyle/>
                    <a:p>
                      <a:endParaRPr lang="en-US" sz="1400" dirty="0"/>
                    </a:p>
                  </a:txBody>
                  <a:tcPr marL="68580" marR="68580" marT="34290" marB="34290"/>
                </a:tc>
                <a:tc>
                  <a:txBody>
                    <a:bodyPr/>
                    <a:lstStyle/>
                    <a:p>
                      <a:r>
                        <a:rPr lang="en-US" sz="1400" dirty="0"/>
                        <a:t>Payroll Taxes and Social Security</a:t>
                      </a:r>
                    </a:p>
                  </a:txBody>
                  <a:tcPr marL="68580" marR="68580" marT="34290" marB="34290"/>
                </a:tc>
                <a:tc>
                  <a:txBody>
                    <a:bodyPr/>
                    <a:lstStyle/>
                    <a:p>
                      <a:endParaRPr lang="en-US" sz="1400" dirty="0"/>
                    </a:p>
                  </a:txBody>
                  <a:tcPr marL="68580" marR="68580" marT="34290" marB="34290"/>
                </a:tc>
                <a:extLst>
                  <a:ext uri="{0D108BD9-81ED-4DB2-BD59-A6C34878D82A}">
                    <a16:rowId xmlns:a16="http://schemas.microsoft.com/office/drawing/2014/main" val="3529689295"/>
                  </a:ext>
                </a:extLst>
              </a:tr>
              <a:tr h="509451">
                <a:tc>
                  <a:txBody>
                    <a:bodyPr/>
                    <a:lstStyle/>
                    <a:p>
                      <a:r>
                        <a:rPr lang="en-US" sz="1400" dirty="0"/>
                        <a:t>Optimal commodity Taxation</a:t>
                      </a:r>
                    </a:p>
                  </a:txBody>
                  <a:tcPr marL="68580" marR="68580" marT="34290" marB="34290"/>
                </a:tc>
                <a:tc>
                  <a:txBody>
                    <a:bodyPr/>
                    <a:lstStyle/>
                    <a:p>
                      <a:r>
                        <a:rPr lang="en-US" sz="1400" dirty="0"/>
                        <a:t>Asset and Wealth Taxes</a:t>
                      </a:r>
                    </a:p>
                  </a:txBody>
                  <a:tcPr marL="68580" marR="68580" marT="34290" marB="34290"/>
                </a:tc>
                <a:tc>
                  <a:txBody>
                    <a:bodyPr/>
                    <a:lstStyle/>
                    <a:p>
                      <a:endParaRPr lang="en-US" sz="1400" dirty="0"/>
                    </a:p>
                  </a:txBody>
                  <a:tcPr marL="68580" marR="68580" marT="34290" marB="34290"/>
                </a:tc>
                <a:extLst>
                  <a:ext uri="{0D108BD9-81ED-4DB2-BD59-A6C34878D82A}">
                    <a16:rowId xmlns:a16="http://schemas.microsoft.com/office/drawing/2014/main" val="2754758076"/>
                  </a:ext>
                </a:extLst>
              </a:tr>
              <a:tr h="289995">
                <a:tc>
                  <a:txBody>
                    <a:bodyPr/>
                    <a:lstStyle/>
                    <a:p>
                      <a:r>
                        <a:rPr lang="en-US" sz="1400" dirty="0"/>
                        <a:t>Sales Tax/Turnover Taxes</a:t>
                      </a:r>
                    </a:p>
                  </a:txBody>
                  <a:tcPr marL="68580" marR="68580" marT="34290" marB="34290"/>
                </a:tc>
                <a:tc>
                  <a:txBody>
                    <a:bodyPr/>
                    <a:lstStyle/>
                    <a:p>
                      <a:r>
                        <a:rPr lang="en-US" sz="1400" dirty="0"/>
                        <a:t>Taxation of Land and Property</a:t>
                      </a:r>
                    </a:p>
                  </a:txBody>
                  <a:tcPr marL="68580" marR="68580" marT="34290" marB="34290"/>
                </a:tc>
                <a:tc>
                  <a:txBody>
                    <a:bodyPr/>
                    <a:lstStyle/>
                    <a:p>
                      <a:endParaRPr lang="en-US" sz="1400" dirty="0"/>
                    </a:p>
                  </a:txBody>
                  <a:tcPr marL="68580" marR="68580" marT="34290" marB="34290"/>
                </a:tc>
                <a:extLst>
                  <a:ext uri="{0D108BD9-81ED-4DB2-BD59-A6C34878D82A}">
                    <a16:rowId xmlns:a16="http://schemas.microsoft.com/office/drawing/2014/main" val="447806117"/>
                  </a:ext>
                </a:extLst>
              </a:tr>
              <a:tr h="289995">
                <a:tc>
                  <a:txBody>
                    <a:bodyPr/>
                    <a:lstStyle/>
                    <a:p>
                      <a:r>
                        <a:rPr lang="en-US" sz="1400" dirty="0"/>
                        <a:t>VAT</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marL="68580" marR="68580" marT="34290" marB="34290"/>
                </a:tc>
                <a:extLst>
                  <a:ext uri="{0D108BD9-81ED-4DB2-BD59-A6C34878D82A}">
                    <a16:rowId xmlns:a16="http://schemas.microsoft.com/office/drawing/2014/main" val="62901385"/>
                  </a:ext>
                </a:extLst>
              </a:tr>
              <a:tr h="289995">
                <a:tc>
                  <a:txBody>
                    <a:bodyPr/>
                    <a:lstStyle/>
                    <a:p>
                      <a:r>
                        <a:rPr lang="en-US" sz="1400" dirty="0"/>
                        <a:t>Excise Taxes</a:t>
                      </a:r>
                    </a:p>
                  </a:txBody>
                  <a:tcPr marL="68580" marR="68580" marT="34290" marB="34290"/>
                </a:tc>
                <a:tc>
                  <a:txBody>
                    <a:bodyPr/>
                    <a:lstStyle/>
                    <a:p>
                      <a:r>
                        <a:rPr lang="en-US" sz="1400" dirty="0"/>
                        <a:t>International Trade Taxes</a:t>
                      </a:r>
                    </a:p>
                  </a:txBody>
                  <a:tcPr marL="68580" marR="68580" marT="34290" marB="34290"/>
                </a:tc>
                <a:tc>
                  <a:txBody>
                    <a:bodyPr/>
                    <a:lstStyle/>
                    <a:p>
                      <a:endParaRPr lang="en-US" sz="1400" dirty="0"/>
                    </a:p>
                  </a:txBody>
                  <a:tcPr marL="68580" marR="68580" marT="34290" marB="34290"/>
                </a:tc>
                <a:extLst>
                  <a:ext uri="{0D108BD9-81ED-4DB2-BD59-A6C34878D82A}">
                    <a16:rowId xmlns:a16="http://schemas.microsoft.com/office/drawing/2014/main" val="1943704520"/>
                  </a:ext>
                </a:extLst>
              </a:tr>
              <a:tr h="509451">
                <a:tc>
                  <a:txBody>
                    <a:bodyPr/>
                    <a:lstStyle/>
                    <a:p>
                      <a:r>
                        <a:rPr lang="en-US" sz="1400" dirty="0"/>
                        <a:t>User Charges</a:t>
                      </a:r>
                    </a:p>
                  </a:txBody>
                  <a:tcPr marL="68580" marR="68580" marT="34290" marB="34290"/>
                </a:tc>
                <a:tc>
                  <a:txBody>
                    <a:bodyPr/>
                    <a:lstStyle/>
                    <a:p>
                      <a:r>
                        <a:rPr lang="en-US" sz="1400" dirty="0"/>
                        <a:t>Taxation of Income – International</a:t>
                      </a:r>
                      <a:r>
                        <a:rPr lang="en-US" sz="1400" baseline="0" dirty="0"/>
                        <a:t> Tax issues</a:t>
                      </a:r>
                      <a:endParaRPr lang="en-US" sz="1400" dirty="0"/>
                    </a:p>
                  </a:txBody>
                  <a:tcPr marL="68580" marR="68580" marT="34290" marB="34290"/>
                </a:tc>
                <a:tc>
                  <a:txBody>
                    <a:bodyPr/>
                    <a:lstStyle/>
                    <a:p>
                      <a:endParaRPr lang="en-US" sz="1400" dirty="0"/>
                    </a:p>
                  </a:txBody>
                  <a:tcPr marL="68580" marR="68580" marT="34290" marB="34290"/>
                </a:tc>
                <a:extLst>
                  <a:ext uri="{0D108BD9-81ED-4DB2-BD59-A6C34878D82A}">
                    <a16:rowId xmlns:a16="http://schemas.microsoft.com/office/drawing/2014/main" val="2190644907"/>
                  </a:ext>
                </a:extLst>
              </a:tr>
              <a:tr h="289995">
                <a:tc>
                  <a:txBody>
                    <a:bodyPr/>
                    <a:lstStyle/>
                    <a:p>
                      <a:r>
                        <a:rPr lang="en-US" sz="1400" dirty="0"/>
                        <a:t>Environmental Taxes</a:t>
                      </a:r>
                    </a:p>
                  </a:txBody>
                  <a:tcPr marL="68580" marR="68580" marT="34290" marB="34290"/>
                </a:tc>
                <a:tc>
                  <a:txBody>
                    <a:bodyPr/>
                    <a:lstStyle/>
                    <a:p>
                      <a:r>
                        <a:rPr lang="en-US" sz="1400" dirty="0"/>
                        <a:t>Tax Treaties</a:t>
                      </a:r>
                    </a:p>
                  </a:txBody>
                  <a:tcPr marL="68580" marR="68580" marT="34290" marB="34290"/>
                </a:tc>
                <a:tc>
                  <a:txBody>
                    <a:bodyPr/>
                    <a:lstStyle/>
                    <a:p>
                      <a:endParaRPr lang="en-US" sz="1400" dirty="0"/>
                    </a:p>
                  </a:txBody>
                  <a:tcPr marL="68580" marR="68580" marT="34290" marB="34290"/>
                </a:tc>
                <a:extLst>
                  <a:ext uri="{0D108BD9-81ED-4DB2-BD59-A6C34878D82A}">
                    <a16:rowId xmlns:a16="http://schemas.microsoft.com/office/drawing/2014/main" val="1074774427"/>
                  </a:ext>
                </a:extLst>
              </a:tr>
              <a:tr h="2899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marL="68580" marR="68580" marT="34290" marB="34290"/>
                </a:tc>
                <a:tc>
                  <a:txBody>
                    <a:bodyPr/>
                    <a:lstStyle/>
                    <a:p>
                      <a:r>
                        <a:rPr lang="en-US" sz="1400" dirty="0"/>
                        <a:t>International Transfer Pricing</a:t>
                      </a:r>
                    </a:p>
                  </a:txBody>
                  <a:tcPr marL="68580" marR="68580" marT="34290" marB="34290"/>
                </a:tc>
                <a:tc>
                  <a:txBody>
                    <a:bodyPr/>
                    <a:lstStyle/>
                    <a:p>
                      <a:endParaRPr lang="en-US" sz="1400" dirty="0"/>
                    </a:p>
                  </a:txBody>
                  <a:tcPr marL="68580" marR="68580" marT="34290" marB="34290"/>
                </a:tc>
                <a:extLst>
                  <a:ext uri="{0D108BD9-81ED-4DB2-BD59-A6C34878D82A}">
                    <a16:rowId xmlns:a16="http://schemas.microsoft.com/office/drawing/2014/main" val="4228061920"/>
                  </a:ext>
                </a:extLst>
              </a:tr>
            </a:tbl>
          </a:graphicData>
        </a:graphic>
      </p:graphicFrame>
      <p:sp>
        <p:nvSpPr>
          <p:cNvPr id="4" name="Slide Number Placeholder 3"/>
          <p:cNvSpPr>
            <a:spLocks noGrp="1"/>
          </p:cNvSpPr>
          <p:nvPr>
            <p:ph type="sldNum" sz="quarter" idx="12"/>
          </p:nvPr>
        </p:nvSpPr>
        <p:spPr/>
        <p:txBody>
          <a:bodyPr/>
          <a:lstStyle/>
          <a:p>
            <a:fld id="{4E519381-62F2-4C60-99AC-EDADDE1A24E5}" type="slidenum">
              <a:rPr lang="en-US" smtClean="0"/>
              <a:t>23</a:t>
            </a:fld>
            <a:endParaRPr lang="en-US"/>
          </a:p>
        </p:txBody>
      </p:sp>
    </p:spTree>
    <p:extLst>
      <p:ext uri="{BB962C8B-B14F-4D97-AF65-F5344CB8AC3E}">
        <p14:creationId xmlns:p14="http://schemas.microsoft.com/office/powerpoint/2010/main" val="36465531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7280B7CA-C1F6-E81C-4109-CB149B8462C9}"/>
              </a:ext>
            </a:extLst>
          </p:cNvPr>
          <p:cNvSpPr>
            <a:spLocks noGrp="1"/>
          </p:cNvSpPr>
          <p:nvPr>
            <p:ph type="title"/>
          </p:nvPr>
        </p:nvSpPr>
        <p:spPr>
          <a:xfrm>
            <a:off x="609600" y="0"/>
            <a:ext cx="7848600" cy="1219200"/>
          </a:xfrm>
        </p:spPr>
        <p:txBody>
          <a:bodyPr/>
          <a:lstStyle/>
          <a:p>
            <a:r>
              <a:rPr lang="en-US" altLang="en-US" b="1">
                <a:solidFill>
                  <a:srgbClr val="003399"/>
                </a:solidFill>
              </a:rPr>
              <a:t>Foreign aid</a:t>
            </a:r>
          </a:p>
        </p:txBody>
      </p:sp>
      <p:sp>
        <p:nvSpPr>
          <p:cNvPr id="40963" name="Content Placeholder 2">
            <a:extLst>
              <a:ext uri="{FF2B5EF4-FFF2-40B4-BE49-F238E27FC236}">
                <a16:creationId xmlns:a16="http://schemas.microsoft.com/office/drawing/2014/main" id="{43500AA5-C58A-15B1-C189-03F17B6A9089}"/>
              </a:ext>
            </a:extLst>
          </p:cNvPr>
          <p:cNvSpPr>
            <a:spLocks noGrp="1"/>
          </p:cNvSpPr>
          <p:nvPr>
            <p:ph idx="1"/>
          </p:nvPr>
        </p:nvSpPr>
        <p:spPr>
          <a:xfrm>
            <a:off x="609600" y="1219200"/>
            <a:ext cx="8001000" cy="5638800"/>
          </a:xfrm>
        </p:spPr>
        <p:txBody>
          <a:bodyPr/>
          <a:lstStyle/>
          <a:p>
            <a:r>
              <a:rPr lang="en-US" altLang="en-US"/>
              <a:t>Community is now wider.  Revenues are derived from donor country taxes out of donor country surpluses.  Also private foreign voluntary giving (e.g. Gates funding).</a:t>
            </a:r>
          </a:p>
          <a:p>
            <a:r>
              <a:rPr lang="en-US" altLang="en-US"/>
              <a:t>Donor support is typically motivated by:</a:t>
            </a:r>
          </a:p>
          <a:p>
            <a:pPr lvl="1"/>
            <a:r>
              <a:rPr lang="en-US" altLang="en-US"/>
              <a:t>Humanitarian giving</a:t>
            </a:r>
          </a:p>
          <a:p>
            <a:pPr lvl="1"/>
            <a:r>
              <a:rPr lang="en-US" altLang="en-US"/>
              <a:t>Development of recipient country yields “donor satisfaction” and possible gains from improved environment and trade (mutual gains)</a:t>
            </a:r>
          </a:p>
          <a:p>
            <a:pPr lvl="1"/>
            <a:r>
              <a:rPr lang="en-US" altLang="en-US"/>
              <a:t>Strategic gains out of international co-operation from recipient nation </a:t>
            </a:r>
          </a:p>
          <a:p>
            <a:pPr lvl="1"/>
            <a:endParaRPr lang="en-US"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E00EC91F-B57D-1550-52E4-42BBD255B5DD}"/>
              </a:ext>
            </a:extLst>
          </p:cNvPr>
          <p:cNvSpPr>
            <a:spLocks noGrp="1" noChangeArrowheads="1"/>
          </p:cNvSpPr>
          <p:nvPr>
            <p:ph type="title"/>
          </p:nvPr>
        </p:nvSpPr>
        <p:spPr>
          <a:xfrm>
            <a:off x="609600" y="152400"/>
            <a:ext cx="7772400" cy="990600"/>
          </a:xfrm>
        </p:spPr>
        <p:txBody>
          <a:bodyPr/>
          <a:lstStyle/>
          <a:p>
            <a:pPr eaLnBrk="1" hangingPunct="1"/>
            <a:r>
              <a:rPr lang="en-US" altLang="en-US" sz="3000" b="1"/>
              <a:t>How Taxation helps Government Fulfill its Agenda?</a:t>
            </a:r>
          </a:p>
        </p:txBody>
      </p:sp>
      <p:sp>
        <p:nvSpPr>
          <p:cNvPr id="7171" name="Rectangle 3">
            <a:extLst>
              <a:ext uri="{FF2B5EF4-FFF2-40B4-BE49-F238E27FC236}">
                <a16:creationId xmlns:a16="http://schemas.microsoft.com/office/drawing/2014/main" id="{4AADA4A4-22EE-19D3-27C0-F4E4398157FC}"/>
              </a:ext>
            </a:extLst>
          </p:cNvPr>
          <p:cNvSpPr>
            <a:spLocks noGrp="1" noChangeArrowheads="1"/>
          </p:cNvSpPr>
          <p:nvPr>
            <p:ph type="body" idx="1"/>
          </p:nvPr>
        </p:nvSpPr>
        <p:spPr>
          <a:xfrm>
            <a:off x="381000" y="1371600"/>
            <a:ext cx="8458200" cy="5029200"/>
          </a:xfrm>
        </p:spPr>
        <p:txBody>
          <a:bodyPr/>
          <a:lstStyle/>
          <a:p>
            <a:pPr algn="just" eaLnBrk="1" hangingPunct="1">
              <a:lnSpc>
                <a:spcPct val="90000"/>
              </a:lnSpc>
              <a:buFontTx/>
              <a:buNone/>
              <a:defRPr/>
            </a:pPr>
            <a:r>
              <a:rPr lang="en-US" altLang="en-US" sz="2400" b="1" dirty="0">
                <a:latin typeface="Arial" panose="020B0604020202020204" pitchFamily="34" charset="0"/>
                <a:cs typeface="Times New Roman" panose="02020603050405020304" pitchFamily="18" charset="0"/>
              </a:rPr>
              <a:t>	</a:t>
            </a:r>
            <a:r>
              <a:rPr lang="en-US" altLang="en-US" sz="2400" b="1" dirty="0">
                <a:solidFill>
                  <a:srgbClr val="FF0000"/>
                </a:solidFill>
                <a:cs typeface="Times New Roman" panose="02020603050405020304" pitchFamily="18" charset="0"/>
              </a:rPr>
              <a:t>Governments need revenues in order to perform their functions.  </a:t>
            </a:r>
            <a:endParaRPr lang="en-US" altLang="en-US" sz="2400" dirty="0">
              <a:solidFill>
                <a:srgbClr val="FF0000"/>
              </a:solidFill>
              <a:cs typeface="Times New Roman" panose="02020603050405020304" pitchFamily="18" charset="0"/>
            </a:endParaRPr>
          </a:p>
          <a:p>
            <a:pPr eaLnBrk="1" hangingPunct="1">
              <a:lnSpc>
                <a:spcPct val="90000"/>
              </a:lnSpc>
              <a:defRPr/>
            </a:pPr>
            <a:r>
              <a:rPr lang="en-US" altLang="en-US" sz="2400" dirty="0">
                <a:cs typeface="Times New Roman" panose="02020603050405020304" pitchFamily="18" charset="0"/>
              </a:rPr>
              <a:t>Provide goods and services that the private sector fails to supply (</a:t>
            </a:r>
            <a:r>
              <a:rPr lang="en-US" altLang="en-US" sz="2400" b="1" dirty="0">
                <a:cs typeface="Times New Roman" panose="02020603050405020304" pitchFamily="18" charset="0"/>
              </a:rPr>
              <a:t>market failures and public goods – monopoly</a:t>
            </a:r>
            <a:r>
              <a:rPr lang="en-US" altLang="en-US" sz="2400" dirty="0">
                <a:cs typeface="Times New Roman" panose="02020603050405020304" pitchFamily="18" charset="0"/>
              </a:rPr>
              <a:t>, national security, legal system, public parks, etc.)</a:t>
            </a:r>
          </a:p>
          <a:p>
            <a:pPr eaLnBrk="1" hangingPunct="1">
              <a:lnSpc>
                <a:spcPct val="90000"/>
              </a:lnSpc>
              <a:defRPr/>
            </a:pPr>
            <a:r>
              <a:rPr lang="en-US" altLang="en-US" sz="2400" dirty="0">
                <a:cs typeface="Times New Roman" panose="02020603050405020304" pitchFamily="18" charset="0"/>
              </a:rPr>
              <a:t>Correct market imperfections (</a:t>
            </a:r>
            <a:r>
              <a:rPr lang="en-US" altLang="en-US" sz="2400" b="1" dirty="0">
                <a:cs typeface="Times New Roman" panose="02020603050405020304" pitchFamily="18" charset="0"/>
              </a:rPr>
              <a:t>externalities</a:t>
            </a:r>
            <a:r>
              <a:rPr lang="en-US" altLang="en-US" sz="2400" dirty="0">
                <a:cs typeface="Times New Roman" panose="02020603050405020304" pitchFamily="18" charset="0"/>
              </a:rPr>
              <a:t> – pollution, public health, public education, etc.)</a:t>
            </a:r>
          </a:p>
          <a:p>
            <a:pPr marL="0" indent="0" eaLnBrk="1" hangingPunct="1">
              <a:lnSpc>
                <a:spcPct val="90000"/>
              </a:lnSpc>
              <a:buFontTx/>
              <a:buNone/>
              <a:defRPr/>
            </a:pPr>
            <a:endParaRPr lang="en-US" altLang="en-US" sz="2400" dirty="0">
              <a:cs typeface="Times New Roman" panose="02020603050405020304" pitchFamily="18" charset="0"/>
            </a:endParaRPr>
          </a:p>
          <a:p>
            <a:pPr marL="0" indent="0" eaLnBrk="1" hangingPunct="1">
              <a:lnSpc>
                <a:spcPct val="90000"/>
              </a:lnSpc>
              <a:buFontTx/>
              <a:buNone/>
              <a:defRPr/>
            </a:pPr>
            <a:r>
              <a:rPr lang="en-US" altLang="en-US" sz="2400" dirty="0">
                <a:cs typeface="Times New Roman" panose="02020603050405020304" pitchFamily="18" charset="0"/>
              </a:rPr>
              <a:t>    </a:t>
            </a:r>
            <a:r>
              <a:rPr lang="en-US" altLang="en-US" sz="2400" b="1" dirty="0">
                <a:solidFill>
                  <a:srgbClr val="FF0000"/>
                </a:solidFill>
                <a:cs typeface="Times New Roman" panose="02020603050405020304" pitchFamily="18" charset="0"/>
              </a:rPr>
              <a:t>Taxation helps complete the rest of the Agenda too:   </a:t>
            </a:r>
          </a:p>
          <a:p>
            <a:pPr eaLnBrk="1" hangingPunct="1">
              <a:lnSpc>
                <a:spcPct val="90000"/>
              </a:lnSpc>
              <a:defRPr/>
            </a:pPr>
            <a:r>
              <a:rPr lang="en-US" altLang="en-US" sz="2400" b="1" dirty="0">
                <a:cs typeface="Times New Roman" panose="02020603050405020304" pitchFamily="18" charset="0"/>
              </a:rPr>
              <a:t>Improve distribution of wealth and skills </a:t>
            </a:r>
            <a:r>
              <a:rPr lang="en-US" altLang="en-US" sz="2400" dirty="0">
                <a:cs typeface="Times New Roman" panose="02020603050405020304" pitchFamily="18" charset="0"/>
              </a:rPr>
              <a:t>in society and promote equity.</a:t>
            </a:r>
          </a:p>
          <a:p>
            <a:pPr eaLnBrk="1" hangingPunct="1">
              <a:lnSpc>
                <a:spcPct val="90000"/>
              </a:lnSpc>
              <a:defRPr/>
            </a:pPr>
            <a:r>
              <a:rPr lang="en-US" altLang="en-US" sz="2400" b="1" dirty="0">
                <a:cs typeface="Times New Roman" panose="02020603050405020304" pitchFamily="18" charset="0"/>
              </a:rPr>
              <a:t>Stabilize markets and avoid both inflation and recession, </a:t>
            </a:r>
            <a:r>
              <a:rPr lang="en-US" altLang="en-US" sz="2400" dirty="0">
                <a:cs typeface="Times New Roman" panose="02020603050405020304" pitchFamily="18" charset="0"/>
              </a:rPr>
              <a:t>using fiscal (taxation) and monetary policies (interest rate) to reduce risks to investors.</a:t>
            </a:r>
            <a:endParaRPr lang="en-US" altLang="en-US" dirty="0">
              <a:cs typeface="Times New Roman" panose="02020603050405020304" pitchFamily="18" charset="0"/>
            </a:endParaRPr>
          </a:p>
          <a:p>
            <a:pPr eaLnBrk="1" hangingPunct="1">
              <a:lnSpc>
                <a:spcPct val="90000"/>
              </a:lnSpc>
              <a:defRPr/>
            </a:pPr>
            <a:endParaRPr lang="en-US" altLang="en-US" sz="2400" dirty="0">
              <a:latin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433CA84F-CB35-A03D-38F9-999F7E10DD31}"/>
              </a:ext>
            </a:extLst>
          </p:cNvPr>
          <p:cNvSpPr>
            <a:spLocks noGrp="1" noChangeArrowheads="1"/>
          </p:cNvSpPr>
          <p:nvPr>
            <p:ph type="title"/>
          </p:nvPr>
        </p:nvSpPr>
        <p:spPr>
          <a:xfrm>
            <a:off x="685800" y="0"/>
            <a:ext cx="7772400" cy="1066800"/>
          </a:xfrm>
        </p:spPr>
        <p:txBody>
          <a:bodyPr/>
          <a:lstStyle/>
          <a:p>
            <a:r>
              <a:rPr lang="en-US" altLang="en-US" sz="3000">
                <a:cs typeface="Times New Roman" panose="02020603050405020304" pitchFamily="18" charset="0"/>
              </a:rPr>
              <a:t>Progress with DRM in Low and Middle Income Countries (LICs and MICs)</a:t>
            </a:r>
          </a:p>
        </p:txBody>
      </p:sp>
      <p:sp>
        <p:nvSpPr>
          <p:cNvPr id="3" name="Content Placeholder 2">
            <a:extLst>
              <a:ext uri="{FF2B5EF4-FFF2-40B4-BE49-F238E27FC236}">
                <a16:creationId xmlns:a16="http://schemas.microsoft.com/office/drawing/2014/main" id="{A18E8DCC-63B5-359B-36D2-8123B8C68B26}"/>
              </a:ext>
            </a:extLst>
          </p:cNvPr>
          <p:cNvSpPr>
            <a:spLocks noGrp="1"/>
          </p:cNvSpPr>
          <p:nvPr>
            <p:ph idx="1"/>
          </p:nvPr>
        </p:nvSpPr>
        <p:spPr>
          <a:xfrm>
            <a:off x="685800" y="1295400"/>
            <a:ext cx="7772400" cy="5105400"/>
          </a:xfrm>
        </p:spPr>
        <p:txBody>
          <a:bodyPr>
            <a:normAutofit fontScale="77500" lnSpcReduction="20000"/>
          </a:bodyPr>
          <a:lstStyle/>
          <a:p>
            <a:pPr>
              <a:defRPr/>
            </a:pPr>
            <a:r>
              <a:rPr lang="en-US" dirty="0">
                <a:cs typeface="Times New Roman" panose="02020603050405020304" pitchFamily="18" charset="0"/>
              </a:rPr>
              <a:t>Since the 1980s, average government revenues in developing countries, both low income countries (LICs) and middle income countries (MICs), have been increasing. </a:t>
            </a:r>
          </a:p>
          <a:p>
            <a:pPr>
              <a:defRPr/>
            </a:pPr>
            <a:r>
              <a:rPr lang="en-US" dirty="0">
                <a:cs typeface="Times New Roman" panose="02020603050405020304" pitchFamily="18" charset="0"/>
              </a:rPr>
              <a:t>But private sector still not quite strong and the present levels of domestic revenues fall short of what is needed to support a more robust development agenda in countries where poverty is high and socio-economic disparities are quite acute. </a:t>
            </a:r>
          </a:p>
          <a:p>
            <a:pPr>
              <a:defRPr/>
            </a:pPr>
            <a:r>
              <a:rPr lang="en-US" dirty="0">
                <a:solidFill>
                  <a:srgbClr val="FF0000"/>
                </a:solidFill>
                <a:cs typeface="Times New Roman" panose="02020603050405020304" pitchFamily="18" charset="0"/>
              </a:rPr>
              <a:t>Countries with some of the lowest revenue-to-GDP ratios are also those where most of the world’s extremely poor live - India, Bangladesh, East Africa Community and Nigeria – they all have tax-GDP ratios around or below 15%.</a:t>
            </a:r>
          </a:p>
          <a:p>
            <a:pPr>
              <a:defRPr/>
            </a:pPr>
            <a:r>
              <a:rPr lang="en-US" sz="2300" dirty="0">
                <a:cs typeface="Times New Roman" panose="02020603050405020304" pitchFamily="18" charset="0"/>
              </a:rPr>
              <a:t>Source: IMF </a:t>
            </a:r>
          </a:p>
          <a:p>
            <a:pPr>
              <a:defRPr/>
            </a:pPr>
            <a:endParaRPr lang="en-US" dirty="0"/>
          </a:p>
          <a:p>
            <a:pPr>
              <a:defRPr/>
            </a:pP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391D2F3B-7DF8-206E-33E0-A320E8253F4C}"/>
              </a:ext>
            </a:extLst>
          </p:cNvPr>
          <p:cNvSpPr>
            <a:spLocks noGrp="1" noChangeArrowheads="1"/>
          </p:cNvSpPr>
          <p:nvPr>
            <p:ph type="title"/>
          </p:nvPr>
        </p:nvSpPr>
        <p:spPr>
          <a:xfrm>
            <a:off x="685800" y="0"/>
            <a:ext cx="7772400" cy="990600"/>
          </a:xfrm>
        </p:spPr>
        <p:txBody>
          <a:bodyPr/>
          <a:lstStyle/>
          <a:p>
            <a:r>
              <a:rPr lang="en-US" altLang="en-US" sz="3000"/>
              <a:t>New Emphasis on Domestic Revenue Mobilization (DRM)</a:t>
            </a:r>
          </a:p>
        </p:txBody>
      </p:sp>
      <p:sp>
        <p:nvSpPr>
          <p:cNvPr id="11267" name="Content Placeholder 2">
            <a:extLst>
              <a:ext uri="{FF2B5EF4-FFF2-40B4-BE49-F238E27FC236}">
                <a16:creationId xmlns:a16="http://schemas.microsoft.com/office/drawing/2014/main" id="{5515FB2B-C99E-69D0-CAFF-A4CBE01F95B9}"/>
              </a:ext>
            </a:extLst>
          </p:cNvPr>
          <p:cNvSpPr>
            <a:spLocks noGrp="1" noChangeArrowheads="1"/>
          </p:cNvSpPr>
          <p:nvPr>
            <p:ph idx="1"/>
          </p:nvPr>
        </p:nvSpPr>
        <p:spPr>
          <a:xfrm>
            <a:off x="685800" y="1143000"/>
            <a:ext cx="8077200" cy="5257800"/>
          </a:xfrm>
        </p:spPr>
        <p:txBody>
          <a:bodyPr/>
          <a:lstStyle/>
          <a:p>
            <a:r>
              <a:rPr lang="en-US" altLang="en-US" sz="2000"/>
              <a:t>The sustainable development goals or </a:t>
            </a:r>
            <a:r>
              <a:rPr lang="en-US" altLang="en-US" sz="2000" b="1"/>
              <a:t>SDGs</a:t>
            </a:r>
            <a:r>
              <a:rPr lang="en-US" altLang="en-US" sz="2000"/>
              <a:t> (post-2015 development agenda) </a:t>
            </a:r>
            <a:r>
              <a:rPr lang="en-US" altLang="en-US" sz="2000">
                <a:solidFill>
                  <a:srgbClr val="FF0000"/>
                </a:solidFill>
              </a:rPr>
              <a:t>espoused in the </a:t>
            </a:r>
            <a:r>
              <a:rPr lang="en-US" altLang="en-US" sz="2000" b="1">
                <a:solidFill>
                  <a:srgbClr val="FF0000"/>
                </a:solidFill>
              </a:rPr>
              <a:t>2015 summit of the UN member states </a:t>
            </a:r>
            <a:r>
              <a:rPr lang="en-US" altLang="en-US" sz="2000">
                <a:solidFill>
                  <a:srgbClr val="FF0000"/>
                </a:solidFill>
              </a:rPr>
              <a:t>have replaced the </a:t>
            </a:r>
            <a:r>
              <a:rPr lang="en-US" altLang="en-US" sz="2000" b="1">
                <a:solidFill>
                  <a:srgbClr val="FF0000"/>
                </a:solidFill>
              </a:rPr>
              <a:t>millennium development goals (MDGs). </a:t>
            </a:r>
            <a:r>
              <a:rPr lang="en-US" altLang="en-US" sz="2000"/>
              <a:t>They address the  </a:t>
            </a:r>
            <a:r>
              <a:rPr lang="en-US" altLang="en-US" sz="2000">
                <a:solidFill>
                  <a:srgbClr val="FF0000"/>
                </a:solidFill>
              </a:rPr>
              <a:t>dual challenges of eradicating global poverty and protecting environment.</a:t>
            </a:r>
            <a:r>
              <a:rPr lang="en-US" altLang="en-US" sz="2000"/>
              <a:t> </a:t>
            </a:r>
          </a:p>
          <a:p>
            <a:r>
              <a:rPr lang="en-US" altLang="en-US" sz="2000"/>
              <a:t>The Intergovernmental Committee of Experts on SDG (UN) has estimated  the cost of providing a social safety net to eradicate extreme poverty to be about </a:t>
            </a:r>
            <a:r>
              <a:rPr lang="en-US" altLang="en-US" sz="2000" b="1"/>
              <a:t>US$66 billion a year</a:t>
            </a:r>
            <a:r>
              <a:rPr lang="en-US" altLang="en-US" sz="2000"/>
              <a:t>, while annual investments in improving infrastructure could be </a:t>
            </a:r>
            <a:r>
              <a:rPr lang="en-US" altLang="en-US" sz="2000" b="1"/>
              <a:t>US$7 trillion globally</a:t>
            </a:r>
            <a:r>
              <a:rPr lang="en-US" altLang="en-US" sz="2000"/>
              <a:t>. </a:t>
            </a:r>
            <a:r>
              <a:rPr lang="en-US" altLang="en-US" sz="2000" b="1"/>
              <a:t>It clearly raises the development finance goals “from billions to trillions”.</a:t>
            </a:r>
          </a:p>
          <a:p>
            <a:r>
              <a:rPr lang="en-US" altLang="en-US" sz="2000"/>
              <a:t>Developing countries, particularly LICs, used to rely on public international finance to fund their development agendas. However, only five OECD donors met the UN’s target to spend 0.7 percent of their gross national income on </a:t>
            </a:r>
            <a:r>
              <a:rPr lang="en-US" altLang="en-US" sz="2000" b="1"/>
              <a:t>official development assistance </a:t>
            </a:r>
            <a:r>
              <a:rPr lang="en-US" altLang="en-US" sz="2000"/>
              <a:t>(ODA), and the ODA reached only to $135 billion in net terms at its peak amount in 2013. </a:t>
            </a:r>
          </a:p>
          <a:p>
            <a:r>
              <a:rPr lang="en-US" altLang="en-US" sz="2000">
                <a:solidFill>
                  <a:srgbClr val="FF0000"/>
                </a:solidFill>
              </a:rPr>
              <a:t>Even if  the annual ODA level were to double, the developing countries will still face a huge financing gap to fund the SDGs. </a:t>
            </a:r>
          </a:p>
          <a:p>
            <a:endParaRPr lang="en-US" altLang="en-US" sz="2000"/>
          </a:p>
          <a:p>
            <a:endParaRPr lang="en-US" altLang="en-US" sz="2000"/>
          </a:p>
          <a:p>
            <a:endParaRPr lang="en-US" altLang="en-US" sz="20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37728086-42BE-3E24-622C-0C7C0FC8CA97}"/>
              </a:ext>
            </a:extLst>
          </p:cNvPr>
          <p:cNvSpPr>
            <a:spLocks noGrp="1" noChangeArrowheads="1"/>
          </p:cNvSpPr>
          <p:nvPr>
            <p:ph type="title"/>
          </p:nvPr>
        </p:nvSpPr>
        <p:spPr>
          <a:xfrm>
            <a:off x="685800" y="152400"/>
            <a:ext cx="7772400" cy="457200"/>
          </a:xfrm>
        </p:spPr>
        <p:txBody>
          <a:bodyPr/>
          <a:lstStyle/>
          <a:p>
            <a:r>
              <a:rPr lang="en-US" altLang="en-US" sz="3600"/>
              <a:t>Recent Emphasis on DRM (</a:t>
            </a:r>
            <a:r>
              <a:rPr lang="en-US" altLang="en-US" sz="3600" i="1"/>
              <a:t>Contd.</a:t>
            </a:r>
            <a:r>
              <a:rPr lang="en-US" altLang="en-US" sz="3600"/>
              <a:t>)</a:t>
            </a:r>
          </a:p>
        </p:txBody>
      </p:sp>
      <p:sp>
        <p:nvSpPr>
          <p:cNvPr id="12291" name="Content Placeholder 2">
            <a:extLst>
              <a:ext uri="{FF2B5EF4-FFF2-40B4-BE49-F238E27FC236}">
                <a16:creationId xmlns:a16="http://schemas.microsoft.com/office/drawing/2014/main" id="{40EB8981-6E0F-7D57-4455-CED1CD670ED2}"/>
              </a:ext>
            </a:extLst>
          </p:cNvPr>
          <p:cNvSpPr>
            <a:spLocks noGrp="1" noChangeArrowheads="1"/>
          </p:cNvSpPr>
          <p:nvPr>
            <p:ph idx="1"/>
          </p:nvPr>
        </p:nvSpPr>
        <p:spPr>
          <a:xfrm>
            <a:off x="457200" y="914400"/>
            <a:ext cx="8229600" cy="5181600"/>
          </a:xfrm>
        </p:spPr>
        <p:txBody>
          <a:bodyPr/>
          <a:lstStyle/>
          <a:p>
            <a:r>
              <a:rPr lang="en-US" altLang="en-US" sz="2000"/>
              <a:t>So the Intergovernmental Committee concluded that </a:t>
            </a:r>
            <a:r>
              <a:rPr lang="en-US" altLang="en-US" sz="2000" b="1">
                <a:solidFill>
                  <a:srgbClr val="FF0000"/>
                </a:solidFill>
              </a:rPr>
              <a:t>resources generated from the private sector, through tax reforms and a crackdown on illicit financial flows (Base Erosion and Profit Shifting - BEPS) and corruption, are vital</a:t>
            </a:r>
            <a:r>
              <a:rPr lang="en-US" altLang="en-US" sz="2000">
                <a:solidFill>
                  <a:srgbClr val="FF0000"/>
                </a:solidFill>
              </a:rPr>
              <a:t>. </a:t>
            </a:r>
          </a:p>
          <a:p>
            <a:r>
              <a:rPr lang="en-US" altLang="en-US" sz="2000"/>
              <a:t>This has finally led to the realization that there are no easy alternatives and ultimately strengthening of domestic revenues is the answer. </a:t>
            </a:r>
          </a:p>
          <a:p>
            <a:r>
              <a:rPr lang="en-US" altLang="en-US" sz="2000"/>
              <a:t>During the United Nation’s Addis Ababa “Financing for Development Conference (FFD)” in July 2015, </a:t>
            </a:r>
            <a:r>
              <a:rPr lang="en-US" altLang="en-US" sz="2000" b="1"/>
              <a:t>a new reality that the development finance has to come from the households, corporate actors and the governments – seemed to be accepted by all participating nations. </a:t>
            </a:r>
          </a:p>
          <a:p>
            <a:r>
              <a:rPr lang="en-US" altLang="en-US" sz="2000">
                <a:solidFill>
                  <a:srgbClr val="FF0000"/>
                </a:solidFill>
              </a:rPr>
              <a:t>Thus domestic resource mobilization (DRM) has reemerged as the key source of funding national development plans for developing and emerging economies. </a:t>
            </a:r>
          </a:p>
          <a:p>
            <a:r>
              <a:rPr lang="en-US" altLang="en-US" sz="2000"/>
              <a:t>The goal to “</a:t>
            </a:r>
            <a:r>
              <a:rPr lang="en-US" altLang="en-US" sz="2000" b="1"/>
              <a:t>transform the world by 2030: agenda for SDGs</a:t>
            </a:r>
            <a:r>
              <a:rPr lang="en-US" altLang="en-US" sz="2000"/>
              <a:t>” is both attractive and desirable, but </a:t>
            </a:r>
            <a:r>
              <a:rPr lang="en-US" altLang="en-US" sz="2000" b="1"/>
              <a:t>this further raises the bar for all the nations</a:t>
            </a:r>
            <a:r>
              <a:rPr lang="en-US" altLang="en-US" sz="2000"/>
              <a:t>, particularly LDCs. </a:t>
            </a:r>
            <a:r>
              <a:rPr lang="en-US" altLang="en-US" sz="2000" b="1"/>
              <a:t>The topic of DRM, with taxation at its core, is now clearly back on the global front burner.</a:t>
            </a:r>
          </a:p>
          <a:p>
            <a:endParaRPr lang="en-US" altLang="en-US" sz="20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791D99EF-94B5-033B-7428-BDB7840FAD07}"/>
              </a:ext>
            </a:extLst>
          </p:cNvPr>
          <p:cNvSpPr>
            <a:spLocks noGrp="1" noChangeArrowheads="1"/>
          </p:cNvSpPr>
          <p:nvPr>
            <p:ph type="title"/>
          </p:nvPr>
        </p:nvSpPr>
        <p:spPr>
          <a:xfrm>
            <a:off x="685800" y="381000"/>
            <a:ext cx="7772400" cy="838200"/>
          </a:xfrm>
        </p:spPr>
        <p:txBody>
          <a:bodyPr/>
          <a:lstStyle/>
          <a:p>
            <a:pPr eaLnBrk="1" hangingPunct="1"/>
            <a:r>
              <a:rPr lang="en-US" altLang="en-US" sz="3200" b="1">
                <a:cs typeface="Times New Roman" panose="02020603050405020304" pitchFamily="18" charset="0"/>
              </a:rPr>
              <a:t>Domestic Resources and Development: Centrality of Taxation</a:t>
            </a:r>
          </a:p>
        </p:txBody>
      </p:sp>
      <p:graphicFrame>
        <p:nvGraphicFramePr>
          <p:cNvPr id="14339" name="Object 3">
            <a:extLst>
              <a:ext uri="{FF2B5EF4-FFF2-40B4-BE49-F238E27FC236}">
                <a16:creationId xmlns:a16="http://schemas.microsoft.com/office/drawing/2014/main" id="{D6AFC207-0429-9B98-EEB5-408E02F8C826}"/>
              </a:ext>
            </a:extLst>
          </p:cNvPr>
          <p:cNvGraphicFramePr>
            <a:graphicFrameLocks noGrp="1" noChangeAspect="1"/>
          </p:cNvGraphicFramePr>
          <p:nvPr>
            <p:ph type="body" idx="1"/>
          </p:nvPr>
        </p:nvGraphicFramePr>
        <p:xfrm>
          <a:off x="1474788" y="1371600"/>
          <a:ext cx="6116637" cy="4692650"/>
        </p:xfrm>
        <a:graphic>
          <a:graphicData uri="http://schemas.openxmlformats.org/presentationml/2006/ole">
            <mc:AlternateContent xmlns:mc="http://schemas.openxmlformats.org/markup-compatibility/2006">
              <mc:Choice xmlns:v="urn:schemas-microsoft-com:vml" Requires="v">
                <p:oleObj name="Document" r:id="rId2" imgW="5469587" imgH="3645020" progId="Word.Document.8">
                  <p:embed/>
                </p:oleObj>
              </mc:Choice>
              <mc:Fallback>
                <p:oleObj name="Document" r:id="rId2" imgW="5469587" imgH="3645020" progId="Word.Document.8">
                  <p:embed/>
                  <p:pic>
                    <p:nvPicPr>
                      <p:cNvPr id="14339" name="Object 3">
                        <a:extLst>
                          <a:ext uri="{FF2B5EF4-FFF2-40B4-BE49-F238E27FC236}">
                            <a16:creationId xmlns:a16="http://schemas.microsoft.com/office/drawing/2014/main" id="{D6AFC207-0429-9B98-EEB5-408E02F8C826}"/>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4788" y="1371600"/>
                        <a:ext cx="6116637" cy="469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771918EC-7167-579B-B071-15148C122F2C}"/>
              </a:ext>
            </a:extLst>
          </p:cNvPr>
          <p:cNvSpPr>
            <a:spLocks noGrp="1" noChangeArrowheads="1"/>
          </p:cNvSpPr>
          <p:nvPr>
            <p:ph type="title"/>
          </p:nvPr>
        </p:nvSpPr>
        <p:spPr>
          <a:xfrm>
            <a:off x="685800" y="228600"/>
            <a:ext cx="7772400" cy="990600"/>
          </a:xfrm>
        </p:spPr>
        <p:txBody>
          <a:bodyPr/>
          <a:lstStyle/>
          <a:p>
            <a:r>
              <a:rPr lang="en-US" altLang="en-US" sz="3000">
                <a:cs typeface="Times New Roman" panose="02020603050405020304" pitchFamily="18" charset="0"/>
              </a:rPr>
              <a:t>Reasons for Low Domestic Revenues or a ‘Tax Gap’ in Developing Countries?</a:t>
            </a:r>
          </a:p>
        </p:txBody>
      </p:sp>
      <p:sp>
        <p:nvSpPr>
          <p:cNvPr id="3" name="Content Placeholder 2">
            <a:extLst>
              <a:ext uri="{FF2B5EF4-FFF2-40B4-BE49-F238E27FC236}">
                <a16:creationId xmlns:a16="http://schemas.microsoft.com/office/drawing/2014/main" id="{FBF966C5-70B1-B347-A821-0FED84C83A84}"/>
              </a:ext>
            </a:extLst>
          </p:cNvPr>
          <p:cNvSpPr>
            <a:spLocks noGrp="1"/>
          </p:cNvSpPr>
          <p:nvPr>
            <p:ph idx="1"/>
          </p:nvPr>
        </p:nvSpPr>
        <p:spPr>
          <a:xfrm>
            <a:off x="685800" y="1447800"/>
            <a:ext cx="7772400" cy="4648200"/>
          </a:xfrm>
        </p:spPr>
        <p:txBody>
          <a:bodyPr>
            <a:normAutofit fontScale="70000" lnSpcReduction="20000"/>
          </a:bodyPr>
          <a:lstStyle/>
          <a:p>
            <a:pPr>
              <a:defRPr/>
            </a:pPr>
            <a:r>
              <a:rPr lang="en-US" dirty="0">
                <a:cs typeface="Times New Roman" panose="02020603050405020304" pitchFamily="18" charset="0"/>
              </a:rPr>
              <a:t>Following are the possible reasons for a continued revenue gap in low income countries in particular and developing countries in general:</a:t>
            </a:r>
          </a:p>
          <a:p>
            <a:pPr lvl="1">
              <a:defRPr/>
            </a:pPr>
            <a:r>
              <a:rPr lang="en-US" dirty="0">
                <a:cs typeface="Times New Roman" panose="02020603050405020304" pitchFamily="18" charset="0"/>
              </a:rPr>
              <a:t>Existing tax capacity and revenue mobilization opportunities not exploited fully</a:t>
            </a:r>
          </a:p>
          <a:p>
            <a:pPr lvl="1">
              <a:defRPr/>
            </a:pPr>
            <a:r>
              <a:rPr lang="en-US" dirty="0">
                <a:cs typeface="Times New Roman" panose="02020603050405020304" pitchFamily="18" charset="0"/>
              </a:rPr>
              <a:t>Lack of a good tax system including taxation of natural resources; and poor exploitation of other non-tax revenue sources </a:t>
            </a:r>
          </a:p>
          <a:p>
            <a:pPr lvl="1">
              <a:defRPr/>
            </a:pPr>
            <a:r>
              <a:rPr lang="en-US" dirty="0">
                <a:cs typeface="Times New Roman" panose="02020603050405020304" pitchFamily="18" charset="0"/>
              </a:rPr>
              <a:t>Low tax effort due to weak tax administration and low levels of compliance by domestic taxpayers</a:t>
            </a:r>
          </a:p>
          <a:p>
            <a:pPr lvl="1">
              <a:defRPr/>
            </a:pPr>
            <a:r>
              <a:rPr lang="en-US" dirty="0">
                <a:cs typeface="Times New Roman" panose="02020603050405020304" pitchFamily="18" charset="0"/>
              </a:rPr>
              <a:t>Aggressive tax planning by businesses using tax shelters, transfer pricing etc. leading to Base Erosion and Profit Shifting (BEPS) especially in international taxation   </a:t>
            </a:r>
          </a:p>
          <a:p>
            <a:pPr lvl="1">
              <a:defRPr/>
            </a:pPr>
            <a:r>
              <a:rPr lang="en-US" dirty="0">
                <a:cs typeface="Times New Roman" panose="02020603050405020304" pitchFamily="18" charset="0"/>
              </a:rPr>
              <a:t>Lack of political will (??)</a:t>
            </a:r>
          </a:p>
          <a:p>
            <a:pPr>
              <a:defRPr/>
            </a:pPr>
            <a:r>
              <a:rPr lang="en-US" dirty="0">
                <a:solidFill>
                  <a:srgbClr val="FF0000"/>
                </a:solidFill>
                <a:cs typeface="Times New Roman" panose="02020603050405020304" pitchFamily="18" charset="0"/>
              </a:rPr>
              <a:t>We start by examining the key principles and practices of a good tax policy followed by tenets of a modern and effective tax administration.  </a:t>
            </a:r>
          </a:p>
          <a:p>
            <a:pPr>
              <a:defRPr/>
            </a:pPr>
            <a:endParaRPr lang="en-US" dirty="0">
              <a:cs typeface="Times New Roman" panose="02020603050405020304" pitchFamily="18" charset="0"/>
            </a:endParaRPr>
          </a:p>
          <a:p>
            <a:pPr>
              <a:defRPr/>
            </a:pPr>
            <a:endParaRPr lang="en-US" dirty="0">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E5C57117-D807-EDE1-FF8E-C061A626DDE8}"/>
              </a:ext>
            </a:extLst>
          </p:cNvPr>
          <p:cNvSpPr>
            <a:spLocks noGrp="1" noChangeArrowheads="1"/>
          </p:cNvSpPr>
          <p:nvPr>
            <p:ph type="title"/>
          </p:nvPr>
        </p:nvSpPr>
        <p:spPr>
          <a:xfrm>
            <a:off x="685800" y="152400"/>
            <a:ext cx="7772400" cy="1143000"/>
          </a:xfrm>
        </p:spPr>
        <p:txBody>
          <a:bodyPr/>
          <a:lstStyle/>
          <a:p>
            <a:pPr eaLnBrk="1" hangingPunct="1"/>
            <a:r>
              <a:rPr lang="en-US" altLang="en-US" sz="3200" b="1"/>
              <a:t>ABILITY TO PAY AND BENEFIT PRINCIPLES IN TAXATION  </a:t>
            </a:r>
          </a:p>
        </p:txBody>
      </p:sp>
      <p:sp>
        <p:nvSpPr>
          <p:cNvPr id="17411" name="Rectangle 3">
            <a:extLst>
              <a:ext uri="{FF2B5EF4-FFF2-40B4-BE49-F238E27FC236}">
                <a16:creationId xmlns:a16="http://schemas.microsoft.com/office/drawing/2014/main" id="{D983AD0F-B057-AB28-1B29-1C4C9DAA41DB}"/>
              </a:ext>
            </a:extLst>
          </p:cNvPr>
          <p:cNvSpPr>
            <a:spLocks noGrp="1" noChangeArrowheads="1"/>
          </p:cNvSpPr>
          <p:nvPr>
            <p:ph type="body" idx="1"/>
          </p:nvPr>
        </p:nvSpPr>
        <p:spPr>
          <a:xfrm>
            <a:off x="685800" y="1524000"/>
            <a:ext cx="7924800" cy="4953000"/>
          </a:xfrm>
        </p:spPr>
        <p:txBody>
          <a:bodyPr/>
          <a:lstStyle/>
          <a:p>
            <a:pPr eaLnBrk="1" hangingPunct="1">
              <a:lnSpc>
                <a:spcPct val="90000"/>
              </a:lnSpc>
            </a:pPr>
            <a:r>
              <a:rPr lang="en-US" altLang="en-US" sz="2700" b="1">
                <a:cs typeface="Times New Roman" panose="02020603050405020304" pitchFamily="18" charset="0"/>
              </a:rPr>
              <a:t>“Ability-to-pay” principle</a:t>
            </a:r>
            <a:r>
              <a:rPr lang="en-US" altLang="en-US" sz="2700">
                <a:cs typeface="Times New Roman" panose="02020603050405020304" pitchFamily="18" charset="0"/>
              </a:rPr>
              <a:t> -- those with a higher ability to pay should bear a larger burden of tax. “Ability to pay” generally equated with income. </a:t>
            </a:r>
            <a:r>
              <a:rPr lang="en-US" altLang="en-US" sz="2700" b="1" i="1">
                <a:cs typeface="Times New Roman" panose="02020603050405020304" pitchFamily="18" charset="0"/>
              </a:rPr>
              <a:t>This is the rationale behind progressive income taxes. </a:t>
            </a:r>
          </a:p>
          <a:p>
            <a:pPr eaLnBrk="1" hangingPunct="1">
              <a:lnSpc>
                <a:spcPct val="90000"/>
              </a:lnSpc>
              <a:buFontTx/>
              <a:buNone/>
            </a:pPr>
            <a:endParaRPr lang="en-US" altLang="en-US" sz="2700">
              <a:cs typeface="Times New Roman" panose="02020603050405020304" pitchFamily="18" charset="0"/>
            </a:endParaRPr>
          </a:p>
          <a:p>
            <a:pPr eaLnBrk="1" hangingPunct="1">
              <a:lnSpc>
                <a:spcPct val="90000"/>
              </a:lnSpc>
            </a:pPr>
            <a:r>
              <a:rPr lang="en-US" altLang="en-US" sz="2700" b="1">
                <a:cs typeface="Times New Roman" panose="02020603050405020304" pitchFamily="18" charset="0"/>
              </a:rPr>
              <a:t>“Benefit” principle -- those who benefit from public services should pay for it.  </a:t>
            </a:r>
            <a:r>
              <a:rPr lang="en-US" altLang="en-US" sz="2700">
                <a:cs typeface="Times New Roman" panose="02020603050405020304" pitchFamily="18" charset="0"/>
              </a:rPr>
              <a:t>Applied to goods or services where exclusion of non-payers is feasible, for instance </a:t>
            </a:r>
            <a:r>
              <a:rPr lang="en-US" altLang="en-US" sz="2700" b="1" i="1">
                <a:cs typeface="Times New Roman" panose="02020603050405020304" pitchFamily="18" charset="0"/>
              </a:rPr>
              <a:t>user charges that reflect the benefit or willingness to pay for the good or service received</a:t>
            </a:r>
            <a:r>
              <a:rPr lang="en-US" altLang="en-US" sz="2700">
                <a:cs typeface="Times New Roman" panose="02020603050405020304" pitchFamily="18" charset="0"/>
              </a:rPr>
              <a:t>.   Costs of producing such goods and services and operating/ maintaining them can be recovered from user charges just as in the private sector.</a:t>
            </a:r>
            <a:r>
              <a:rPr lang="en-US" altLang="en-US" sz="2700"/>
              <a:t> </a:t>
            </a:r>
          </a:p>
          <a:p>
            <a:pPr eaLnBrk="1" hangingPunct="1">
              <a:lnSpc>
                <a:spcPct val="90000"/>
              </a:lnSpc>
              <a:buFontTx/>
              <a:buNone/>
            </a:pPr>
            <a:endParaRPr lang="en-US" altLang="en-US" sz="28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80CB42E5-69BE-9488-1425-72029D2AD50D}"/>
              </a:ext>
            </a:extLst>
          </p:cNvPr>
          <p:cNvSpPr>
            <a:spLocks noGrp="1" noChangeArrowheads="1"/>
          </p:cNvSpPr>
          <p:nvPr>
            <p:ph type="title"/>
          </p:nvPr>
        </p:nvSpPr>
        <p:spPr>
          <a:xfrm>
            <a:off x="685800" y="76200"/>
            <a:ext cx="7772400" cy="990600"/>
          </a:xfrm>
        </p:spPr>
        <p:txBody>
          <a:bodyPr/>
          <a:lstStyle/>
          <a:p>
            <a:pPr eaLnBrk="1" hangingPunct="1"/>
            <a:r>
              <a:rPr lang="en-US" altLang="en-US" sz="3600" b="1"/>
              <a:t>PRINCIPLES OF TAXATION (2)</a:t>
            </a:r>
            <a:endParaRPr lang="en-US" altLang="en-US" sz="3600" b="1" i="1">
              <a:latin typeface="Arial" panose="020B0604020202020204" pitchFamily="34" charset="0"/>
            </a:endParaRPr>
          </a:p>
        </p:txBody>
      </p:sp>
      <p:sp>
        <p:nvSpPr>
          <p:cNvPr id="18435" name="Rectangle 3">
            <a:extLst>
              <a:ext uri="{FF2B5EF4-FFF2-40B4-BE49-F238E27FC236}">
                <a16:creationId xmlns:a16="http://schemas.microsoft.com/office/drawing/2014/main" id="{F5FF7590-D60A-4E18-4DBF-D2606C138EDC}"/>
              </a:ext>
            </a:extLst>
          </p:cNvPr>
          <p:cNvSpPr>
            <a:spLocks noGrp="1" noChangeArrowheads="1"/>
          </p:cNvSpPr>
          <p:nvPr>
            <p:ph type="body" idx="1"/>
          </p:nvPr>
        </p:nvSpPr>
        <p:spPr>
          <a:xfrm>
            <a:off x="228600" y="1066800"/>
            <a:ext cx="8610600" cy="5562600"/>
          </a:xfrm>
        </p:spPr>
        <p:txBody>
          <a:bodyPr/>
          <a:lstStyle/>
          <a:p>
            <a:pPr eaLnBrk="1" hangingPunct="1">
              <a:lnSpc>
                <a:spcPct val="90000"/>
              </a:lnSpc>
            </a:pPr>
            <a:r>
              <a:rPr lang="en-US" altLang="en-US" sz="2400" b="1"/>
              <a:t>EQUITY -- </a:t>
            </a:r>
            <a:r>
              <a:rPr lang="en-US" altLang="en-US" sz="2400"/>
              <a:t>Tax system should be “fair”; </a:t>
            </a:r>
            <a:r>
              <a:rPr lang="en-US" altLang="en-US" sz="2400" b="1"/>
              <a:t>two components</a:t>
            </a:r>
            <a:endParaRPr lang="en-US" altLang="en-US" sz="1600" b="1"/>
          </a:p>
          <a:p>
            <a:pPr eaLnBrk="1" hangingPunct="1">
              <a:lnSpc>
                <a:spcPct val="90000"/>
              </a:lnSpc>
            </a:pPr>
            <a:r>
              <a:rPr lang="en-US" altLang="en-US" sz="2400" b="1"/>
              <a:t>HORIZONTAL EQUITY</a:t>
            </a:r>
          </a:p>
          <a:p>
            <a:pPr lvl="1" eaLnBrk="1" hangingPunct="1">
              <a:lnSpc>
                <a:spcPct val="90000"/>
              </a:lnSpc>
            </a:pPr>
            <a:r>
              <a:rPr lang="en-US" altLang="en-US" sz="2000" b="1" i="1"/>
              <a:t>"Tax equals equally”</a:t>
            </a:r>
            <a:r>
              <a:rPr lang="en-US" altLang="en-US" sz="2000" b="1"/>
              <a:t>; </a:t>
            </a:r>
            <a:r>
              <a:rPr lang="en-US" altLang="en-US" sz="1900" b="1"/>
              <a:t>those under same circumstances pay the same tax</a:t>
            </a:r>
            <a:endParaRPr lang="en-US" altLang="en-US" sz="1900"/>
          </a:p>
          <a:p>
            <a:pPr lvl="1" eaLnBrk="1" hangingPunct="1">
              <a:lnSpc>
                <a:spcPct val="90000"/>
              </a:lnSpc>
            </a:pPr>
            <a:r>
              <a:rPr lang="en-US" altLang="en-US" sz="1800">
                <a:solidFill>
                  <a:srgbClr val="FF0000"/>
                </a:solidFill>
              </a:rPr>
              <a:t>Demands broad coverage by a tax base </a:t>
            </a:r>
          </a:p>
          <a:p>
            <a:pPr lvl="1" eaLnBrk="1" hangingPunct="1">
              <a:lnSpc>
                <a:spcPct val="90000"/>
              </a:lnSpc>
            </a:pPr>
            <a:r>
              <a:rPr lang="en-US" altLang="en-US" sz="1800"/>
              <a:t>Source of much of the detail and complexity of a tax law required to define a </a:t>
            </a:r>
            <a:r>
              <a:rPr lang="en-US" altLang="en-US" sz="1800" b="1" i="1"/>
              <a:t>comprehensive tax base and deal with all the exceptional circumstances &amp; cases</a:t>
            </a:r>
          </a:p>
          <a:p>
            <a:pPr eaLnBrk="1" hangingPunct="1">
              <a:lnSpc>
                <a:spcPct val="90000"/>
              </a:lnSpc>
            </a:pPr>
            <a:r>
              <a:rPr lang="en-US" altLang="en-US" sz="2400" b="1"/>
              <a:t>VERTICAL EQUITY</a:t>
            </a:r>
          </a:p>
          <a:p>
            <a:pPr lvl="1" eaLnBrk="1" hangingPunct="1">
              <a:lnSpc>
                <a:spcPct val="90000"/>
              </a:lnSpc>
            </a:pPr>
            <a:r>
              <a:rPr lang="en-US" altLang="en-US" sz="1800">
                <a:solidFill>
                  <a:srgbClr val="FF0000"/>
                </a:solidFill>
              </a:rPr>
              <a:t>Demands that a </a:t>
            </a:r>
            <a:r>
              <a:rPr lang="en-US" altLang="en-US" sz="1800" b="1" i="1">
                <a:solidFill>
                  <a:srgbClr val="FF0000"/>
                </a:solidFill>
              </a:rPr>
              <a:t>larger tax burden</a:t>
            </a:r>
            <a:r>
              <a:rPr lang="en-US" altLang="en-US" sz="1800">
                <a:solidFill>
                  <a:srgbClr val="FF0000"/>
                </a:solidFill>
              </a:rPr>
              <a:t> is placed on individuals with a </a:t>
            </a:r>
            <a:r>
              <a:rPr lang="en-US" altLang="en-US" sz="1800" b="1" i="1">
                <a:solidFill>
                  <a:srgbClr val="FF0000"/>
                </a:solidFill>
              </a:rPr>
              <a:t>greater capacity to pay</a:t>
            </a:r>
            <a:r>
              <a:rPr lang="en-US" altLang="en-US" sz="1800">
                <a:solidFill>
                  <a:srgbClr val="FF0000"/>
                </a:solidFill>
              </a:rPr>
              <a:t> in order to "improve" the income distribution in society.  </a:t>
            </a:r>
            <a:r>
              <a:rPr lang="en-US" altLang="en-US" sz="1800"/>
              <a:t>Society-wide social judgments depend upon and arise out of the political process.</a:t>
            </a:r>
          </a:p>
          <a:p>
            <a:pPr lvl="1" eaLnBrk="1" hangingPunct="1">
              <a:lnSpc>
                <a:spcPct val="90000"/>
              </a:lnSpc>
            </a:pPr>
            <a:r>
              <a:rPr lang="en-US" altLang="en-US" sz="2000" b="1" i="1"/>
              <a:t>"Ability-to-pay" principle</a:t>
            </a:r>
            <a:r>
              <a:rPr lang="en-US" altLang="en-US" sz="2000"/>
              <a:t> -- </a:t>
            </a:r>
            <a:r>
              <a:rPr lang="en-US" altLang="en-US" sz="1800"/>
              <a:t>those with a higher ability to pay should bear a larger burden of tax.  </a:t>
            </a:r>
          </a:p>
          <a:p>
            <a:pPr lvl="1" eaLnBrk="1" hangingPunct="1">
              <a:lnSpc>
                <a:spcPct val="90000"/>
              </a:lnSpc>
            </a:pPr>
            <a:r>
              <a:rPr lang="en-US" altLang="en-US" sz="2000"/>
              <a:t>"Ability to pay" generally equated with </a:t>
            </a:r>
            <a:r>
              <a:rPr lang="en-US" altLang="en-US" sz="2000" b="1" i="1"/>
              <a:t>level of income (control over economic resources)</a:t>
            </a:r>
            <a:r>
              <a:rPr lang="en-US" altLang="en-US" sz="2000"/>
              <a:t>.</a:t>
            </a:r>
          </a:p>
          <a:p>
            <a:pPr lvl="1" eaLnBrk="1" hangingPunct="1">
              <a:lnSpc>
                <a:spcPct val="90000"/>
              </a:lnSpc>
            </a:pPr>
            <a:r>
              <a:rPr lang="en-US" altLang="en-US" sz="2000"/>
              <a:t>"Larger burden“ interpreted as a </a:t>
            </a:r>
            <a:r>
              <a:rPr lang="en-US" altLang="en-US" sz="2000" b="1" i="1"/>
              <a:t>larger share of overall tax burden</a:t>
            </a:r>
            <a:r>
              <a:rPr lang="en-US" altLang="en-US" sz="2000"/>
              <a:t>.</a:t>
            </a:r>
          </a:p>
          <a:p>
            <a:pPr lvl="1" eaLnBrk="1" hangingPunct="1">
              <a:lnSpc>
                <a:spcPct val="90000"/>
              </a:lnSpc>
            </a:pPr>
            <a:r>
              <a:rPr lang="en-US" altLang="en-US" sz="2000"/>
              <a:t>A </a:t>
            </a:r>
            <a:r>
              <a:rPr lang="en-US" altLang="en-US" sz="2000" b="1" i="1"/>
              <a:t>progressive tax structure</a:t>
            </a:r>
            <a:r>
              <a:rPr lang="en-US" altLang="en-US" sz="2000"/>
              <a:t> has </a:t>
            </a:r>
            <a:r>
              <a:rPr lang="en-US" altLang="en-US" sz="2000" b="1" i="1"/>
              <a:t>higher income persons paying a higher share (higher percentage) of their income in tax.</a:t>
            </a:r>
          </a:p>
          <a:p>
            <a:pPr lvl="1" eaLnBrk="1" hangingPunct="1">
              <a:lnSpc>
                <a:spcPct val="90000"/>
              </a:lnSpc>
            </a:pPr>
            <a:endParaRPr lang="en-US" altLang="en-US" sz="2000" b="1" i="1"/>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B58FE9A1-9F37-CD6D-C3F1-E52BA33C8846}"/>
              </a:ext>
            </a:extLst>
          </p:cNvPr>
          <p:cNvSpPr>
            <a:spLocks noGrp="1" noChangeArrowheads="1"/>
          </p:cNvSpPr>
          <p:nvPr>
            <p:ph type="title"/>
          </p:nvPr>
        </p:nvSpPr>
        <p:spPr>
          <a:xfrm>
            <a:off x="685800" y="228600"/>
            <a:ext cx="7772400" cy="838200"/>
          </a:xfrm>
        </p:spPr>
        <p:txBody>
          <a:bodyPr/>
          <a:lstStyle/>
          <a:p>
            <a:pPr eaLnBrk="1" hangingPunct="1"/>
            <a:r>
              <a:rPr lang="en-US" altLang="en-US" sz="3600" b="1"/>
              <a:t>PRINCIPLES OF TAXATION (3)</a:t>
            </a:r>
            <a:endParaRPr lang="en-US" altLang="en-US" sz="3600" b="1" i="1"/>
          </a:p>
        </p:txBody>
      </p:sp>
      <p:sp>
        <p:nvSpPr>
          <p:cNvPr id="19459" name="Rectangle 3">
            <a:extLst>
              <a:ext uri="{FF2B5EF4-FFF2-40B4-BE49-F238E27FC236}">
                <a16:creationId xmlns:a16="http://schemas.microsoft.com/office/drawing/2014/main" id="{9827A655-348F-703D-496D-77A530F9DC63}"/>
              </a:ext>
            </a:extLst>
          </p:cNvPr>
          <p:cNvSpPr>
            <a:spLocks noGrp="1" noChangeArrowheads="1"/>
          </p:cNvSpPr>
          <p:nvPr>
            <p:ph type="body" idx="1"/>
          </p:nvPr>
        </p:nvSpPr>
        <p:spPr>
          <a:xfrm>
            <a:off x="304800" y="990600"/>
            <a:ext cx="8610600" cy="5562600"/>
          </a:xfrm>
        </p:spPr>
        <p:txBody>
          <a:bodyPr/>
          <a:lstStyle/>
          <a:p>
            <a:pPr eaLnBrk="1" hangingPunct="1">
              <a:lnSpc>
                <a:spcPct val="90000"/>
              </a:lnSpc>
            </a:pPr>
            <a:r>
              <a:rPr lang="en-US" altLang="en-US" sz="2800" b="1"/>
              <a:t>ECONOMIC EFFICIENCY</a:t>
            </a:r>
          </a:p>
          <a:p>
            <a:pPr lvl="1" eaLnBrk="1" hangingPunct="1">
              <a:lnSpc>
                <a:spcPct val="90000"/>
              </a:lnSpc>
            </a:pPr>
            <a:r>
              <a:rPr lang="en-US" altLang="en-US" sz="1800"/>
              <a:t>Transfer of resources (or removal of market surplus) to public sector, called </a:t>
            </a:r>
            <a:r>
              <a:rPr lang="en-US" altLang="en-US" sz="1800" b="1"/>
              <a:t>tax burden,</a:t>
            </a:r>
            <a:r>
              <a:rPr lang="en-US" altLang="en-US" sz="1800"/>
              <a:t> always involves an </a:t>
            </a:r>
            <a:r>
              <a:rPr lang="en-US" altLang="en-US" sz="1800" b="1"/>
              <a:t>added cost to the economy or excess burden or added loss of surplus</a:t>
            </a:r>
            <a:r>
              <a:rPr lang="en-US" altLang="en-US" sz="1800"/>
              <a:t> that arises out of distortions in price system caused by taxes.  </a:t>
            </a:r>
          </a:p>
          <a:p>
            <a:pPr lvl="1" eaLnBrk="1" hangingPunct="1">
              <a:lnSpc>
                <a:spcPct val="90000"/>
              </a:lnSpc>
            </a:pPr>
            <a:r>
              <a:rPr lang="en-US" altLang="en-US" sz="1800"/>
              <a:t>Taxes not only reduce the size of the private sector, but also </a:t>
            </a:r>
            <a:r>
              <a:rPr lang="en-US" altLang="en-US" sz="1800" b="1"/>
              <a:t>change  prices (wage rates, interest rates, goods prices, etc.) in the economy</a:t>
            </a:r>
            <a:r>
              <a:rPr lang="en-US" altLang="en-US" sz="1800"/>
              <a:t> which results in changes in </a:t>
            </a:r>
            <a:r>
              <a:rPr lang="en-US" altLang="en-US" sz="1800" b="1"/>
              <a:t>PATTERNS </a:t>
            </a:r>
            <a:r>
              <a:rPr lang="en-US" altLang="en-US" sz="1800"/>
              <a:t>of consumption, savings, work effort, investment and international trade compared to the pattern prevailing without taxes.  </a:t>
            </a:r>
            <a:r>
              <a:rPr lang="en-US" altLang="en-US" sz="1800">
                <a:solidFill>
                  <a:srgbClr val="FF0000"/>
                </a:solidFill>
              </a:rPr>
              <a:t>Changes in patterns or </a:t>
            </a:r>
            <a:r>
              <a:rPr lang="en-US" altLang="en-US" sz="1800" b="1">
                <a:solidFill>
                  <a:srgbClr val="FF0000"/>
                </a:solidFill>
              </a:rPr>
              <a:t>ALLOCATION</a:t>
            </a:r>
            <a:r>
              <a:rPr lang="en-US" altLang="en-US" sz="1800">
                <a:solidFill>
                  <a:srgbClr val="FF0000"/>
                </a:solidFill>
              </a:rPr>
              <a:t> of economic resources causes an added cost on the economy. </a:t>
            </a:r>
            <a:r>
              <a:rPr lang="en-US" altLang="en-US" sz="1800" b="1">
                <a:solidFill>
                  <a:srgbClr val="FF0000"/>
                </a:solidFill>
              </a:rPr>
              <a:t> </a:t>
            </a:r>
          </a:p>
          <a:p>
            <a:pPr lvl="1" eaLnBrk="1" hangingPunct="1">
              <a:lnSpc>
                <a:spcPct val="90000"/>
              </a:lnSpc>
            </a:pPr>
            <a:r>
              <a:rPr lang="en-US" altLang="en-US" sz="2000" b="1">
                <a:solidFill>
                  <a:srgbClr val="FF0000"/>
                </a:solidFill>
              </a:rPr>
              <a:t>Tax structures should be designed to collect a given tax revenue with a minimum excess burden or economic efficiency cost.</a:t>
            </a:r>
          </a:p>
          <a:p>
            <a:pPr lvl="1" eaLnBrk="1" hangingPunct="1">
              <a:lnSpc>
                <a:spcPct val="90000"/>
              </a:lnSpc>
            </a:pPr>
            <a:r>
              <a:rPr lang="en-US" altLang="en-US" sz="2000" b="1"/>
              <a:t>Generally high efficiency costs are related to high tax rates and to large differentials in tax rates:</a:t>
            </a:r>
            <a:r>
              <a:rPr lang="en-US" altLang="en-US" sz="2000"/>
              <a:t> </a:t>
            </a:r>
          </a:p>
          <a:p>
            <a:pPr lvl="2" eaLnBrk="1" hangingPunct="1">
              <a:lnSpc>
                <a:spcPct val="90000"/>
              </a:lnSpc>
            </a:pPr>
            <a:r>
              <a:rPr lang="en-US" altLang="en-US" sz="1600">
                <a:solidFill>
                  <a:srgbClr val="FF0000"/>
                </a:solidFill>
              </a:rPr>
              <a:t>The efficiency costs of taxes rise more than proportionately with the tax rate.</a:t>
            </a:r>
          </a:p>
          <a:p>
            <a:pPr lvl="2" eaLnBrk="1" hangingPunct="1">
              <a:lnSpc>
                <a:spcPct val="90000"/>
              </a:lnSpc>
            </a:pPr>
            <a:r>
              <a:rPr lang="en-US" altLang="en-US" sz="1600">
                <a:solidFill>
                  <a:srgbClr val="FF0000"/>
                </a:solidFill>
              </a:rPr>
              <a:t>Large tax rate differentials between similar economic activities cause large efficiency costs. </a:t>
            </a:r>
          </a:p>
          <a:p>
            <a:pPr lvl="1" eaLnBrk="1" hangingPunct="1">
              <a:lnSpc>
                <a:spcPct val="90000"/>
              </a:lnSpc>
            </a:pPr>
            <a:r>
              <a:rPr lang="en-US" altLang="en-US" sz="2000" b="1" i="1"/>
              <a:t>This principle leads to reforms of tax structures such that LOWER and MORE UNIFORM TAX RATES are charged on BROAD TAX BASES.  Broad coverage is also consistent with the principle of horizontal equity.</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E2E523AE-AC9F-DE79-DC9B-E39FC5517229}"/>
              </a:ext>
            </a:extLst>
          </p:cNvPr>
          <p:cNvSpPr>
            <a:spLocks noGrp="1" noChangeArrowheads="1"/>
          </p:cNvSpPr>
          <p:nvPr>
            <p:ph type="title"/>
          </p:nvPr>
        </p:nvSpPr>
        <p:spPr>
          <a:xfrm>
            <a:off x="685800" y="228600"/>
            <a:ext cx="7772400" cy="914400"/>
          </a:xfrm>
        </p:spPr>
        <p:txBody>
          <a:bodyPr/>
          <a:lstStyle/>
          <a:p>
            <a:pPr eaLnBrk="1" hangingPunct="1"/>
            <a:r>
              <a:rPr lang="en-US" altLang="en-US" sz="3600" b="1"/>
              <a:t>PRINCIPLES OF TAXATION (4)</a:t>
            </a:r>
            <a:endParaRPr lang="en-US" altLang="en-US" sz="3600" b="1" i="1"/>
          </a:p>
        </p:txBody>
      </p:sp>
      <p:sp>
        <p:nvSpPr>
          <p:cNvPr id="20483" name="Rectangle 3">
            <a:extLst>
              <a:ext uri="{FF2B5EF4-FFF2-40B4-BE49-F238E27FC236}">
                <a16:creationId xmlns:a16="http://schemas.microsoft.com/office/drawing/2014/main" id="{7E6460DD-8337-5800-1BD0-B1FADAF82429}"/>
              </a:ext>
            </a:extLst>
          </p:cNvPr>
          <p:cNvSpPr>
            <a:spLocks noGrp="1" noChangeArrowheads="1"/>
          </p:cNvSpPr>
          <p:nvPr>
            <p:ph type="body" idx="1"/>
          </p:nvPr>
        </p:nvSpPr>
        <p:spPr>
          <a:xfrm>
            <a:off x="381000" y="1066800"/>
            <a:ext cx="8382000" cy="5562600"/>
          </a:xfrm>
        </p:spPr>
        <p:txBody>
          <a:bodyPr/>
          <a:lstStyle/>
          <a:p>
            <a:pPr eaLnBrk="1" hangingPunct="1">
              <a:lnSpc>
                <a:spcPct val="90000"/>
              </a:lnSpc>
            </a:pPr>
            <a:r>
              <a:rPr lang="en-US" altLang="en-US" sz="2400" b="1"/>
              <a:t>TECHNICAL EFFICIENCY-- ADMINISTRATIVE or TRANSACTION COSTS </a:t>
            </a:r>
          </a:p>
          <a:p>
            <a:pPr lvl="1" eaLnBrk="1" hangingPunct="1">
              <a:lnSpc>
                <a:spcPct val="90000"/>
              </a:lnSpc>
            </a:pPr>
            <a:r>
              <a:rPr lang="en-US" altLang="en-US" sz="1800"/>
              <a:t>The administrative or transaction costs on the public and private sectors of transferring resources from the private to the public sector should be minimized in order to leave the maximum resources for the production of public sector and private sector goods and services. Two components:</a:t>
            </a:r>
          </a:p>
          <a:p>
            <a:pPr lvl="2" eaLnBrk="1" hangingPunct="1">
              <a:lnSpc>
                <a:spcPct val="90000"/>
              </a:lnSpc>
            </a:pPr>
            <a:r>
              <a:rPr lang="en-US" altLang="en-US" sz="1800" b="1">
                <a:solidFill>
                  <a:srgbClr val="FF0000"/>
                </a:solidFill>
              </a:rPr>
              <a:t>"compliance cost"</a:t>
            </a:r>
            <a:r>
              <a:rPr lang="en-US" altLang="en-US" sz="1800">
                <a:solidFill>
                  <a:srgbClr val="FF0000"/>
                </a:solidFill>
              </a:rPr>
              <a:t> </a:t>
            </a:r>
            <a:r>
              <a:rPr lang="en-US" altLang="en-US" sz="1800"/>
              <a:t>which refers to the costs of the private sector in complying with the tax laws, and</a:t>
            </a:r>
            <a:r>
              <a:rPr lang="en-US" altLang="en-US" sz="1600"/>
              <a:t> </a:t>
            </a:r>
          </a:p>
          <a:p>
            <a:pPr lvl="2" eaLnBrk="1" hangingPunct="1">
              <a:lnSpc>
                <a:spcPct val="90000"/>
              </a:lnSpc>
            </a:pPr>
            <a:r>
              <a:rPr lang="en-US" altLang="en-US" sz="1800" b="1">
                <a:solidFill>
                  <a:srgbClr val="FF0000"/>
                </a:solidFill>
              </a:rPr>
              <a:t>"tax administration cost"</a:t>
            </a:r>
            <a:r>
              <a:rPr lang="en-US" altLang="en-US" sz="1800">
                <a:solidFill>
                  <a:srgbClr val="FF0000"/>
                </a:solidFill>
              </a:rPr>
              <a:t> </a:t>
            </a:r>
            <a:r>
              <a:rPr lang="en-US" altLang="en-US" sz="1800"/>
              <a:t>which refers to the public sector costs of administering the tax laws</a:t>
            </a:r>
            <a:r>
              <a:rPr lang="en-US" altLang="en-US" sz="1600"/>
              <a:t>.</a:t>
            </a:r>
          </a:p>
          <a:p>
            <a:pPr lvl="2" eaLnBrk="1" hangingPunct="1">
              <a:lnSpc>
                <a:spcPct val="90000"/>
              </a:lnSpc>
              <a:buFontTx/>
              <a:buNone/>
            </a:pPr>
            <a:endParaRPr lang="en-US" altLang="en-US" sz="1600"/>
          </a:p>
          <a:p>
            <a:pPr lvl="1" eaLnBrk="1" hangingPunct="1">
              <a:lnSpc>
                <a:spcPct val="90000"/>
              </a:lnSpc>
            </a:pPr>
            <a:r>
              <a:rPr lang="en-US" altLang="en-US" sz="1800"/>
              <a:t>Excessive public spending on tax administration can be wasteful, but spending too little can also be economically wasteful for at least two reasons</a:t>
            </a:r>
          </a:p>
          <a:p>
            <a:pPr lvl="2" eaLnBrk="1" hangingPunct="1">
              <a:lnSpc>
                <a:spcPct val="90000"/>
              </a:lnSpc>
            </a:pPr>
            <a:r>
              <a:rPr lang="en-US" altLang="en-US" sz="1600"/>
              <a:t>Broad coverage is more equitable and allows collection of tax revenues at lower, more efficient tax rates.</a:t>
            </a:r>
          </a:p>
          <a:p>
            <a:pPr lvl="2" eaLnBrk="1" hangingPunct="1">
              <a:lnSpc>
                <a:spcPct val="90000"/>
              </a:lnSpc>
            </a:pPr>
            <a:r>
              <a:rPr lang="en-US" altLang="en-US" sz="1600"/>
              <a:t>To gain </a:t>
            </a:r>
            <a:r>
              <a:rPr lang="en-US" altLang="en-US" sz="1600" b="1"/>
              <a:t>broad coverage</a:t>
            </a:r>
            <a:r>
              <a:rPr lang="en-US" altLang="en-US" sz="1600"/>
              <a:t> of a tax base requires sufficient </a:t>
            </a:r>
            <a:r>
              <a:rPr lang="en-US" altLang="en-US" sz="1600" b="1"/>
              <a:t>enforcement capacity</a:t>
            </a:r>
            <a:r>
              <a:rPr lang="en-US" altLang="en-US" sz="1600"/>
              <a:t>.  </a:t>
            </a:r>
          </a:p>
          <a:p>
            <a:pPr lvl="2" eaLnBrk="1" hangingPunct="1">
              <a:lnSpc>
                <a:spcPct val="90000"/>
              </a:lnSpc>
            </a:pPr>
            <a:r>
              <a:rPr lang="en-US" altLang="en-US" sz="1600">
                <a:solidFill>
                  <a:srgbClr val="FF0000"/>
                </a:solidFill>
              </a:rPr>
              <a:t>Added administrative spending that </a:t>
            </a:r>
            <a:r>
              <a:rPr lang="en-US" altLang="en-US" sz="1600" b="1">
                <a:solidFill>
                  <a:srgbClr val="FF0000"/>
                </a:solidFill>
              </a:rPr>
              <a:t>educates the taxpayer and services their tax-paying needs</a:t>
            </a:r>
            <a:r>
              <a:rPr lang="en-US" altLang="en-US" sz="1600">
                <a:solidFill>
                  <a:srgbClr val="FF0000"/>
                </a:solidFill>
              </a:rPr>
              <a:t> can lower the economic transaction costs of complying with the tax.</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a:extLst>
              <a:ext uri="{FF2B5EF4-FFF2-40B4-BE49-F238E27FC236}">
                <a16:creationId xmlns:a16="http://schemas.microsoft.com/office/drawing/2014/main" id="{6343E9C0-A286-330C-C8E2-92875A1919BA}"/>
              </a:ext>
            </a:extLst>
          </p:cNvPr>
          <p:cNvSpPr>
            <a:spLocks noGrp="1" noChangeArrowheads="1"/>
          </p:cNvSpPr>
          <p:nvPr>
            <p:ph type="body" idx="1"/>
          </p:nvPr>
        </p:nvSpPr>
        <p:spPr>
          <a:xfrm>
            <a:off x="685800" y="1371600"/>
            <a:ext cx="7772400" cy="4953000"/>
          </a:xfrm>
        </p:spPr>
        <p:txBody>
          <a:bodyPr/>
          <a:lstStyle/>
          <a:p>
            <a:pPr eaLnBrk="1" hangingPunct="1">
              <a:lnSpc>
                <a:spcPct val="90000"/>
              </a:lnSpc>
            </a:pPr>
            <a:r>
              <a:rPr lang="en-US" altLang="en-US" b="1" i="1"/>
              <a:t>TOTAL ECONOMIC COST OF TAXES</a:t>
            </a:r>
          </a:p>
          <a:p>
            <a:pPr eaLnBrk="1" hangingPunct="1">
              <a:lnSpc>
                <a:spcPct val="90000"/>
              </a:lnSpc>
            </a:pPr>
            <a:r>
              <a:rPr lang="en-US" altLang="en-US" sz="2800"/>
              <a:t>In the beginning, the focus in design of taxes was on administrative feasibility and costs</a:t>
            </a:r>
          </a:p>
          <a:p>
            <a:pPr eaLnBrk="1" hangingPunct="1">
              <a:lnSpc>
                <a:spcPct val="90000"/>
              </a:lnSpc>
            </a:pPr>
            <a:r>
              <a:rPr lang="en-US" altLang="en-US" sz="2800"/>
              <a:t>But now the applied economic principles of  allocative efficiency or economic efficiency costs of taxes have changed the focus to reducing these allocative efficiency costs of taxes as well</a:t>
            </a:r>
          </a:p>
          <a:p>
            <a:pPr eaLnBrk="1" hangingPunct="1">
              <a:lnSpc>
                <a:spcPct val="90000"/>
              </a:lnSpc>
            </a:pPr>
            <a:r>
              <a:rPr lang="en-US" altLang="en-US" sz="2800">
                <a:solidFill>
                  <a:srgbClr val="FF0000"/>
                </a:solidFill>
              </a:rPr>
              <a:t>Now concern is to reduce combined transactions costs (administration plus compliance costs known as technical efficiency) </a:t>
            </a:r>
            <a:r>
              <a:rPr lang="en-US" altLang="en-US" sz="2800" i="1">
                <a:solidFill>
                  <a:srgbClr val="FF0000"/>
                </a:solidFill>
              </a:rPr>
              <a:t>plus</a:t>
            </a:r>
            <a:r>
              <a:rPr lang="en-US" altLang="en-US" sz="2800">
                <a:solidFill>
                  <a:srgbClr val="FF0000"/>
                </a:solidFill>
              </a:rPr>
              <a:t> allocative efficiency or economic efficiency costs of taxes or excess burden</a:t>
            </a:r>
          </a:p>
        </p:txBody>
      </p:sp>
      <p:sp>
        <p:nvSpPr>
          <p:cNvPr id="21507" name="Rectangle 5">
            <a:extLst>
              <a:ext uri="{FF2B5EF4-FFF2-40B4-BE49-F238E27FC236}">
                <a16:creationId xmlns:a16="http://schemas.microsoft.com/office/drawing/2014/main" id="{73E1139D-98DF-61D8-83CD-5242B91C7D46}"/>
              </a:ext>
            </a:extLst>
          </p:cNvPr>
          <p:cNvSpPr>
            <a:spLocks noGrp="1" noChangeArrowheads="1"/>
          </p:cNvSpPr>
          <p:nvPr>
            <p:ph type="title"/>
          </p:nvPr>
        </p:nvSpPr>
        <p:spPr>
          <a:xfrm>
            <a:off x="685800" y="228600"/>
            <a:ext cx="7772400" cy="838200"/>
          </a:xfrm>
          <a:noFill/>
        </p:spPr>
        <p:txBody>
          <a:bodyPr/>
          <a:lstStyle/>
          <a:p>
            <a:pPr eaLnBrk="1" hangingPunct="1"/>
            <a:r>
              <a:rPr lang="en-US" altLang="en-US" sz="3600" b="1"/>
              <a:t>PRINCIPLES OF TAXATION (5)</a:t>
            </a:r>
            <a:endParaRPr lang="en-US" altLang="en-US" sz="3600" b="1" i="1"/>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D8D403EF-6C27-A0BB-A2F4-BF336AEFFF70}"/>
              </a:ext>
            </a:extLst>
          </p:cNvPr>
          <p:cNvSpPr>
            <a:spLocks noGrp="1" noChangeArrowheads="1"/>
          </p:cNvSpPr>
          <p:nvPr>
            <p:ph type="title"/>
          </p:nvPr>
        </p:nvSpPr>
        <p:spPr>
          <a:xfrm>
            <a:off x="685800" y="228600"/>
            <a:ext cx="7772400" cy="1143000"/>
          </a:xfrm>
        </p:spPr>
        <p:txBody>
          <a:bodyPr/>
          <a:lstStyle/>
          <a:p>
            <a:pPr eaLnBrk="1" hangingPunct="1"/>
            <a:r>
              <a:rPr lang="en-US" altLang="en-US" sz="3600" b="1"/>
              <a:t>PRINCIPLES OF TAXATION (6)</a:t>
            </a:r>
            <a:endParaRPr lang="en-US" altLang="en-US" sz="3600" b="1" i="1"/>
          </a:p>
        </p:txBody>
      </p:sp>
      <p:sp>
        <p:nvSpPr>
          <p:cNvPr id="22531" name="Rectangle 3">
            <a:extLst>
              <a:ext uri="{FF2B5EF4-FFF2-40B4-BE49-F238E27FC236}">
                <a16:creationId xmlns:a16="http://schemas.microsoft.com/office/drawing/2014/main" id="{4947B6E7-2C00-E43B-CEE2-AA96C6E0A31F}"/>
              </a:ext>
            </a:extLst>
          </p:cNvPr>
          <p:cNvSpPr>
            <a:spLocks noGrp="1" noChangeArrowheads="1"/>
          </p:cNvSpPr>
          <p:nvPr>
            <p:ph type="body" idx="1"/>
          </p:nvPr>
        </p:nvSpPr>
        <p:spPr>
          <a:xfrm>
            <a:off x="457200" y="1143000"/>
            <a:ext cx="8382000" cy="5486400"/>
          </a:xfrm>
        </p:spPr>
        <p:txBody>
          <a:bodyPr/>
          <a:lstStyle/>
          <a:p>
            <a:pPr eaLnBrk="1" hangingPunct="1">
              <a:lnSpc>
                <a:spcPct val="90000"/>
              </a:lnSpc>
            </a:pPr>
            <a:r>
              <a:rPr lang="en-US" altLang="en-US" sz="2400" b="1"/>
              <a:t>STABILITY OF REVENUES</a:t>
            </a:r>
          </a:p>
          <a:p>
            <a:pPr lvl="1" eaLnBrk="1" hangingPunct="1">
              <a:lnSpc>
                <a:spcPct val="90000"/>
              </a:lnSpc>
            </a:pPr>
            <a:r>
              <a:rPr lang="en-US" altLang="en-US" sz="1800"/>
              <a:t>The </a:t>
            </a:r>
            <a:r>
              <a:rPr lang="en-US" altLang="en-US" sz="1800" b="1"/>
              <a:t>overall tax revenue structure </a:t>
            </a:r>
            <a:r>
              <a:rPr lang="en-US" altLang="en-US" sz="1800"/>
              <a:t>of an economy should produce </a:t>
            </a:r>
            <a:r>
              <a:rPr lang="en-US" altLang="en-US" sz="1800" b="1"/>
              <a:t>stable revenue flows</a:t>
            </a:r>
            <a:r>
              <a:rPr lang="en-US" altLang="en-US" sz="1800"/>
              <a:t> so that fiscal deficits are predictable and manageable in order to </a:t>
            </a:r>
          </a:p>
          <a:p>
            <a:pPr lvl="2" eaLnBrk="1" hangingPunct="1">
              <a:lnSpc>
                <a:spcPct val="90000"/>
              </a:lnSpc>
            </a:pPr>
            <a:r>
              <a:rPr lang="en-US" altLang="en-US" sz="1600"/>
              <a:t>Avoid inflationary effects and/or "crowding out" effects on private investment from domestic debt financing and/or</a:t>
            </a:r>
          </a:p>
          <a:p>
            <a:pPr lvl="2" eaLnBrk="1" hangingPunct="1">
              <a:lnSpc>
                <a:spcPct val="90000"/>
              </a:lnSpc>
            </a:pPr>
            <a:r>
              <a:rPr lang="en-US" altLang="en-US" sz="1600"/>
              <a:t>Limit the need for foreign debt obligations due to excessive debt financing</a:t>
            </a:r>
          </a:p>
          <a:p>
            <a:pPr lvl="1" eaLnBrk="1" hangingPunct="1">
              <a:lnSpc>
                <a:spcPct val="90000"/>
              </a:lnSpc>
            </a:pPr>
            <a:r>
              <a:rPr lang="en-US" altLang="en-US" sz="1800">
                <a:solidFill>
                  <a:srgbClr val="FF0000"/>
                </a:solidFill>
              </a:rPr>
              <a:t>Difficult to implement RAPID cuts in public expenditures or change tax laws or  borrow or upgrade administrative capacity in response to a revenue crisis. Overall tax structure should be designed to </a:t>
            </a:r>
            <a:r>
              <a:rPr lang="en-US" altLang="en-US" sz="1800" b="1">
                <a:solidFill>
                  <a:srgbClr val="FF0000"/>
                </a:solidFill>
              </a:rPr>
              <a:t>avoid revenue crises</a:t>
            </a:r>
            <a:r>
              <a:rPr lang="en-US" altLang="en-US" sz="1800">
                <a:solidFill>
                  <a:srgbClr val="FF0000"/>
                </a:solidFill>
                <a:latin typeface="Arial" panose="020B0604020202020204" pitchFamily="34" charset="0"/>
              </a:rPr>
              <a:t>.</a:t>
            </a:r>
          </a:p>
          <a:p>
            <a:pPr lvl="1" eaLnBrk="1" hangingPunct="1">
              <a:lnSpc>
                <a:spcPct val="90000"/>
              </a:lnSpc>
            </a:pPr>
            <a:r>
              <a:rPr lang="en-US" altLang="en-US" sz="1800" b="1"/>
              <a:t>REVENUE STABILITY</a:t>
            </a:r>
            <a:r>
              <a:rPr lang="en-US" altLang="en-US" sz="1600"/>
              <a:t> has two components</a:t>
            </a:r>
          </a:p>
          <a:p>
            <a:pPr lvl="2" eaLnBrk="1" hangingPunct="1">
              <a:lnSpc>
                <a:spcPct val="90000"/>
              </a:lnSpc>
            </a:pPr>
            <a:r>
              <a:rPr lang="en-US" altLang="en-US" sz="1800" b="1"/>
              <a:t>REVENUE ELASTICITY</a:t>
            </a:r>
            <a:r>
              <a:rPr lang="en-US" altLang="en-US" sz="1600" b="1"/>
              <a:t>:</a:t>
            </a:r>
            <a:r>
              <a:rPr lang="en-US" altLang="en-US" sz="1600"/>
              <a:t> </a:t>
            </a:r>
            <a:r>
              <a:rPr lang="en-US" altLang="en-US" sz="1600">
                <a:solidFill>
                  <a:srgbClr val="FF0000"/>
                </a:solidFill>
              </a:rPr>
              <a:t>Revenues should grow at least as fast as GDP</a:t>
            </a:r>
            <a:r>
              <a:rPr lang="en-US" altLang="en-US" sz="1600"/>
              <a:t>, otherwise new taxes and/or administrative measures must be constantly introduced to raise added revenues in each fiscal year to keep revenues at a constant share of GDP.  </a:t>
            </a:r>
            <a:r>
              <a:rPr lang="en-US" altLang="en-US" sz="1600">
                <a:solidFill>
                  <a:srgbClr val="FF0000"/>
                </a:solidFill>
              </a:rPr>
              <a:t>Key tax structure issues: (i) a revenue base that grows with the economy and (ii) tax rates that tax at least a constant share of the growing base</a:t>
            </a:r>
            <a:r>
              <a:rPr lang="en-US" altLang="en-US" sz="1600"/>
              <a:t>.  </a:t>
            </a:r>
            <a:r>
              <a:rPr lang="en-US" altLang="en-US" sz="1600" b="1" i="1"/>
              <a:t>Ad valorem</a:t>
            </a:r>
            <a:r>
              <a:rPr lang="en-US" altLang="en-US" sz="1600" b="1"/>
              <a:t> tax rates (rates that tax a share of the value of a tax base) on a broad base required to ensure revenue elasticity</a:t>
            </a:r>
            <a:r>
              <a:rPr lang="en-US" altLang="en-US" sz="1600"/>
              <a:t>.</a:t>
            </a:r>
          </a:p>
          <a:p>
            <a:pPr lvl="2" eaLnBrk="1" hangingPunct="1">
              <a:lnSpc>
                <a:spcPct val="90000"/>
              </a:lnSpc>
            </a:pPr>
            <a:r>
              <a:rPr lang="en-US" altLang="en-US" sz="1800" b="1"/>
              <a:t>REVENUE DIVERSIFICATION</a:t>
            </a:r>
            <a:r>
              <a:rPr lang="en-US" altLang="en-US" sz="1600"/>
              <a:t>: Tax or revenue structure should be sufficiently well diversified to withstand shocks to the economy such as fluctuations in world commodity prices.  Revenue diversification is hard to achieve in small economies that have high dependence on particular sectors or revenue sources.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62477745-AC06-297B-EAC7-47C2AF7AEFFB}"/>
              </a:ext>
            </a:extLst>
          </p:cNvPr>
          <p:cNvSpPr>
            <a:spLocks noGrp="1" noChangeArrowheads="1"/>
          </p:cNvSpPr>
          <p:nvPr>
            <p:ph type="title"/>
          </p:nvPr>
        </p:nvSpPr>
        <p:spPr>
          <a:xfrm>
            <a:off x="685800" y="228600"/>
            <a:ext cx="7772400" cy="838200"/>
          </a:xfrm>
        </p:spPr>
        <p:txBody>
          <a:bodyPr/>
          <a:lstStyle/>
          <a:p>
            <a:r>
              <a:rPr lang="en-US" altLang="en-US" sz="3200" b="1">
                <a:cs typeface="Times New Roman" panose="02020603050405020304" pitchFamily="18" charset="0"/>
              </a:rPr>
              <a:t>Principles of Taxation (7)</a:t>
            </a:r>
            <a:br>
              <a:rPr lang="en-US" altLang="en-US" sz="3200" b="1">
                <a:cs typeface="Times New Roman" panose="02020603050405020304" pitchFamily="18" charset="0"/>
              </a:rPr>
            </a:br>
            <a:endParaRPr lang="en-US" altLang="en-US" sz="3200">
              <a:cs typeface="Times New Roman" panose="02020603050405020304" pitchFamily="18" charset="0"/>
            </a:endParaRPr>
          </a:p>
        </p:txBody>
      </p:sp>
      <p:sp>
        <p:nvSpPr>
          <p:cNvPr id="3" name="Content Placeholder 2">
            <a:extLst>
              <a:ext uri="{FF2B5EF4-FFF2-40B4-BE49-F238E27FC236}">
                <a16:creationId xmlns:a16="http://schemas.microsoft.com/office/drawing/2014/main" id="{7B8CD971-E429-A5E1-17B4-442A8A8CFB41}"/>
              </a:ext>
            </a:extLst>
          </p:cNvPr>
          <p:cNvSpPr>
            <a:spLocks noGrp="1"/>
          </p:cNvSpPr>
          <p:nvPr>
            <p:ph idx="1"/>
          </p:nvPr>
        </p:nvSpPr>
        <p:spPr>
          <a:xfrm>
            <a:off x="685800" y="990600"/>
            <a:ext cx="7772400" cy="5105400"/>
          </a:xfrm>
        </p:spPr>
        <p:txBody>
          <a:bodyPr>
            <a:normAutofit fontScale="77500" lnSpcReduction="20000"/>
          </a:bodyPr>
          <a:lstStyle/>
          <a:p>
            <a:pPr marL="0" indent="0">
              <a:buFontTx/>
              <a:buNone/>
              <a:defRPr/>
            </a:pPr>
            <a:r>
              <a:rPr lang="en-US" altLang="en-US" b="1" dirty="0">
                <a:cs typeface="Times New Roman" panose="02020603050405020304" pitchFamily="18" charset="0"/>
              </a:rPr>
              <a:t>Tax Neutrality</a:t>
            </a:r>
          </a:p>
          <a:p>
            <a:pPr marL="0" indent="0">
              <a:buFontTx/>
              <a:buNone/>
              <a:defRPr/>
            </a:pPr>
            <a:endParaRPr lang="en-US" b="1" dirty="0">
              <a:cs typeface="Times New Roman" panose="02020603050405020304" pitchFamily="18" charset="0"/>
            </a:endParaRPr>
          </a:p>
          <a:p>
            <a:pPr>
              <a:defRPr/>
            </a:pPr>
            <a:r>
              <a:rPr lang="en-US" dirty="0">
                <a:cs typeface="Times New Roman" panose="02020603050405020304" pitchFamily="18" charset="0"/>
              </a:rPr>
              <a:t>Refers to a tax policy environment where economic decisions are not affected or minimally affected by tax factors. That implies achieving a “level playing field” where the tax system does not favor one group of tax payers over another. </a:t>
            </a:r>
          </a:p>
          <a:p>
            <a:pPr>
              <a:defRPr/>
            </a:pPr>
            <a:r>
              <a:rPr lang="en-US" dirty="0">
                <a:solidFill>
                  <a:srgbClr val="FF0000"/>
                </a:solidFill>
                <a:cs typeface="Times New Roman" panose="02020603050405020304" pitchFamily="18" charset="0"/>
              </a:rPr>
              <a:t>It basically argues against tax incentives and preferential treatments of particular groups of taxpayers or regions. </a:t>
            </a:r>
          </a:p>
          <a:p>
            <a:pPr>
              <a:defRPr/>
            </a:pPr>
            <a:r>
              <a:rPr lang="en-US" dirty="0">
                <a:cs typeface="Times New Roman" panose="02020603050405020304" pitchFamily="18" charset="0"/>
              </a:rPr>
              <a:t>It has also been demonstrated that tax incentives are not cost effective, i.e. they do not necessarily bring more investments.</a:t>
            </a:r>
          </a:p>
          <a:p>
            <a:pPr>
              <a:defRPr/>
            </a:pPr>
            <a:r>
              <a:rPr lang="en-US" dirty="0">
                <a:cs typeface="Times New Roman" panose="02020603050405020304" pitchFamily="18" charset="0"/>
              </a:rPr>
              <a:t>Tax incentives very common in developing countries, mainly due to “demonstration effect” – I have to give tax incentives as my neighbor does it! (SE Asia)</a:t>
            </a:r>
          </a:p>
          <a:p>
            <a:pPr>
              <a:defRPr/>
            </a:pP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91E8DC3B-57AE-E6A4-D5F1-5338F9967294}"/>
              </a:ext>
            </a:extLst>
          </p:cNvPr>
          <p:cNvSpPr>
            <a:spLocks noGrp="1" noChangeArrowheads="1"/>
          </p:cNvSpPr>
          <p:nvPr>
            <p:ph type="title"/>
          </p:nvPr>
        </p:nvSpPr>
        <p:spPr>
          <a:xfrm>
            <a:off x="685800" y="152400"/>
            <a:ext cx="7772400" cy="838200"/>
          </a:xfrm>
        </p:spPr>
        <p:txBody>
          <a:bodyPr/>
          <a:lstStyle/>
          <a:p>
            <a:pPr eaLnBrk="1" hangingPunct="1"/>
            <a:r>
              <a:rPr lang="en-US" altLang="en-US" sz="4000" b="1"/>
              <a:t>Tax Reforms – Types of Reform</a:t>
            </a:r>
          </a:p>
        </p:txBody>
      </p:sp>
      <p:sp>
        <p:nvSpPr>
          <p:cNvPr id="24579" name="Rectangle 3">
            <a:extLst>
              <a:ext uri="{FF2B5EF4-FFF2-40B4-BE49-F238E27FC236}">
                <a16:creationId xmlns:a16="http://schemas.microsoft.com/office/drawing/2014/main" id="{E6E49A9E-7691-B398-2E63-D2E2587B91E5}"/>
              </a:ext>
            </a:extLst>
          </p:cNvPr>
          <p:cNvSpPr>
            <a:spLocks noGrp="1" noChangeArrowheads="1"/>
          </p:cNvSpPr>
          <p:nvPr>
            <p:ph type="body" idx="1"/>
          </p:nvPr>
        </p:nvSpPr>
        <p:spPr>
          <a:xfrm>
            <a:off x="685800" y="1295400"/>
            <a:ext cx="7772400" cy="4800600"/>
          </a:xfrm>
        </p:spPr>
        <p:txBody>
          <a:bodyPr/>
          <a:lstStyle/>
          <a:p>
            <a:pPr eaLnBrk="1" hangingPunct="1">
              <a:lnSpc>
                <a:spcPct val="90000"/>
              </a:lnSpc>
            </a:pPr>
            <a:r>
              <a:rPr lang="en-US" altLang="en-US" sz="2400"/>
              <a:t>Two major components</a:t>
            </a:r>
          </a:p>
          <a:p>
            <a:pPr lvl="1" eaLnBrk="1" hangingPunct="1">
              <a:lnSpc>
                <a:spcPct val="90000"/>
              </a:lnSpc>
            </a:pPr>
            <a:r>
              <a:rPr lang="en-US" altLang="en-US" sz="2000">
                <a:solidFill>
                  <a:srgbClr val="FF0000"/>
                </a:solidFill>
              </a:rPr>
              <a:t>Tax policy/ structure which requires consideration of the different principles of a good tax system</a:t>
            </a:r>
          </a:p>
          <a:p>
            <a:pPr lvl="1" eaLnBrk="1" hangingPunct="1">
              <a:lnSpc>
                <a:spcPct val="90000"/>
              </a:lnSpc>
            </a:pPr>
            <a:r>
              <a:rPr lang="en-US" altLang="en-US" sz="2000" b="1"/>
              <a:t>Tax administration and compliance</a:t>
            </a:r>
          </a:p>
          <a:p>
            <a:pPr eaLnBrk="1" hangingPunct="1">
              <a:lnSpc>
                <a:spcPct val="90000"/>
              </a:lnSpc>
            </a:pPr>
            <a:r>
              <a:rPr lang="en-US" altLang="en-US" sz="2400">
                <a:solidFill>
                  <a:srgbClr val="FF0000"/>
                </a:solidFill>
              </a:rPr>
              <a:t>Comprehensive reforms contain both components</a:t>
            </a:r>
          </a:p>
          <a:p>
            <a:pPr lvl="1" eaLnBrk="1" hangingPunct="1">
              <a:lnSpc>
                <a:spcPct val="90000"/>
              </a:lnSpc>
            </a:pPr>
            <a:r>
              <a:rPr lang="en-US" altLang="en-US" sz="2000"/>
              <a:t>Time frame and coordination important</a:t>
            </a:r>
          </a:p>
          <a:p>
            <a:pPr eaLnBrk="1" hangingPunct="1">
              <a:lnSpc>
                <a:spcPct val="90000"/>
              </a:lnSpc>
            </a:pPr>
            <a:r>
              <a:rPr lang="en-US" altLang="en-US" sz="2400"/>
              <a:t>Reforms could be revenue enhancing or revenue neutral</a:t>
            </a:r>
          </a:p>
          <a:p>
            <a:pPr eaLnBrk="1" hangingPunct="1">
              <a:lnSpc>
                <a:spcPct val="90000"/>
              </a:lnSpc>
            </a:pPr>
            <a:r>
              <a:rPr lang="en-US" altLang="en-US" sz="2400">
                <a:solidFill>
                  <a:srgbClr val="FF0000"/>
                </a:solidFill>
              </a:rPr>
              <a:t>Gradual decline in importance of tax policy component as most countries have resolved many of the tax policy issues</a:t>
            </a:r>
          </a:p>
          <a:p>
            <a:pPr eaLnBrk="1" hangingPunct="1">
              <a:lnSpc>
                <a:spcPct val="90000"/>
              </a:lnSpc>
            </a:pPr>
            <a:r>
              <a:rPr lang="en-US" altLang="en-US" sz="2400"/>
              <a:t>In 1950s and 60s, goals of using income tax as tool of income redistribution led to very high top marginal tax rates (75% &amp; higher) plus proliferation of tax incentives</a:t>
            </a:r>
          </a:p>
          <a:p>
            <a:pPr eaLnBrk="1" hangingPunct="1">
              <a:lnSpc>
                <a:spcPct val="90000"/>
              </a:lnSpc>
            </a:pPr>
            <a:r>
              <a:rPr lang="en-US" altLang="en-US" sz="2400"/>
              <a:t>1970s onwards – rationalization and reduction of rates.</a:t>
            </a:r>
          </a:p>
          <a:p>
            <a:pPr eaLnBrk="1" hangingPunct="1">
              <a:lnSpc>
                <a:spcPct val="90000"/>
              </a:lnSpc>
            </a:pPr>
            <a:endParaRPr lang="en-US" altLang="en-US" sz="28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86187BD9-3A23-A830-EC7F-7D75046F3444}"/>
              </a:ext>
            </a:extLst>
          </p:cNvPr>
          <p:cNvSpPr>
            <a:spLocks noGrp="1" noChangeArrowheads="1"/>
          </p:cNvSpPr>
          <p:nvPr>
            <p:ph type="title"/>
          </p:nvPr>
        </p:nvSpPr>
        <p:spPr>
          <a:xfrm>
            <a:off x="685800" y="0"/>
            <a:ext cx="7772400" cy="914400"/>
          </a:xfrm>
        </p:spPr>
        <p:txBody>
          <a:bodyPr/>
          <a:lstStyle/>
          <a:p>
            <a:pPr eaLnBrk="1" hangingPunct="1"/>
            <a:r>
              <a:rPr lang="en-US" altLang="en-US" b="1"/>
              <a:t>Tax Policy Component</a:t>
            </a:r>
            <a:r>
              <a:rPr lang="en-US" altLang="en-US"/>
              <a:t> </a:t>
            </a:r>
            <a:r>
              <a:rPr lang="en-US" altLang="en-US" sz="3600" i="1"/>
              <a:t>(contd.)</a:t>
            </a:r>
          </a:p>
        </p:txBody>
      </p:sp>
      <p:sp>
        <p:nvSpPr>
          <p:cNvPr id="25603" name="Rectangle 3">
            <a:extLst>
              <a:ext uri="{FF2B5EF4-FFF2-40B4-BE49-F238E27FC236}">
                <a16:creationId xmlns:a16="http://schemas.microsoft.com/office/drawing/2014/main" id="{B7812360-A17C-4772-9647-0662217C69BD}"/>
              </a:ext>
            </a:extLst>
          </p:cNvPr>
          <p:cNvSpPr>
            <a:spLocks noGrp="1" noChangeArrowheads="1"/>
          </p:cNvSpPr>
          <p:nvPr>
            <p:ph type="body" idx="1"/>
          </p:nvPr>
        </p:nvSpPr>
        <p:spPr>
          <a:xfrm>
            <a:off x="685800" y="1143000"/>
            <a:ext cx="8001000" cy="5486400"/>
          </a:xfrm>
        </p:spPr>
        <p:txBody>
          <a:bodyPr/>
          <a:lstStyle/>
          <a:p>
            <a:pPr eaLnBrk="1" hangingPunct="1">
              <a:lnSpc>
                <a:spcPct val="80000"/>
              </a:lnSpc>
            </a:pPr>
            <a:r>
              <a:rPr lang="en-US" altLang="en-US" sz="2800"/>
              <a:t>Income tax rates:  corporate and top personal income tax rates reduced to 25% - 45% range; </a:t>
            </a:r>
            <a:r>
              <a:rPr lang="en-US" altLang="en-US" sz="2800" i="1"/>
              <a:t>incentives reduced and rationalized to some extent</a:t>
            </a:r>
          </a:p>
          <a:p>
            <a:pPr eaLnBrk="1" hangingPunct="1">
              <a:lnSpc>
                <a:spcPct val="80000"/>
              </a:lnSpc>
            </a:pPr>
            <a:r>
              <a:rPr lang="en-US" altLang="en-US" sz="2800"/>
              <a:t>VAT/GST on broad bases </a:t>
            </a:r>
          </a:p>
          <a:p>
            <a:pPr lvl="1" eaLnBrk="1" hangingPunct="1">
              <a:lnSpc>
                <a:spcPct val="80000"/>
              </a:lnSpc>
            </a:pPr>
            <a:r>
              <a:rPr lang="en-US" altLang="en-US" sz="2400"/>
              <a:t>Pressures from globalization and international competition to have “competitive tax system”</a:t>
            </a:r>
          </a:p>
          <a:p>
            <a:pPr lvl="1" eaLnBrk="1" hangingPunct="1">
              <a:lnSpc>
                <a:spcPct val="80000"/>
              </a:lnSpc>
            </a:pPr>
            <a:r>
              <a:rPr lang="en-US" altLang="en-US" sz="2400"/>
              <a:t>Growth of common markets and other trading blocs led to harmonization of rates</a:t>
            </a:r>
          </a:p>
          <a:p>
            <a:pPr lvl="1" eaLnBrk="1" hangingPunct="1">
              <a:lnSpc>
                <a:spcPct val="80000"/>
              </a:lnSpc>
            </a:pPr>
            <a:r>
              <a:rPr lang="en-US" altLang="en-US" sz="2400" i="1">
                <a:solidFill>
                  <a:srgbClr val="FF0000"/>
                </a:solidFill>
              </a:rPr>
              <a:t>BUT ongoing pressures from lobby groups complicate taxes (Indonesia, India).  </a:t>
            </a:r>
            <a:r>
              <a:rPr lang="en-US" altLang="en-US" sz="2400" i="1"/>
              <a:t>With computer-based tax calculators, greater tolerance of complexity in tax systems possible but it is not desirable from the perspectives of revenue or economy</a:t>
            </a:r>
          </a:p>
          <a:p>
            <a:pPr eaLnBrk="1" hangingPunct="1">
              <a:lnSpc>
                <a:spcPct val="80000"/>
              </a:lnSpc>
            </a:pPr>
            <a:r>
              <a:rPr lang="en-US" altLang="en-US" sz="2800"/>
              <a:t>Import duty rates reduced steadily to minimal levels in industrial countries under WTO directives; similar trend elsewhere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BA212DEB-7833-1E75-7DCA-22DAEADD4775}"/>
              </a:ext>
            </a:extLst>
          </p:cNvPr>
          <p:cNvSpPr txBox="1">
            <a:spLocks noChangeArrowheads="1"/>
          </p:cNvSpPr>
          <p:nvPr/>
        </p:nvSpPr>
        <p:spPr bwMode="auto">
          <a:xfrm>
            <a:off x="0" y="0"/>
            <a:ext cx="9144000" cy="1143000"/>
          </a:xfrm>
          <a:prstGeom prst="rect">
            <a:avLst/>
          </a:prstGeom>
          <a:noFill/>
          <a:ln w="9525">
            <a:noFill/>
            <a:miter lim="800000"/>
            <a:headEnd/>
            <a:tailEnd/>
          </a:ln>
        </p:spPr>
        <p:txBody>
          <a:bodyPr anchor="ctr">
            <a:normAutofit/>
          </a:bodyPr>
          <a:lstStyle/>
          <a:p>
            <a:pPr algn="ctr" eaLnBrk="1" fontAlgn="auto" hangingPunct="1">
              <a:spcAft>
                <a:spcPts val="0"/>
              </a:spcAft>
              <a:defRPr/>
            </a:pPr>
            <a:r>
              <a:rPr lang="en-US" sz="3200" b="1" dirty="0">
                <a:latin typeface="+mj-lt"/>
                <a:cs typeface="Arial" pitchFamily="34" charset="0"/>
              </a:rPr>
              <a:t>Tax Reform in Practice</a:t>
            </a:r>
            <a:endParaRPr lang="en-US" sz="3200" dirty="0">
              <a:latin typeface="+mj-lt"/>
              <a:ea typeface="+mj-ea"/>
              <a:cs typeface="+mj-cs"/>
            </a:endParaRPr>
          </a:p>
        </p:txBody>
      </p:sp>
      <p:graphicFrame>
        <p:nvGraphicFramePr>
          <p:cNvPr id="5" name="Table 4">
            <a:extLst>
              <a:ext uri="{FF2B5EF4-FFF2-40B4-BE49-F238E27FC236}">
                <a16:creationId xmlns:a16="http://schemas.microsoft.com/office/drawing/2014/main" id="{FB95ECE8-E3D1-7A7B-54ED-179455F842AE}"/>
              </a:ext>
            </a:extLst>
          </p:cNvPr>
          <p:cNvGraphicFramePr>
            <a:graphicFrameLocks noGrp="1"/>
          </p:cNvGraphicFramePr>
          <p:nvPr/>
        </p:nvGraphicFramePr>
        <p:xfrm>
          <a:off x="304800" y="1041400"/>
          <a:ext cx="8534400" cy="5613419"/>
        </p:xfrm>
        <a:graphic>
          <a:graphicData uri="http://schemas.openxmlformats.org/drawingml/2006/table">
            <a:tbl>
              <a:tblPr/>
              <a:tblGrid>
                <a:gridCol w="4267200">
                  <a:extLst>
                    <a:ext uri="{9D8B030D-6E8A-4147-A177-3AD203B41FA5}">
                      <a16:colId xmlns:a16="http://schemas.microsoft.com/office/drawing/2014/main" val="20000"/>
                    </a:ext>
                  </a:extLst>
                </a:gridCol>
                <a:gridCol w="4267200">
                  <a:extLst>
                    <a:ext uri="{9D8B030D-6E8A-4147-A177-3AD203B41FA5}">
                      <a16:colId xmlns:a16="http://schemas.microsoft.com/office/drawing/2014/main" val="20001"/>
                    </a:ext>
                  </a:extLst>
                </a:gridCol>
              </a:tblGrid>
              <a:tr h="37114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FFFFFF"/>
                          </a:solidFill>
                          <a:effectLst/>
                          <a:latin typeface="Times New Roman" pitchFamily="18" charset="0"/>
                        </a:rPr>
                        <a:t>Before Reform</a:t>
                      </a:r>
                    </a:p>
                  </a:txBody>
                  <a:tcPr marT="45684" marB="4568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Times New Roman" pitchFamily="18" charset="0"/>
                        </a:rPr>
                        <a:t>After Reform</a:t>
                      </a:r>
                    </a:p>
                  </a:txBody>
                  <a:tcPr marT="45684" marB="4568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0"/>
                  </a:ext>
                </a:extLst>
              </a:tr>
              <a:tr h="13105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sng" strike="noStrike" cap="none" normalizeH="0" baseline="0" dirty="0">
                          <a:ln>
                            <a:noFill/>
                          </a:ln>
                          <a:solidFill>
                            <a:srgbClr val="000000"/>
                          </a:solidFill>
                          <a:effectLst/>
                          <a:latin typeface="Times New Roman" pitchFamily="18" charset="0"/>
                        </a:rPr>
                        <a:t>DIRECT TAXES</a:t>
                      </a:r>
                      <a:r>
                        <a:rPr kumimoji="0" lang="en-US" sz="1600" b="0" i="0" u="none" strike="noStrike" cap="none" normalizeH="0" baseline="0" dirty="0">
                          <a:ln>
                            <a:noFill/>
                          </a:ln>
                          <a:solidFill>
                            <a:srgbClr val="000000"/>
                          </a:solidFill>
                          <a:effectLst/>
                          <a:latin typeface="Times New Roman" pitchFamily="18" charset="0"/>
                        </a:rPr>
                        <a:t>:</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Times New Roman" pitchFamily="18" charset="0"/>
                        </a:rPr>
                        <a:t>(a) </a:t>
                      </a:r>
                      <a:r>
                        <a:rPr kumimoji="0" lang="en-US" sz="1600" b="1" i="0" u="none" strike="noStrike" cap="none" normalizeH="0" baseline="0" dirty="0">
                          <a:ln>
                            <a:noFill/>
                          </a:ln>
                          <a:solidFill>
                            <a:srgbClr val="000000"/>
                          </a:solidFill>
                          <a:effectLst/>
                          <a:latin typeface="Times New Roman" pitchFamily="18" charset="0"/>
                        </a:rPr>
                        <a:t>Personal Income Tax</a:t>
                      </a:r>
                    </a:p>
                    <a:p>
                      <a:pPr marL="684213" marR="0" lvl="1" indent="-227013" algn="l" defTabSz="914400" rtl="0" eaLnBrk="1" fontAlgn="base" latinLnBrk="0" hangingPunct="1">
                        <a:lnSpc>
                          <a:spcPct val="100000"/>
                        </a:lnSpc>
                        <a:spcBef>
                          <a:spcPct val="0"/>
                        </a:spcBef>
                        <a:spcAft>
                          <a:spcPct val="0"/>
                        </a:spcAft>
                        <a:buClrTx/>
                        <a:buSzTx/>
                        <a:buFont typeface="Courier New" pitchFamily="49" charset="0"/>
                        <a:buChar char="-"/>
                        <a:tabLst/>
                      </a:pPr>
                      <a:r>
                        <a:rPr kumimoji="0" lang="en-US" sz="1600" b="0" i="0" u="none" strike="noStrike" cap="none" normalizeH="0" baseline="0" dirty="0">
                          <a:ln>
                            <a:noFill/>
                          </a:ln>
                          <a:solidFill>
                            <a:srgbClr val="000000"/>
                          </a:solidFill>
                          <a:effectLst/>
                          <a:latin typeface="Times New Roman" pitchFamily="18" charset="0"/>
                        </a:rPr>
                        <a:t>High Top Rates (up to 60%)</a:t>
                      </a:r>
                    </a:p>
                    <a:p>
                      <a:pPr marL="684213" marR="0" lvl="1" indent="-227013" algn="l" defTabSz="914400" rtl="0" eaLnBrk="1" fontAlgn="base" latinLnBrk="0" hangingPunct="1">
                        <a:lnSpc>
                          <a:spcPct val="100000"/>
                        </a:lnSpc>
                        <a:spcBef>
                          <a:spcPct val="0"/>
                        </a:spcBef>
                        <a:spcAft>
                          <a:spcPct val="0"/>
                        </a:spcAft>
                        <a:buClrTx/>
                        <a:buSzTx/>
                        <a:buFont typeface="Courier New" pitchFamily="49" charset="0"/>
                        <a:buChar char="-"/>
                        <a:tabLst/>
                      </a:pPr>
                      <a:r>
                        <a:rPr kumimoji="0" lang="en-US" sz="1600" b="0" i="0" u="none" strike="noStrike" cap="none" normalizeH="0" baseline="0" dirty="0">
                          <a:ln>
                            <a:noFill/>
                          </a:ln>
                          <a:solidFill>
                            <a:srgbClr val="000000"/>
                          </a:solidFill>
                          <a:effectLst/>
                          <a:latin typeface="Times New Roman" pitchFamily="18" charset="0"/>
                        </a:rPr>
                        <a:t>Many Rates</a:t>
                      </a:r>
                    </a:p>
                    <a:p>
                      <a:pPr marL="684213" marR="0" lvl="1" indent="-227013" algn="l" defTabSz="914400" rtl="0" eaLnBrk="1" fontAlgn="base" latinLnBrk="0" hangingPunct="1">
                        <a:lnSpc>
                          <a:spcPct val="100000"/>
                        </a:lnSpc>
                        <a:spcBef>
                          <a:spcPct val="0"/>
                        </a:spcBef>
                        <a:spcAft>
                          <a:spcPct val="0"/>
                        </a:spcAft>
                        <a:buClrTx/>
                        <a:buSzTx/>
                        <a:buFont typeface="Courier New" pitchFamily="49" charset="0"/>
                        <a:buChar char="-"/>
                        <a:tabLst/>
                      </a:pPr>
                      <a:r>
                        <a:rPr kumimoji="0" lang="en-US" sz="1600" b="0" i="0" u="none" strike="noStrike" cap="none" normalizeH="0" baseline="0" dirty="0">
                          <a:ln>
                            <a:noFill/>
                          </a:ln>
                          <a:solidFill>
                            <a:srgbClr val="000000"/>
                          </a:solidFill>
                          <a:effectLst/>
                          <a:latin typeface="Times New Roman" pitchFamily="18" charset="0"/>
                        </a:rPr>
                        <a:t>Many Exemptions</a:t>
                      </a:r>
                    </a:p>
                  </a:txBody>
                  <a:tcPr marT="45684" marB="4568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CBCB"/>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sng" strike="noStrike" cap="none" normalizeH="0" baseline="0">
                          <a:ln>
                            <a:noFill/>
                          </a:ln>
                          <a:solidFill>
                            <a:srgbClr val="000000"/>
                          </a:solidFill>
                          <a:effectLst/>
                          <a:latin typeface="Times New Roman" pitchFamily="18" charset="0"/>
                        </a:rPr>
                        <a:t>DIRECT TAXES</a:t>
                      </a:r>
                      <a:r>
                        <a:rPr kumimoji="0" lang="en-US" sz="1600" b="0" i="0" u="none" strike="noStrike" cap="none" normalizeH="0" baseline="0">
                          <a:ln>
                            <a:noFill/>
                          </a:ln>
                          <a:solidFill>
                            <a:srgbClr val="000000"/>
                          </a:solidFill>
                          <a:effectLst/>
                          <a:latin typeface="Times New Roman" pitchFamily="18" charset="0"/>
                        </a:rPr>
                        <a:t>:</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rgbClr val="000000"/>
                          </a:solidFill>
                          <a:effectLst/>
                          <a:latin typeface="Times New Roman" pitchFamily="18" charset="0"/>
                        </a:rPr>
                        <a:t>(a) </a:t>
                      </a:r>
                      <a:r>
                        <a:rPr kumimoji="0" lang="en-US" sz="1600" b="1" i="0" u="none" strike="noStrike" cap="none" normalizeH="0" baseline="0">
                          <a:ln>
                            <a:noFill/>
                          </a:ln>
                          <a:solidFill>
                            <a:srgbClr val="000000"/>
                          </a:solidFill>
                          <a:effectLst/>
                          <a:latin typeface="Times New Roman" pitchFamily="18" charset="0"/>
                        </a:rPr>
                        <a:t>Personal Income Tax</a:t>
                      </a:r>
                    </a:p>
                    <a:p>
                      <a:pPr marL="684213" marR="0" lvl="1" indent="-227013" algn="l" defTabSz="914400" rtl="0" eaLnBrk="1" fontAlgn="base" latinLnBrk="0" hangingPunct="1">
                        <a:lnSpc>
                          <a:spcPct val="100000"/>
                        </a:lnSpc>
                        <a:spcBef>
                          <a:spcPct val="0"/>
                        </a:spcBef>
                        <a:spcAft>
                          <a:spcPct val="0"/>
                        </a:spcAft>
                        <a:buClrTx/>
                        <a:buSzTx/>
                        <a:buFont typeface="Courier New" pitchFamily="49" charset="0"/>
                        <a:buChar char="-"/>
                        <a:tabLst/>
                      </a:pPr>
                      <a:r>
                        <a:rPr kumimoji="0" lang="en-US" sz="1600" b="0" i="0" u="none" strike="noStrike" cap="none" normalizeH="0" baseline="0">
                          <a:ln>
                            <a:noFill/>
                          </a:ln>
                          <a:solidFill>
                            <a:srgbClr val="000000"/>
                          </a:solidFill>
                          <a:effectLst/>
                          <a:latin typeface="Times New Roman" pitchFamily="18" charset="0"/>
                        </a:rPr>
                        <a:t>Top Rates Falling (30-35%)</a:t>
                      </a:r>
                    </a:p>
                    <a:p>
                      <a:pPr marL="684213" marR="0" lvl="1" indent="-227013" algn="l" defTabSz="914400" rtl="0" eaLnBrk="1" fontAlgn="base" latinLnBrk="0" hangingPunct="1">
                        <a:lnSpc>
                          <a:spcPct val="100000"/>
                        </a:lnSpc>
                        <a:spcBef>
                          <a:spcPct val="0"/>
                        </a:spcBef>
                        <a:spcAft>
                          <a:spcPct val="0"/>
                        </a:spcAft>
                        <a:buClrTx/>
                        <a:buSzTx/>
                        <a:buFont typeface="Courier New" pitchFamily="49" charset="0"/>
                        <a:buChar char="-"/>
                        <a:tabLst/>
                      </a:pPr>
                      <a:r>
                        <a:rPr kumimoji="0" lang="en-US" sz="1600" b="0" i="0" u="none" strike="noStrike" cap="none" normalizeH="0" baseline="0">
                          <a:ln>
                            <a:noFill/>
                          </a:ln>
                          <a:solidFill>
                            <a:srgbClr val="000000"/>
                          </a:solidFill>
                          <a:effectLst/>
                          <a:latin typeface="Times New Roman" pitchFamily="18" charset="0"/>
                        </a:rPr>
                        <a:t>Fewer Rates</a:t>
                      </a:r>
                    </a:p>
                    <a:p>
                      <a:pPr marL="684213" marR="0" lvl="1" indent="-227013" algn="l" defTabSz="914400" rtl="0" eaLnBrk="1" fontAlgn="base" latinLnBrk="0" hangingPunct="1">
                        <a:lnSpc>
                          <a:spcPct val="100000"/>
                        </a:lnSpc>
                        <a:spcBef>
                          <a:spcPct val="0"/>
                        </a:spcBef>
                        <a:spcAft>
                          <a:spcPct val="0"/>
                        </a:spcAft>
                        <a:buClrTx/>
                        <a:buSzTx/>
                        <a:buFont typeface="Courier New" pitchFamily="49" charset="0"/>
                        <a:buChar char="-"/>
                        <a:tabLst/>
                      </a:pPr>
                      <a:r>
                        <a:rPr kumimoji="0" lang="en-US" sz="1600" b="0" i="0" u="none" strike="noStrike" cap="none" normalizeH="0" baseline="0">
                          <a:ln>
                            <a:noFill/>
                          </a:ln>
                          <a:solidFill>
                            <a:srgbClr val="000000"/>
                          </a:solidFill>
                          <a:effectLst/>
                          <a:latin typeface="Times New Roman" pitchFamily="18" charset="0"/>
                        </a:rPr>
                        <a:t>Fewer Exemptions</a:t>
                      </a:r>
                    </a:p>
                  </a:txBody>
                  <a:tcPr marT="45684" marB="4568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CBCB"/>
                    </a:solidFill>
                  </a:tcPr>
                </a:tc>
                <a:extLst>
                  <a:ext uri="{0D108BD9-81ED-4DB2-BD59-A6C34878D82A}">
                    <a16:rowId xmlns:a16="http://schemas.microsoft.com/office/drawing/2014/main" val="10001"/>
                  </a:ext>
                </a:extLst>
              </a:tr>
              <a:tr h="13105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rgbClr val="000000"/>
                          </a:solidFill>
                          <a:effectLst/>
                          <a:latin typeface="Times New Roman" pitchFamily="18" charset="0"/>
                        </a:rPr>
                        <a:t>(b) </a:t>
                      </a:r>
                      <a:r>
                        <a:rPr kumimoji="0" lang="en-US" sz="1600" b="1" i="0" u="none" strike="noStrike" cap="none" normalizeH="0" baseline="0">
                          <a:ln>
                            <a:noFill/>
                          </a:ln>
                          <a:solidFill>
                            <a:srgbClr val="000000"/>
                          </a:solidFill>
                          <a:effectLst/>
                          <a:latin typeface="Times New Roman" pitchFamily="18" charset="0"/>
                        </a:rPr>
                        <a:t>Corporate Income Tax</a:t>
                      </a:r>
                    </a:p>
                    <a:p>
                      <a:pPr marL="684213" marR="0" lvl="1" indent="-227013" algn="l" defTabSz="914400" rtl="0" eaLnBrk="1" fontAlgn="base" latinLnBrk="0" hangingPunct="1">
                        <a:lnSpc>
                          <a:spcPct val="100000"/>
                        </a:lnSpc>
                        <a:spcBef>
                          <a:spcPct val="0"/>
                        </a:spcBef>
                        <a:spcAft>
                          <a:spcPct val="0"/>
                        </a:spcAft>
                        <a:buClrTx/>
                        <a:buSzTx/>
                        <a:buFont typeface="Courier New" pitchFamily="49" charset="0"/>
                        <a:buChar char="-"/>
                        <a:tabLst/>
                      </a:pPr>
                      <a:r>
                        <a:rPr kumimoji="0" lang="en-US" sz="1600" b="0" i="0" u="none" strike="noStrike" cap="none" normalizeH="0" baseline="0">
                          <a:ln>
                            <a:noFill/>
                          </a:ln>
                          <a:solidFill>
                            <a:srgbClr val="000000"/>
                          </a:solidFill>
                          <a:effectLst/>
                          <a:latin typeface="Times New Roman" pitchFamily="18" charset="0"/>
                        </a:rPr>
                        <a:t>High Marginal Rates</a:t>
                      </a:r>
                    </a:p>
                    <a:p>
                      <a:pPr marL="684213" marR="0" lvl="1" indent="-227013" algn="l" defTabSz="914400" rtl="0" eaLnBrk="1" fontAlgn="base" latinLnBrk="0" hangingPunct="1">
                        <a:lnSpc>
                          <a:spcPct val="100000"/>
                        </a:lnSpc>
                        <a:spcBef>
                          <a:spcPct val="0"/>
                        </a:spcBef>
                        <a:spcAft>
                          <a:spcPct val="0"/>
                        </a:spcAft>
                        <a:buClrTx/>
                        <a:buSzTx/>
                        <a:buFont typeface="Courier New" pitchFamily="49" charset="0"/>
                        <a:buChar char="-"/>
                        <a:tabLst/>
                      </a:pPr>
                      <a:r>
                        <a:rPr kumimoji="0" lang="en-US" sz="1600" b="0" i="0" u="none" strike="noStrike" cap="none" normalizeH="0" baseline="0">
                          <a:ln>
                            <a:noFill/>
                          </a:ln>
                          <a:solidFill>
                            <a:srgbClr val="000000"/>
                          </a:solidFill>
                          <a:effectLst/>
                          <a:latin typeface="Times New Roman" pitchFamily="18" charset="0"/>
                        </a:rPr>
                        <a:t>Tax Holidays and Other Incentives</a:t>
                      </a:r>
                    </a:p>
                    <a:p>
                      <a:pPr marL="684213" marR="0" lvl="1" indent="-227013" algn="l" defTabSz="914400" rtl="0" eaLnBrk="1" fontAlgn="base" latinLnBrk="0" hangingPunct="1">
                        <a:lnSpc>
                          <a:spcPct val="100000"/>
                        </a:lnSpc>
                        <a:spcBef>
                          <a:spcPct val="0"/>
                        </a:spcBef>
                        <a:spcAft>
                          <a:spcPct val="0"/>
                        </a:spcAft>
                        <a:buClrTx/>
                        <a:buSzTx/>
                        <a:buFont typeface="Courier New" pitchFamily="49" charset="0"/>
                        <a:buChar char="-"/>
                        <a:tabLst/>
                      </a:pPr>
                      <a:r>
                        <a:rPr kumimoji="0" lang="en-US" sz="1600" b="0" i="0" u="none" strike="noStrike" cap="none" normalizeH="0" baseline="0">
                          <a:ln>
                            <a:noFill/>
                          </a:ln>
                          <a:solidFill>
                            <a:srgbClr val="000000"/>
                          </a:solidFill>
                          <a:effectLst/>
                          <a:latin typeface="Times New Roman" pitchFamily="18" charset="0"/>
                        </a:rPr>
                        <a:t>Double Taxation</a:t>
                      </a:r>
                    </a:p>
                  </a:txBody>
                  <a:tcPr marT="45684" marB="4568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rgbClr val="000000"/>
                          </a:solidFill>
                          <a:effectLst/>
                          <a:latin typeface="Times New Roman" pitchFamily="18" charset="0"/>
                        </a:rPr>
                        <a:t>(b) </a:t>
                      </a:r>
                      <a:r>
                        <a:rPr kumimoji="0" lang="en-US" sz="1600" b="1" i="0" u="none" strike="noStrike" cap="none" normalizeH="0" baseline="0">
                          <a:ln>
                            <a:noFill/>
                          </a:ln>
                          <a:solidFill>
                            <a:srgbClr val="000000"/>
                          </a:solidFill>
                          <a:effectLst/>
                          <a:latin typeface="Times New Roman" pitchFamily="18" charset="0"/>
                        </a:rPr>
                        <a:t>Corporate Income Tax</a:t>
                      </a:r>
                    </a:p>
                    <a:p>
                      <a:pPr marL="684213" marR="0" lvl="1" indent="-227013" algn="l" defTabSz="914400" rtl="0" eaLnBrk="1" fontAlgn="base" latinLnBrk="0" hangingPunct="1">
                        <a:lnSpc>
                          <a:spcPct val="100000"/>
                        </a:lnSpc>
                        <a:spcBef>
                          <a:spcPct val="0"/>
                        </a:spcBef>
                        <a:spcAft>
                          <a:spcPct val="0"/>
                        </a:spcAft>
                        <a:buClrTx/>
                        <a:buSzTx/>
                        <a:buFont typeface="Courier New" pitchFamily="49" charset="0"/>
                        <a:buChar char="-"/>
                        <a:tabLst/>
                      </a:pPr>
                      <a:r>
                        <a:rPr kumimoji="0" lang="en-US" sz="1600" b="0" i="0" u="none" strike="noStrike" cap="none" normalizeH="0" baseline="0">
                          <a:ln>
                            <a:noFill/>
                          </a:ln>
                          <a:solidFill>
                            <a:srgbClr val="000000"/>
                          </a:solidFill>
                          <a:effectLst/>
                          <a:latin typeface="Times New Roman" pitchFamily="18" charset="0"/>
                        </a:rPr>
                        <a:t>Convergence with Top PIT Rates</a:t>
                      </a:r>
                    </a:p>
                    <a:p>
                      <a:pPr marL="684213" marR="0" lvl="1" indent="-227013" algn="l" defTabSz="914400" rtl="0" eaLnBrk="1" fontAlgn="base" latinLnBrk="0" hangingPunct="1">
                        <a:lnSpc>
                          <a:spcPct val="100000"/>
                        </a:lnSpc>
                        <a:spcBef>
                          <a:spcPct val="0"/>
                        </a:spcBef>
                        <a:spcAft>
                          <a:spcPct val="0"/>
                        </a:spcAft>
                        <a:buClrTx/>
                        <a:buSzTx/>
                        <a:buFont typeface="Courier New" pitchFamily="49" charset="0"/>
                        <a:buChar char="-"/>
                        <a:tabLst/>
                      </a:pPr>
                      <a:r>
                        <a:rPr kumimoji="0" lang="en-US" sz="1600" b="0" i="0" u="none" strike="noStrike" cap="none" normalizeH="0" baseline="0">
                          <a:ln>
                            <a:noFill/>
                          </a:ln>
                          <a:solidFill>
                            <a:srgbClr val="000000"/>
                          </a:solidFill>
                          <a:effectLst/>
                          <a:latin typeface="Times New Roman" pitchFamily="18" charset="0"/>
                        </a:rPr>
                        <a:t>Elimination of Special Incentives</a:t>
                      </a:r>
                    </a:p>
                    <a:p>
                      <a:pPr marL="684213" marR="0" lvl="1" indent="-227013" algn="l" defTabSz="914400" rtl="0" eaLnBrk="1" fontAlgn="base" latinLnBrk="0" hangingPunct="1">
                        <a:lnSpc>
                          <a:spcPct val="100000"/>
                        </a:lnSpc>
                        <a:spcBef>
                          <a:spcPct val="0"/>
                        </a:spcBef>
                        <a:spcAft>
                          <a:spcPct val="0"/>
                        </a:spcAft>
                        <a:buClrTx/>
                        <a:buSzTx/>
                        <a:buFont typeface="Courier New" pitchFamily="49" charset="0"/>
                        <a:buChar char="-"/>
                        <a:tabLst/>
                      </a:pPr>
                      <a:r>
                        <a:rPr kumimoji="0" lang="en-US" sz="1600" b="0" i="0" u="none" strike="noStrike" cap="none" normalizeH="0" baseline="0">
                          <a:ln>
                            <a:noFill/>
                          </a:ln>
                          <a:solidFill>
                            <a:srgbClr val="000000"/>
                          </a:solidFill>
                          <a:effectLst/>
                          <a:latin typeface="Times New Roman" pitchFamily="18" charset="0"/>
                        </a:rPr>
                        <a:t>Integration of Corporate and Personal Income Taxes</a:t>
                      </a:r>
                    </a:p>
                  </a:txBody>
                  <a:tcPr marT="45684" marB="4568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extLst>
                  <a:ext uri="{0D108BD9-81ED-4DB2-BD59-A6C34878D82A}">
                    <a16:rowId xmlns:a16="http://schemas.microsoft.com/office/drawing/2014/main" val="10002"/>
                  </a:ext>
                </a:extLst>
              </a:tr>
              <a:tr h="155440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sng" strike="noStrike" cap="none" normalizeH="0" baseline="0">
                          <a:ln>
                            <a:noFill/>
                          </a:ln>
                          <a:solidFill>
                            <a:srgbClr val="000000"/>
                          </a:solidFill>
                          <a:effectLst/>
                          <a:latin typeface="Times New Roman" pitchFamily="18" charset="0"/>
                        </a:rPr>
                        <a:t>INDIRECT TAXES</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rgbClr val="000000"/>
                          </a:solidFill>
                          <a:effectLst/>
                          <a:latin typeface="Times New Roman" pitchFamily="18" charset="0"/>
                        </a:rPr>
                        <a:t>(a) </a:t>
                      </a:r>
                      <a:r>
                        <a:rPr kumimoji="0" lang="en-US" sz="1600" b="1" i="0" u="none" strike="noStrike" cap="none" normalizeH="0" baseline="0">
                          <a:ln>
                            <a:noFill/>
                          </a:ln>
                          <a:solidFill>
                            <a:srgbClr val="000000"/>
                          </a:solidFill>
                          <a:effectLst/>
                          <a:latin typeface="Times New Roman" pitchFamily="18" charset="0"/>
                        </a:rPr>
                        <a:t>Sales Tax</a:t>
                      </a:r>
                    </a:p>
                    <a:p>
                      <a:pPr marL="684213" marR="0" lvl="1" indent="-227013" algn="l" defTabSz="914400" rtl="0" eaLnBrk="1" fontAlgn="base" latinLnBrk="0" hangingPunct="1">
                        <a:lnSpc>
                          <a:spcPct val="100000"/>
                        </a:lnSpc>
                        <a:spcBef>
                          <a:spcPct val="0"/>
                        </a:spcBef>
                        <a:spcAft>
                          <a:spcPct val="0"/>
                        </a:spcAft>
                        <a:buClrTx/>
                        <a:buSzTx/>
                        <a:buFont typeface="Courier New" pitchFamily="49" charset="0"/>
                        <a:buChar char="-"/>
                        <a:tabLst/>
                      </a:pPr>
                      <a:r>
                        <a:rPr kumimoji="0" lang="en-US" sz="1600" b="0" i="0" u="none" strike="noStrike" cap="none" normalizeH="0" baseline="0">
                          <a:ln>
                            <a:noFill/>
                          </a:ln>
                          <a:solidFill>
                            <a:srgbClr val="000000"/>
                          </a:solidFill>
                          <a:effectLst/>
                          <a:latin typeface="Times New Roman" pitchFamily="18" charset="0"/>
                        </a:rPr>
                        <a:t>Many Rates</a:t>
                      </a:r>
                    </a:p>
                    <a:p>
                      <a:pPr marL="684213" marR="0" lvl="1" indent="-227013" algn="l" defTabSz="914400" rtl="0" eaLnBrk="1" fontAlgn="base" latinLnBrk="0" hangingPunct="1">
                        <a:lnSpc>
                          <a:spcPct val="100000"/>
                        </a:lnSpc>
                        <a:spcBef>
                          <a:spcPct val="0"/>
                        </a:spcBef>
                        <a:spcAft>
                          <a:spcPct val="0"/>
                        </a:spcAft>
                        <a:buClrTx/>
                        <a:buSzTx/>
                        <a:buFont typeface="Courier New" pitchFamily="49" charset="0"/>
                        <a:buChar char="-"/>
                        <a:tabLst/>
                      </a:pPr>
                      <a:r>
                        <a:rPr kumimoji="0" lang="en-US" sz="1600" b="0" i="0" u="none" strike="noStrike" cap="none" normalizeH="0" baseline="0">
                          <a:ln>
                            <a:noFill/>
                          </a:ln>
                          <a:solidFill>
                            <a:srgbClr val="000000"/>
                          </a:solidFill>
                          <a:effectLst/>
                          <a:latin typeface="Times New Roman" pitchFamily="18" charset="0"/>
                        </a:rPr>
                        <a:t>Many Exemptions</a:t>
                      </a:r>
                    </a:p>
                    <a:p>
                      <a:pPr marL="684213" marR="0" lvl="1" indent="-227013" algn="l" defTabSz="914400" rtl="0" eaLnBrk="1" fontAlgn="base" latinLnBrk="0" hangingPunct="1">
                        <a:lnSpc>
                          <a:spcPct val="100000"/>
                        </a:lnSpc>
                        <a:spcBef>
                          <a:spcPct val="0"/>
                        </a:spcBef>
                        <a:spcAft>
                          <a:spcPct val="0"/>
                        </a:spcAft>
                        <a:buClrTx/>
                        <a:buSzTx/>
                        <a:buFont typeface="Courier New" pitchFamily="49" charset="0"/>
                        <a:buChar char="-"/>
                        <a:tabLst/>
                      </a:pPr>
                      <a:r>
                        <a:rPr kumimoji="0" lang="en-US" sz="1600" b="0" i="0" u="none" strike="noStrike" cap="none" normalizeH="0" baseline="0">
                          <a:ln>
                            <a:noFill/>
                          </a:ln>
                          <a:solidFill>
                            <a:srgbClr val="000000"/>
                          </a:solidFill>
                          <a:effectLst/>
                          <a:latin typeface="Times New Roman" pitchFamily="18" charset="0"/>
                        </a:rPr>
                        <a:t>Narrow Base</a:t>
                      </a:r>
                    </a:p>
                  </a:txBody>
                  <a:tcPr marT="45684" marB="4568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CBCB"/>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sng" strike="noStrike" cap="none" normalizeH="0" baseline="0" dirty="0">
                          <a:ln>
                            <a:noFill/>
                          </a:ln>
                          <a:solidFill>
                            <a:srgbClr val="000000"/>
                          </a:solidFill>
                          <a:effectLst/>
                          <a:latin typeface="Times New Roman" pitchFamily="18" charset="0"/>
                        </a:rPr>
                        <a:t>INDIRECT TAXES</a:t>
                      </a:r>
                      <a:endParaRPr kumimoji="0" lang="en-US" sz="1600" b="0" i="0" u="none" strike="noStrike" cap="none" normalizeH="0" baseline="0" dirty="0">
                        <a:ln>
                          <a:noFill/>
                        </a:ln>
                        <a:solidFill>
                          <a:srgbClr val="000000"/>
                        </a:solidFill>
                        <a:effectLst/>
                        <a:latin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Times New Roman" pitchFamily="18" charset="0"/>
                        </a:rPr>
                        <a:t>(a) </a:t>
                      </a:r>
                      <a:r>
                        <a:rPr kumimoji="0" lang="en-US" sz="1600" b="1" i="0" u="none" strike="noStrike" cap="none" normalizeH="0" baseline="0" dirty="0">
                          <a:ln>
                            <a:noFill/>
                          </a:ln>
                          <a:solidFill>
                            <a:srgbClr val="000000"/>
                          </a:solidFill>
                          <a:effectLst/>
                          <a:latin typeface="Times New Roman" pitchFamily="18" charset="0"/>
                        </a:rPr>
                        <a:t>Value-Added Tax</a:t>
                      </a:r>
                    </a:p>
                    <a:p>
                      <a:pPr marL="684213" marR="0" lvl="1" indent="-227013" algn="l" defTabSz="914400" rtl="0" eaLnBrk="1" fontAlgn="base" latinLnBrk="0" hangingPunct="1">
                        <a:lnSpc>
                          <a:spcPct val="100000"/>
                        </a:lnSpc>
                        <a:spcBef>
                          <a:spcPct val="0"/>
                        </a:spcBef>
                        <a:spcAft>
                          <a:spcPct val="0"/>
                        </a:spcAft>
                        <a:buClrTx/>
                        <a:buSzTx/>
                        <a:buFont typeface="Courier New" pitchFamily="49" charset="0"/>
                        <a:buChar char="-"/>
                        <a:tabLst/>
                      </a:pPr>
                      <a:r>
                        <a:rPr kumimoji="0" lang="en-US" sz="1600" b="0" i="0" u="none" strike="noStrike" cap="none" normalizeH="0" baseline="0" dirty="0">
                          <a:ln>
                            <a:noFill/>
                          </a:ln>
                          <a:solidFill>
                            <a:srgbClr val="000000"/>
                          </a:solidFill>
                          <a:effectLst/>
                          <a:latin typeface="Times New Roman" pitchFamily="18" charset="0"/>
                        </a:rPr>
                        <a:t>One Positive and One Zero Rate</a:t>
                      </a:r>
                    </a:p>
                    <a:p>
                      <a:pPr marL="684213" marR="0" lvl="1" indent="-227013" algn="l" defTabSz="914400" rtl="0" eaLnBrk="1" fontAlgn="base" latinLnBrk="0" hangingPunct="1">
                        <a:lnSpc>
                          <a:spcPct val="100000"/>
                        </a:lnSpc>
                        <a:spcBef>
                          <a:spcPct val="0"/>
                        </a:spcBef>
                        <a:spcAft>
                          <a:spcPct val="0"/>
                        </a:spcAft>
                        <a:buClrTx/>
                        <a:buSzTx/>
                        <a:buFont typeface="Courier New" pitchFamily="49" charset="0"/>
                        <a:buChar char="-"/>
                        <a:tabLst/>
                      </a:pPr>
                      <a:r>
                        <a:rPr kumimoji="0" lang="en-US" sz="1600" b="0" i="0" u="none" strike="noStrike" cap="none" normalizeH="0" baseline="0" dirty="0">
                          <a:ln>
                            <a:noFill/>
                          </a:ln>
                          <a:solidFill>
                            <a:srgbClr val="000000"/>
                          </a:solidFill>
                          <a:effectLst/>
                          <a:latin typeface="Times New Roman" pitchFamily="18" charset="0"/>
                        </a:rPr>
                        <a:t>Few Exemptions</a:t>
                      </a:r>
                    </a:p>
                    <a:p>
                      <a:pPr marL="684213" marR="0" lvl="1" indent="-227013" algn="l" defTabSz="914400" rtl="0" eaLnBrk="1" fontAlgn="base" latinLnBrk="0" hangingPunct="1">
                        <a:lnSpc>
                          <a:spcPct val="100000"/>
                        </a:lnSpc>
                        <a:spcBef>
                          <a:spcPct val="0"/>
                        </a:spcBef>
                        <a:spcAft>
                          <a:spcPct val="0"/>
                        </a:spcAft>
                        <a:buClrTx/>
                        <a:buSzTx/>
                        <a:buFont typeface="Courier New" pitchFamily="49" charset="0"/>
                        <a:buChar char="-"/>
                        <a:tabLst/>
                      </a:pPr>
                      <a:r>
                        <a:rPr kumimoji="0" lang="en-US" sz="1600" b="0" i="0" u="none" strike="noStrike" cap="none" normalizeH="0" baseline="0" dirty="0">
                          <a:ln>
                            <a:noFill/>
                          </a:ln>
                          <a:solidFill>
                            <a:srgbClr val="000000"/>
                          </a:solidFill>
                          <a:effectLst/>
                          <a:latin typeface="Times New Roman" pitchFamily="18" charset="0"/>
                        </a:rPr>
                        <a:t>Broad Base + Selective Excises (e.g., fuels, cigarettes, liquor)</a:t>
                      </a:r>
                    </a:p>
                  </a:txBody>
                  <a:tcPr marT="45684" marB="4568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CBCB"/>
                    </a:solidFill>
                  </a:tcPr>
                </a:tc>
                <a:extLst>
                  <a:ext uri="{0D108BD9-81ED-4DB2-BD59-A6C34878D82A}">
                    <a16:rowId xmlns:a16="http://schemas.microsoft.com/office/drawing/2014/main" val="10003"/>
                  </a:ext>
                </a:extLst>
              </a:tr>
              <a:tr h="10667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Times New Roman" pitchFamily="18" charset="0"/>
                        </a:rPr>
                        <a:t>(b) </a:t>
                      </a:r>
                      <a:r>
                        <a:rPr kumimoji="0" lang="en-US" sz="1600" b="1" i="0" u="none" strike="noStrike" cap="none" normalizeH="0" baseline="0" dirty="0">
                          <a:ln>
                            <a:noFill/>
                          </a:ln>
                          <a:solidFill>
                            <a:srgbClr val="000000"/>
                          </a:solidFill>
                          <a:effectLst/>
                          <a:latin typeface="Times New Roman" pitchFamily="18" charset="0"/>
                        </a:rPr>
                        <a:t>Import Duties (Trade Taxes)</a:t>
                      </a:r>
                    </a:p>
                    <a:p>
                      <a:pPr marL="684213" marR="0" lvl="1" indent="-227013" algn="l" defTabSz="914400" rtl="0" eaLnBrk="1" fontAlgn="base" latinLnBrk="0" hangingPunct="1">
                        <a:lnSpc>
                          <a:spcPct val="100000"/>
                        </a:lnSpc>
                        <a:spcBef>
                          <a:spcPct val="0"/>
                        </a:spcBef>
                        <a:spcAft>
                          <a:spcPct val="0"/>
                        </a:spcAft>
                        <a:buClrTx/>
                        <a:buSzTx/>
                        <a:buFont typeface="Courier New" pitchFamily="49" charset="0"/>
                        <a:buChar char="-"/>
                        <a:tabLst/>
                      </a:pPr>
                      <a:r>
                        <a:rPr kumimoji="0" lang="en-US" sz="1600" b="0" i="0" u="none" strike="noStrike" cap="none" normalizeH="0" baseline="0" dirty="0">
                          <a:ln>
                            <a:noFill/>
                          </a:ln>
                          <a:solidFill>
                            <a:srgbClr val="000000"/>
                          </a:solidFill>
                          <a:effectLst/>
                          <a:latin typeface="Times New Roman" pitchFamily="18" charset="0"/>
                        </a:rPr>
                        <a:t>High Tariff Rates</a:t>
                      </a:r>
                    </a:p>
                    <a:p>
                      <a:pPr marL="684213" marR="0" lvl="1" indent="-227013" algn="l" defTabSz="914400" rtl="0" eaLnBrk="1" fontAlgn="base" latinLnBrk="0" hangingPunct="1">
                        <a:lnSpc>
                          <a:spcPct val="100000"/>
                        </a:lnSpc>
                        <a:spcBef>
                          <a:spcPct val="0"/>
                        </a:spcBef>
                        <a:spcAft>
                          <a:spcPct val="0"/>
                        </a:spcAft>
                        <a:buClrTx/>
                        <a:buSzTx/>
                        <a:buFont typeface="Courier New" pitchFamily="49" charset="0"/>
                        <a:buChar char="-"/>
                        <a:tabLst/>
                      </a:pPr>
                      <a:r>
                        <a:rPr kumimoji="0" lang="en-US" sz="1600" b="0" i="0" u="none" strike="noStrike" cap="none" normalizeH="0" baseline="0" dirty="0">
                          <a:ln>
                            <a:noFill/>
                          </a:ln>
                          <a:solidFill>
                            <a:srgbClr val="000000"/>
                          </a:solidFill>
                          <a:effectLst/>
                          <a:latin typeface="Times New Roman" pitchFamily="18" charset="0"/>
                        </a:rPr>
                        <a:t>Wide Dispersal of Rates</a:t>
                      </a:r>
                    </a:p>
                    <a:p>
                      <a:pPr marL="684213" marR="0" lvl="1" indent="-227013" algn="l" defTabSz="914400" rtl="0" eaLnBrk="1" fontAlgn="base" latinLnBrk="0" hangingPunct="1">
                        <a:lnSpc>
                          <a:spcPct val="100000"/>
                        </a:lnSpc>
                        <a:spcBef>
                          <a:spcPct val="0"/>
                        </a:spcBef>
                        <a:spcAft>
                          <a:spcPct val="0"/>
                        </a:spcAft>
                        <a:buClrTx/>
                        <a:buSzTx/>
                        <a:buFont typeface="Courier New" pitchFamily="49" charset="0"/>
                        <a:buChar char="-"/>
                        <a:tabLst/>
                      </a:pPr>
                      <a:r>
                        <a:rPr kumimoji="0" lang="en-US" sz="1600" b="0" i="0" u="none" strike="noStrike" cap="none" normalizeH="0" baseline="0" dirty="0">
                          <a:ln>
                            <a:noFill/>
                          </a:ln>
                          <a:solidFill>
                            <a:srgbClr val="000000"/>
                          </a:solidFill>
                          <a:effectLst/>
                          <a:latin typeface="Times New Roman" pitchFamily="18" charset="0"/>
                        </a:rPr>
                        <a:t>Quantitative Control </a:t>
                      </a:r>
                      <a:r>
                        <a:rPr kumimoji="0" lang="en-US" sz="1600" b="0" i="0" u="none" strike="noStrike" cap="none" normalizeH="0" baseline="0">
                          <a:ln>
                            <a:noFill/>
                          </a:ln>
                          <a:solidFill>
                            <a:srgbClr val="000000"/>
                          </a:solidFill>
                          <a:effectLst/>
                          <a:latin typeface="Times New Roman" pitchFamily="18" charset="0"/>
                        </a:rPr>
                        <a:t>(quota)</a:t>
                      </a:r>
                    </a:p>
                  </a:txBody>
                  <a:tcPr marT="45684" marB="4568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Times New Roman" pitchFamily="18" charset="0"/>
                        </a:rPr>
                        <a:t>(b) </a:t>
                      </a:r>
                      <a:r>
                        <a:rPr kumimoji="0" lang="en-US" sz="1600" b="1" i="0" u="none" strike="noStrike" cap="none" normalizeH="0" baseline="0" dirty="0">
                          <a:ln>
                            <a:noFill/>
                          </a:ln>
                          <a:solidFill>
                            <a:srgbClr val="000000"/>
                          </a:solidFill>
                          <a:effectLst/>
                          <a:latin typeface="Times New Roman" pitchFamily="18" charset="0"/>
                        </a:rPr>
                        <a:t>Import Duties (Trade Taxes)</a:t>
                      </a:r>
                    </a:p>
                    <a:p>
                      <a:pPr marL="684213" marR="0" lvl="1" indent="-227013" algn="l" defTabSz="914400" rtl="0" eaLnBrk="1" fontAlgn="base" latinLnBrk="0" hangingPunct="1">
                        <a:lnSpc>
                          <a:spcPct val="100000"/>
                        </a:lnSpc>
                        <a:spcBef>
                          <a:spcPct val="0"/>
                        </a:spcBef>
                        <a:spcAft>
                          <a:spcPct val="0"/>
                        </a:spcAft>
                        <a:buClrTx/>
                        <a:buSzTx/>
                        <a:buFont typeface="Courier New" pitchFamily="49" charset="0"/>
                        <a:buChar char="-"/>
                        <a:tabLst/>
                      </a:pPr>
                      <a:r>
                        <a:rPr kumimoji="0" lang="en-US" sz="1600" b="0" i="0" u="none" strike="noStrike" cap="none" normalizeH="0" baseline="0" dirty="0">
                          <a:ln>
                            <a:noFill/>
                          </a:ln>
                          <a:solidFill>
                            <a:srgbClr val="000000"/>
                          </a:solidFill>
                          <a:effectLst/>
                          <a:latin typeface="Times New Roman" pitchFamily="18" charset="0"/>
                        </a:rPr>
                        <a:t>Top Rates Lowered</a:t>
                      </a:r>
                    </a:p>
                    <a:p>
                      <a:pPr marL="684213" marR="0" lvl="1" indent="-227013" algn="l" defTabSz="914400" rtl="0" eaLnBrk="1" fontAlgn="base" latinLnBrk="0" hangingPunct="1">
                        <a:lnSpc>
                          <a:spcPct val="100000"/>
                        </a:lnSpc>
                        <a:spcBef>
                          <a:spcPct val="0"/>
                        </a:spcBef>
                        <a:spcAft>
                          <a:spcPct val="0"/>
                        </a:spcAft>
                        <a:buClrTx/>
                        <a:buSzTx/>
                        <a:buFont typeface="Courier New" pitchFamily="49" charset="0"/>
                        <a:buChar char="-"/>
                        <a:tabLst/>
                      </a:pPr>
                      <a:r>
                        <a:rPr kumimoji="0" lang="en-US" sz="1600" b="0" i="0" u="none" strike="noStrike" cap="none" normalizeH="0" baseline="0" dirty="0">
                          <a:ln>
                            <a:noFill/>
                          </a:ln>
                          <a:solidFill>
                            <a:srgbClr val="000000"/>
                          </a:solidFill>
                          <a:effectLst/>
                          <a:latin typeface="Times New Roman" pitchFamily="18" charset="0"/>
                        </a:rPr>
                        <a:t>Target of Uniform Tariff</a:t>
                      </a:r>
                    </a:p>
                    <a:p>
                      <a:pPr marL="684213" marR="0" lvl="1" indent="-227013" algn="l" defTabSz="914400" rtl="0" eaLnBrk="1" fontAlgn="base" latinLnBrk="0" hangingPunct="1">
                        <a:lnSpc>
                          <a:spcPct val="100000"/>
                        </a:lnSpc>
                        <a:spcBef>
                          <a:spcPct val="0"/>
                        </a:spcBef>
                        <a:spcAft>
                          <a:spcPct val="0"/>
                        </a:spcAft>
                        <a:buClrTx/>
                        <a:buSzTx/>
                        <a:buFont typeface="Courier New" pitchFamily="49" charset="0"/>
                        <a:buChar char="-"/>
                        <a:tabLst/>
                      </a:pPr>
                      <a:r>
                        <a:rPr kumimoji="0" lang="en-US" sz="1600" b="0" i="0" u="none" strike="noStrike" cap="none" normalizeH="0" baseline="0" dirty="0">
                          <a:ln>
                            <a:noFill/>
                          </a:ln>
                          <a:solidFill>
                            <a:srgbClr val="000000"/>
                          </a:solidFill>
                          <a:effectLst/>
                          <a:latin typeface="Times New Roman" pitchFamily="18" charset="0"/>
                        </a:rPr>
                        <a:t>Trade Liberalization</a:t>
                      </a:r>
                    </a:p>
                  </a:txBody>
                  <a:tcPr marT="45684" marB="45684"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23DBAD6B-F776-58AE-04C1-4C1BDA7EC6AE}"/>
              </a:ext>
            </a:extLst>
          </p:cNvPr>
          <p:cNvSpPr>
            <a:spLocks noGrp="1" noChangeArrowheads="1"/>
          </p:cNvSpPr>
          <p:nvPr>
            <p:ph type="title"/>
          </p:nvPr>
        </p:nvSpPr>
        <p:spPr>
          <a:xfrm>
            <a:off x="609600" y="76200"/>
            <a:ext cx="7772400" cy="762000"/>
          </a:xfrm>
        </p:spPr>
        <p:txBody>
          <a:bodyPr/>
          <a:lstStyle/>
          <a:p>
            <a:pPr eaLnBrk="1" hangingPunct="1"/>
            <a:r>
              <a:rPr lang="en-US" altLang="en-US" b="1"/>
              <a:t>Modern tax administration</a:t>
            </a:r>
          </a:p>
        </p:txBody>
      </p:sp>
      <p:sp>
        <p:nvSpPr>
          <p:cNvPr id="27651" name="Rectangle 3">
            <a:extLst>
              <a:ext uri="{FF2B5EF4-FFF2-40B4-BE49-F238E27FC236}">
                <a16:creationId xmlns:a16="http://schemas.microsoft.com/office/drawing/2014/main" id="{1EAFD63D-501E-E8C1-7E8F-4BEE624C9F26}"/>
              </a:ext>
            </a:extLst>
          </p:cNvPr>
          <p:cNvSpPr>
            <a:spLocks noGrp="1" noChangeArrowheads="1"/>
          </p:cNvSpPr>
          <p:nvPr>
            <p:ph type="body" idx="1"/>
          </p:nvPr>
        </p:nvSpPr>
        <p:spPr>
          <a:xfrm>
            <a:off x="685800" y="1066800"/>
            <a:ext cx="7772400" cy="5791200"/>
          </a:xfrm>
        </p:spPr>
        <p:txBody>
          <a:bodyPr/>
          <a:lstStyle/>
          <a:p>
            <a:pPr eaLnBrk="1" hangingPunct="1">
              <a:lnSpc>
                <a:spcPct val="90000"/>
              </a:lnSpc>
            </a:pPr>
            <a:r>
              <a:rPr lang="en-US" altLang="en-US" sz="2600"/>
              <a:t>Characterized by </a:t>
            </a:r>
          </a:p>
          <a:p>
            <a:pPr lvl="1" eaLnBrk="1" hangingPunct="1">
              <a:lnSpc>
                <a:spcPct val="90000"/>
              </a:lnSpc>
            </a:pPr>
            <a:r>
              <a:rPr lang="en-US" altLang="en-US" sz="2200"/>
              <a:t>Self-assessment </a:t>
            </a:r>
          </a:p>
          <a:p>
            <a:pPr lvl="1" eaLnBrk="1" hangingPunct="1">
              <a:lnSpc>
                <a:spcPct val="90000"/>
              </a:lnSpc>
            </a:pPr>
            <a:r>
              <a:rPr lang="en-US" altLang="en-US" sz="2200"/>
              <a:t>Electronic filing and payments</a:t>
            </a:r>
          </a:p>
          <a:p>
            <a:pPr lvl="1" eaLnBrk="1" hangingPunct="1">
              <a:lnSpc>
                <a:spcPct val="90000"/>
              </a:lnSpc>
            </a:pPr>
            <a:r>
              <a:rPr lang="en-US" altLang="en-US" sz="2200"/>
              <a:t>Computerization and Cross checking of taxpayer information </a:t>
            </a:r>
          </a:p>
          <a:p>
            <a:pPr lvl="1" eaLnBrk="1" hangingPunct="1">
              <a:lnSpc>
                <a:spcPct val="90000"/>
              </a:lnSpc>
            </a:pPr>
            <a:r>
              <a:rPr lang="en-US" altLang="en-US" sz="2200"/>
              <a:t>Selective audit</a:t>
            </a:r>
          </a:p>
          <a:p>
            <a:pPr lvl="1" eaLnBrk="1" hangingPunct="1">
              <a:lnSpc>
                <a:spcPct val="90000"/>
              </a:lnSpc>
            </a:pPr>
            <a:r>
              <a:rPr lang="en-US" altLang="en-US" sz="2200"/>
              <a:t>Functional administration, not by taxes but by functions</a:t>
            </a:r>
          </a:p>
          <a:p>
            <a:pPr eaLnBrk="1" hangingPunct="1">
              <a:lnSpc>
                <a:spcPct val="90000"/>
              </a:lnSpc>
            </a:pPr>
            <a:r>
              <a:rPr lang="en-US" altLang="en-US" sz="2600"/>
              <a:t>Requires</a:t>
            </a:r>
          </a:p>
          <a:p>
            <a:pPr lvl="1" eaLnBrk="1" hangingPunct="1">
              <a:lnSpc>
                <a:spcPct val="90000"/>
              </a:lnSpc>
            </a:pPr>
            <a:r>
              <a:rPr lang="en-US" altLang="en-US" sz="2200"/>
              <a:t>Clear laws, regulations, forms, etc.</a:t>
            </a:r>
          </a:p>
          <a:p>
            <a:pPr lvl="1" eaLnBrk="1" hangingPunct="1">
              <a:lnSpc>
                <a:spcPct val="90000"/>
              </a:lnSpc>
            </a:pPr>
            <a:r>
              <a:rPr lang="en-US" altLang="en-US" sz="2200"/>
              <a:t>Taxpayer information and education </a:t>
            </a:r>
          </a:p>
          <a:p>
            <a:pPr lvl="1" eaLnBrk="1" hangingPunct="1">
              <a:lnSpc>
                <a:spcPct val="90000"/>
              </a:lnSpc>
            </a:pPr>
            <a:r>
              <a:rPr lang="en-US" altLang="en-US" sz="2200"/>
              <a:t>Taxpayer services</a:t>
            </a:r>
          </a:p>
          <a:p>
            <a:pPr lvl="2" eaLnBrk="1" hangingPunct="1">
              <a:lnSpc>
                <a:spcPct val="90000"/>
              </a:lnSpc>
            </a:pPr>
            <a:r>
              <a:rPr lang="en-US" altLang="en-US" sz="2000"/>
              <a:t>Tax administration aims to lower costs of compliance</a:t>
            </a:r>
          </a:p>
          <a:p>
            <a:pPr eaLnBrk="1" hangingPunct="1">
              <a:lnSpc>
                <a:spcPct val="90000"/>
              </a:lnSpc>
            </a:pPr>
            <a:r>
              <a:rPr lang="en-US" altLang="en-US" sz="2600"/>
              <a:t>Structural requirements</a:t>
            </a:r>
          </a:p>
          <a:p>
            <a:pPr lvl="1" eaLnBrk="1" hangingPunct="1">
              <a:lnSpc>
                <a:spcPct val="90000"/>
              </a:lnSpc>
            </a:pPr>
            <a:r>
              <a:rPr lang="en-US" altLang="en-US" sz="2200"/>
              <a:t>Formal/modern sector </a:t>
            </a:r>
          </a:p>
          <a:p>
            <a:pPr lvl="1" eaLnBrk="1" hangingPunct="1">
              <a:lnSpc>
                <a:spcPct val="90000"/>
              </a:lnSpc>
            </a:pPr>
            <a:r>
              <a:rPr lang="en-US" altLang="en-US" sz="2200"/>
              <a:t>Accounting standards and practices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34EA46E2-9930-32EB-70D9-90179E854A05}"/>
              </a:ext>
            </a:extLst>
          </p:cNvPr>
          <p:cNvSpPr>
            <a:spLocks noGrp="1" noChangeArrowheads="1"/>
          </p:cNvSpPr>
          <p:nvPr>
            <p:ph type="title"/>
          </p:nvPr>
        </p:nvSpPr>
        <p:spPr>
          <a:xfrm>
            <a:off x="685800" y="152400"/>
            <a:ext cx="7772400" cy="838200"/>
          </a:xfrm>
        </p:spPr>
        <p:txBody>
          <a:bodyPr/>
          <a:lstStyle/>
          <a:p>
            <a:pPr eaLnBrk="1" hangingPunct="1"/>
            <a:r>
              <a:rPr lang="en-US" altLang="en-US" sz="4000" b="1"/>
              <a:t>Modern tax administration </a:t>
            </a:r>
            <a:r>
              <a:rPr lang="en-US" altLang="en-US" sz="3200"/>
              <a:t>(</a:t>
            </a:r>
            <a:r>
              <a:rPr lang="en-US" altLang="en-US" sz="3200" i="1"/>
              <a:t>contd</a:t>
            </a:r>
            <a:r>
              <a:rPr lang="en-US" altLang="en-US" sz="3200"/>
              <a:t>)</a:t>
            </a:r>
          </a:p>
        </p:txBody>
      </p:sp>
      <p:sp>
        <p:nvSpPr>
          <p:cNvPr id="28675" name="Rectangle 3">
            <a:extLst>
              <a:ext uri="{FF2B5EF4-FFF2-40B4-BE49-F238E27FC236}">
                <a16:creationId xmlns:a16="http://schemas.microsoft.com/office/drawing/2014/main" id="{DA15F835-5B36-E7C4-888B-B3BC9D655914}"/>
              </a:ext>
            </a:extLst>
          </p:cNvPr>
          <p:cNvSpPr>
            <a:spLocks noGrp="1" noChangeArrowheads="1"/>
          </p:cNvSpPr>
          <p:nvPr>
            <p:ph type="body" idx="1"/>
          </p:nvPr>
        </p:nvSpPr>
        <p:spPr>
          <a:xfrm>
            <a:off x="228600" y="1219200"/>
            <a:ext cx="8610600" cy="5257800"/>
          </a:xfrm>
        </p:spPr>
        <p:txBody>
          <a:bodyPr/>
          <a:lstStyle/>
          <a:p>
            <a:pPr eaLnBrk="1" hangingPunct="1">
              <a:lnSpc>
                <a:spcPct val="90000"/>
              </a:lnSpc>
            </a:pPr>
            <a:r>
              <a:rPr lang="en-US" altLang="en-US" sz="2800"/>
              <a:t>Tax compliance costs (mainly time costs) usually exceed tax administration costs</a:t>
            </a:r>
          </a:p>
          <a:p>
            <a:pPr eaLnBrk="1" hangingPunct="1">
              <a:lnSpc>
                <a:spcPct val="90000"/>
              </a:lnSpc>
            </a:pPr>
            <a:r>
              <a:rPr lang="en-US" altLang="en-US" sz="2800">
                <a:solidFill>
                  <a:srgbClr val="FF0000"/>
                </a:solidFill>
              </a:rPr>
              <a:t>Tax administration costs usually range from about 0.5% to 3% of revenues collected around the world.</a:t>
            </a:r>
          </a:p>
          <a:p>
            <a:pPr lvl="1" eaLnBrk="1" hangingPunct="1">
              <a:lnSpc>
                <a:spcPct val="90000"/>
              </a:lnSpc>
            </a:pPr>
            <a:r>
              <a:rPr lang="en-US" altLang="en-US" sz="2400"/>
              <a:t>Depend upon tax rate, base type and size, efficiency of organization</a:t>
            </a:r>
          </a:p>
          <a:p>
            <a:pPr eaLnBrk="1" hangingPunct="1">
              <a:lnSpc>
                <a:spcPct val="90000"/>
              </a:lnSpc>
            </a:pPr>
            <a:r>
              <a:rPr lang="en-US" altLang="en-US" sz="2800">
                <a:solidFill>
                  <a:srgbClr val="FF0000"/>
                </a:solidFill>
              </a:rPr>
              <a:t>Tax compliance costs often in range of 5% to 20%</a:t>
            </a:r>
          </a:p>
          <a:p>
            <a:pPr lvl="1" eaLnBrk="1" hangingPunct="1">
              <a:lnSpc>
                <a:spcPct val="90000"/>
              </a:lnSpc>
            </a:pPr>
            <a:r>
              <a:rPr lang="en-US" altLang="en-US" sz="2400"/>
              <a:t>Depend upon type of tax, size of taxpayer, tax rate, etc.</a:t>
            </a:r>
          </a:p>
          <a:p>
            <a:pPr eaLnBrk="1" hangingPunct="1">
              <a:lnSpc>
                <a:spcPct val="90000"/>
              </a:lnSpc>
            </a:pPr>
            <a:r>
              <a:rPr lang="en-US" altLang="en-US" sz="2800"/>
              <a:t>Total cost to economy equals costs of administration plus compliance plus cost of economic inefficiency</a:t>
            </a:r>
          </a:p>
          <a:p>
            <a:pPr eaLnBrk="1" hangingPunct="1">
              <a:lnSpc>
                <a:spcPct val="90000"/>
              </a:lnSpc>
            </a:pPr>
            <a:r>
              <a:rPr lang="en-US" altLang="en-US" sz="2800">
                <a:solidFill>
                  <a:srgbClr val="FF0000"/>
                </a:solidFill>
              </a:rPr>
              <a:t>Cost reductions can be achieved by tax administration targeting at lowering of compliance costs (information, education, service, internet access, etc.)</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B7852583-6215-4170-A708-32340E8F87EA}"/>
              </a:ext>
            </a:extLst>
          </p:cNvPr>
          <p:cNvSpPr>
            <a:spLocks noGrp="1" noChangeArrowheads="1"/>
          </p:cNvSpPr>
          <p:nvPr>
            <p:ph type="title"/>
          </p:nvPr>
        </p:nvSpPr>
        <p:spPr>
          <a:xfrm>
            <a:off x="609600" y="0"/>
            <a:ext cx="7772400" cy="1143000"/>
          </a:xfrm>
          <a:noFill/>
        </p:spPr>
        <p:txBody>
          <a:bodyPr/>
          <a:lstStyle/>
          <a:p>
            <a:pPr eaLnBrk="1" hangingPunct="1"/>
            <a:r>
              <a:rPr lang="en-US" altLang="en-US" sz="3600" b="1"/>
              <a:t>Main Trends in Tax Administration Reform</a:t>
            </a:r>
          </a:p>
        </p:txBody>
      </p:sp>
      <p:sp>
        <p:nvSpPr>
          <p:cNvPr id="29699" name="Rectangle 3">
            <a:extLst>
              <a:ext uri="{FF2B5EF4-FFF2-40B4-BE49-F238E27FC236}">
                <a16:creationId xmlns:a16="http://schemas.microsoft.com/office/drawing/2014/main" id="{93A898D9-D47D-DF64-6808-0CA6EC228709}"/>
              </a:ext>
            </a:extLst>
          </p:cNvPr>
          <p:cNvSpPr>
            <a:spLocks noGrp="1" noChangeArrowheads="1"/>
          </p:cNvSpPr>
          <p:nvPr>
            <p:ph type="body" idx="1"/>
          </p:nvPr>
        </p:nvSpPr>
        <p:spPr>
          <a:xfrm>
            <a:off x="609600" y="1295400"/>
            <a:ext cx="8077200" cy="5334000"/>
          </a:xfrm>
        </p:spPr>
        <p:txBody>
          <a:bodyPr/>
          <a:lstStyle/>
          <a:p>
            <a:pPr marL="514350" indent="-514350" eaLnBrk="1" hangingPunct="1">
              <a:lnSpc>
                <a:spcPct val="90000"/>
              </a:lnSpc>
              <a:buFontTx/>
              <a:buAutoNum type="arabicPeriod"/>
            </a:pPr>
            <a:r>
              <a:rPr lang="en-US" altLang="en-US" sz="2400"/>
              <a:t>Development of self assessment</a:t>
            </a:r>
          </a:p>
          <a:p>
            <a:pPr marL="1390650" lvl="1" indent="-533400" eaLnBrk="1" hangingPunct="1">
              <a:lnSpc>
                <a:spcPct val="90000"/>
              </a:lnSpc>
              <a:buFontTx/>
              <a:buNone/>
            </a:pPr>
            <a:r>
              <a:rPr lang="en-US" altLang="en-US" sz="2000" b="1"/>
              <a:t>O</a:t>
            </a:r>
            <a:r>
              <a:rPr lang="en-US" altLang="en-US" sz="2000"/>
              <a:t>	Risk assessment and selective audit</a:t>
            </a:r>
          </a:p>
          <a:p>
            <a:pPr marL="1390650" lvl="1" indent="-533400" eaLnBrk="1" hangingPunct="1">
              <a:lnSpc>
                <a:spcPct val="90000"/>
              </a:lnSpc>
              <a:buFontTx/>
              <a:buNone/>
            </a:pPr>
            <a:r>
              <a:rPr lang="en-US" altLang="en-US" sz="2000" b="1"/>
              <a:t>O	</a:t>
            </a:r>
            <a:r>
              <a:rPr lang="en-US" altLang="en-US" sz="2000"/>
              <a:t>Taxpayer education and service to lower compliance costs</a:t>
            </a:r>
          </a:p>
          <a:p>
            <a:pPr marL="514350" indent="-514350" eaLnBrk="1" hangingPunct="1">
              <a:lnSpc>
                <a:spcPct val="90000"/>
              </a:lnSpc>
              <a:buFontTx/>
              <a:buAutoNum type="arabicPeriod"/>
            </a:pPr>
            <a:r>
              <a:rPr lang="en-US" altLang="en-US" sz="2400"/>
              <a:t>Integration of direct and indirect tax administration – functional versus tax type administration</a:t>
            </a:r>
          </a:p>
          <a:p>
            <a:pPr marL="1390650" lvl="1" indent="-533400" eaLnBrk="1" hangingPunct="1">
              <a:lnSpc>
                <a:spcPct val="90000"/>
              </a:lnSpc>
              <a:buFontTx/>
              <a:buNone/>
            </a:pPr>
            <a:r>
              <a:rPr lang="en-US" altLang="en-US" sz="2000" b="1"/>
              <a:t>O</a:t>
            </a:r>
            <a:r>
              <a:rPr lang="en-US" altLang="en-US" sz="2000"/>
              <a:t>	Functional administration means that each administrative function – assessment, audit, collection, etc. is administered across all domestic tax types </a:t>
            </a:r>
          </a:p>
          <a:p>
            <a:pPr marL="514350" indent="-514350" eaLnBrk="1" hangingPunct="1">
              <a:lnSpc>
                <a:spcPct val="90000"/>
              </a:lnSpc>
              <a:buFontTx/>
              <a:buAutoNum type="arabicPeriod"/>
            </a:pPr>
            <a:r>
              <a:rPr lang="en-US" altLang="en-US" sz="2400"/>
              <a:t>Unified tax administration law – one law for all domestic tax types</a:t>
            </a:r>
          </a:p>
          <a:p>
            <a:pPr marL="514350" indent="-514350" eaLnBrk="1" hangingPunct="1">
              <a:lnSpc>
                <a:spcPct val="90000"/>
              </a:lnSpc>
              <a:buFontTx/>
              <a:buAutoNum type="arabicPeriod"/>
            </a:pPr>
            <a:r>
              <a:rPr lang="en-US" altLang="en-US" sz="2400"/>
              <a:t>Corporatization – establishing revenue authorities</a:t>
            </a:r>
          </a:p>
          <a:p>
            <a:pPr marL="514350" indent="-514350" eaLnBrk="1" hangingPunct="1">
              <a:lnSpc>
                <a:spcPct val="90000"/>
              </a:lnSpc>
              <a:buFontTx/>
              <a:buAutoNum type="arabicPeriod"/>
            </a:pPr>
            <a:r>
              <a:rPr lang="en-US" altLang="en-US" sz="2400"/>
              <a:t>Introduction of taxpayer segmentation, beginning with establishment of large taxpayer units (LTUs requires functional organization) to service clients</a:t>
            </a:r>
          </a:p>
          <a:p>
            <a:pPr marL="514350" indent="-514350" eaLnBrk="1" hangingPunct="1">
              <a:lnSpc>
                <a:spcPct val="90000"/>
              </a:lnSpc>
              <a:buFontTx/>
              <a:buAutoNum type="arabicPeriod"/>
            </a:pPr>
            <a:r>
              <a:rPr lang="en-US" altLang="en-US" sz="2400"/>
              <a:t>E-government</a:t>
            </a:r>
          </a:p>
          <a:p>
            <a:pPr marL="514350" indent="-514350" eaLnBrk="1" hangingPunct="1">
              <a:lnSpc>
                <a:spcPct val="90000"/>
              </a:lnSpc>
            </a:pPr>
            <a:endParaRPr lang="en-US" altLang="en-US" sz="2400"/>
          </a:p>
        </p:txBody>
      </p:sp>
    </p:spTree>
  </p:cSld>
  <p:clrMapOvr>
    <a:masterClrMapping/>
  </p:clrMapOvr>
  <p:transition>
    <p:wipe dir="u"/>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53207423-2B67-4B70-9470-8E94D477FA16}"/>
              </a:ext>
            </a:extLst>
          </p:cNvPr>
          <p:cNvSpPr>
            <a:spLocks noGrp="1" noChangeArrowheads="1"/>
          </p:cNvSpPr>
          <p:nvPr>
            <p:ph type="title"/>
          </p:nvPr>
        </p:nvSpPr>
        <p:spPr>
          <a:xfrm>
            <a:off x="685800" y="0"/>
            <a:ext cx="7772400" cy="838200"/>
          </a:xfrm>
        </p:spPr>
        <p:txBody>
          <a:bodyPr/>
          <a:lstStyle/>
          <a:p>
            <a:pPr eaLnBrk="1" hangingPunct="1"/>
            <a:r>
              <a:rPr lang="en-US" altLang="en-US" sz="3600" b="1" dirty="0"/>
              <a:t>Principles of Taxation</a:t>
            </a:r>
          </a:p>
        </p:txBody>
      </p:sp>
      <p:sp>
        <p:nvSpPr>
          <p:cNvPr id="6147" name="Rectangle 3">
            <a:extLst>
              <a:ext uri="{FF2B5EF4-FFF2-40B4-BE49-F238E27FC236}">
                <a16:creationId xmlns:a16="http://schemas.microsoft.com/office/drawing/2014/main" id="{06CD7957-422E-5047-6BB8-B657CD3414A6}"/>
              </a:ext>
            </a:extLst>
          </p:cNvPr>
          <p:cNvSpPr>
            <a:spLocks noGrp="1" noChangeArrowheads="1"/>
          </p:cNvSpPr>
          <p:nvPr>
            <p:ph type="body" idx="1"/>
          </p:nvPr>
        </p:nvSpPr>
        <p:spPr>
          <a:xfrm>
            <a:off x="685800" y="838200"/>
            <a:ext cx="7772400" cy="5486400"/>
          </a:xfrm>
        </p:spPr>
        <p:txBody>
          <a:bodyPr/>
          <a:lstStyle/>
          <a:p>
            <a:pPr eaLnBrk="1" hangingPunct="1"/>
            <a:r>
              <a:rPr lang="en-US" altLang="en-US" sz="2600" dirty="0"/>
              <a:t>Why the new emphasis globally on Domestic Revenue Mobilization (DRM)?  </a:t>
            </a:r>
          </a:p>
          <a:p>
            <a:pPr eaLnBrk="1" hangingPunct="1"/>
            <a:r>
              <a:rPr lang="en-US" altLang="en-US" sz="2600" dirty="0"/>
              <a:t>Is tax the only reliable and effective source of raising revenues in the long-run?</a:t>
            </a:r>
          </a:p>
          <a:p>
            <a:pPr eaLnBrk="1" hangingPunct="1"/>
            <a:r>
              <a:rPr lang="en-US" altLang="en-US" sz="2600" dirty="0"/>
              <a:t>Principles of a good tax system: equity, economic efficiency, technical efficiency, revenue stability and tax neutrality.</a:t>
            </a:r>
          </a:p>
          <a:p>
            <a:pPr eaLnBrk="1" hangingPunct="1"/>
            <a:r>
              <a:rPr lang="en-US" altLang="en-US" sz="2600" dirty="0"/>
              <a:t>Tax reform: Tax policy and tax administration</a:t>
            </a:r>
          </a:p>
          <a:p>
            <a:pPr eaLnBrk="1" hangingPunct="1"/>
            <a:r>
              <a:rPr lang="en-US" altLang="en-US" sz="2600" dirty="0"/>
              <a:t>Tax capacity and tax effort</a:t>
            </a:r>
          </a:p>
          <a:p>
            <a:pPr eaLnBrk="1" hangingPunct="1"/>
            <a:r>
              <a:rPr lang="en-US" altLang="en-US" sz="2600" dirty="0"/>
              <a:t>Tax buoyancy, elasticity and revenue forecasting </a:t>
            </a:r>
          </a:p>
          <a:p>
            <a:pPr eaLnBrk="1" hangingPunct="1"/>
            <a:endParaRPr lang="en-US" altLang="en-US" dirty="0"/>
          </a:p>
        </p:txBody>
      </p:sp>
    </p:spTree>
    <p:extLst>
      <p:ext uri="{BB962C8B-B14F-4D97-AF65-F5344CB8AC3E}">
        <p14:creationId xmlns:p14="http://schemas.microsoft.com/office/powerpoint/2010/main" val="3510325953"/>
      </p:ext>
    </p:extLst>
  </p:cSld>
  <p:clrMapOvr>
    <a:masterClrMapping/>
  </p:clrMapOvr>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12673</TotalTime>
  <Words>4951</Words>
  <Application>Microsoft Office PowerPoint</Application>
  <PresentationFormat>On-screen Show (4:3)</PresentationFormat>
  <Paragraphs>478</Paragraphs>
  <Slides>44</Slides>
  <Notes>10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44</vt:i4>
      </vt:variant>
    </vt:vector>
  </HeadingPairs>
  <TitlesOfParts>
    <vt:vector size="50" baseType="lpstr">
      <vt:lpstr>Arial</vt:lpstr>
      <vt:lpstr>Courier New</vt:lpstr>
      <vt:lpstr>Times New Roman</vt:lpstr>
      <vt:lpstr>Wingdings</vt:lpstr>
      <vt:lpstr>Default Design</vt:lpstr>
      <vt:lpstr>Document</vt:lpstr>
      <vt:lpstr>Principles of Taxation</vt:lpstr>
      <vt:lpstr>What are the goals of Tax Policy?</vt:lpstr>
      <vt:lpstr>Tax Policy Performance w.r.t spending - Revenue vs Fiscal Balance</vt:lpstr>
      <vt:lpstr>Tax Policy Performance w.r.t spending  - Revenue versus Debt</vt:lpstr>
      <vt:lpstr>Principles of financing public sector and Sources of revenue Taxation, User Charges and Donations/ Community financing </vt:lpstr>
      <vt:lpstr>Principles of financing public expenditures(1)</vt:lpstr>
      <vt:lpstr>Principles of financing public expenditures (2)</vt:lpstr>
      <vt:lpstr>Types of revenues</vt:lpstr>
      <vt:lpstr>Types of taxes</vt:lpstr>
      <vt:lpstr>Tax versus price or user charge for supply of goods or services</vt:lpstr>
      <vt:lpstr>Taxes vs User Charges</vt:lpstr>
      <vt:lpstr>Principles of Taxation: Evaluating a Tax</vt:lpstr>
      <vt:lpstr>Estimating the Revenue Impact of policy Options?</vt:lpstr>
      <vt:lpstr>What can we Tax, How and Why?</vt:lpstr>
      <vt:lpstr>Principles of Taxation: Evaluating a Tax</vt:lpstr>
      <vt:lpstr>Recent Trend in Total Revenues by Income  </vt:lpstr>
      <vt:lpstr>Evaluating Tax Policy: More in-depth</vt:lpstr>
      <vt:lpstr>Macro or GDP-based model</vt:lpstr>
      <vt:lpstr>Micro-simulation model</vt:lpstr>
      <vt:lpstr>US Treasury Department Microsimulation Model estimates of Tax Reform Proposals</vt:lpstr>
      <vt:lpstr>Growth and taxation</vt:lpstr>
      <vt:lpstr>Globalization and taxation</vt:lpstr>
      <vt:lpstr>Topics in Tax Policy</vt:lpstr>
      <vt:lpstr>Foreign aid</vt:lpstr>
      <vt:lpstr>How Taxation helps Government Fulfill its Agenda?</vt:lpstr>
      <vt:lpstr>Progress with DRM in Low and Middle Income Countries (LICs and MICs)</vt:lpstr>
      <vt:lpstr>New Emphasis on Domestic Revenue Mobilization (DRM)</vt:lpstr>
      <vt:lpstr>Recent Emphasis on DRM (Contd.)</vt:lpstr>
      <vt:lpstr>Domestic Resources and Development: Centrality of Taxation</vt:lpstr>
      <vt:lpstr>Reasons for Low Domestic Revenues or a ‘Tax Gap’ in Developing Countries?</vt:lpstr>
      <vt:lpstr>ABILITY TO PAY AND BENEFIT PRINCIPLES IN TAXATION  </vt:lpstr>
      <vt:lpstr>PRINCIPLES OF TAXATION (2)</vt:lpstr>
      <vt:lpstr>PRINCIPLES OF TAXATION (3)</vt:lpstr>
      <vt:lpstr>PRINCIPLES OF TAXATION (4)</vt:lpstr>
      <vt:lpstr>PRINCIPLES OF TAXATION (5)</vt:lpstr>
      <vt:lpstr>PRINCIPLES OF TAXATION (6)</vt:lpstr>
      <vt:lpstr>Principles of Taxation (7) </vt:lpstr>
      <vt:lpstr>Tax Reforms – Types of Reform</vt:lpstr>
      <vt:lpstr>Tax Policy Component (contd.)</vt:lpstr>
      <vt:lpstr>PowerPoint Presentation</vt:lpstr>
      <vt:lpstr>Modern tax administration</vt:lpstr>
      <vt:lpstr>Modern tax administration (contd)</vt:lpstr>
      <vt:lpstr>Main Trends in Tax Administration Reform</vt:lpstr>
      <vt:lpstr>Principles of Taxation</vt:lpstr>
    </vt:vector>
  </TitlesOfParts>
  <Company>DUKE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LOCAL TAXES  in context of  FISCAL DECENTRALIZATION</dc:title>
  <dc:creator>Unknown User</dc:creator>
  <cp:lastModifiedBy>Sebastian Family</cp:lastModifiedBy>
  <cp:revision>194</cp:revision>
  <cp:lastPrinted>2014-10-06T16:08:38Z</cp:lastPrinted>
  <dcterms:created xsi:type="dcterms:W3CDTF">2002-07-09T16:16:20Z</dcterms:created>
  <dcterms:modified xsi:type="dcterms:W3CDTF">2026-04-26T03:50:21Z</dcterms:modified>
</cp:coreProperties>
</file>