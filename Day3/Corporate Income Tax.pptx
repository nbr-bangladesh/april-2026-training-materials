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376" r:id="rId2"/>
    <p:sldId id="318" r:id="rId3"/>
    <p:sldId id="261" r:id="rId4"/>
    <p:sldId id="319" r:id="rId5"/>
    <p:sldId id="257" r:id="rId6"/>
    <p:sldId id="320" r:id="rId7"/>
    <p:sldId id="321" r:id="rId8"/>
    <p:sldId id="322" r:id="rId9"/>
    <p:sldId id="303" r:id="rId10"/>
    <p:sldId id="348" r:id="rId11"/>
    <p:sldId id="357" r:id="rId12"/>
    <p:sldId id="362" r:id="rId13"/>
    <p:sldId id="358" r:id="rId14"/>
    <p:sldId id="359" r:id="rId15"/>
    <p:sldId id="363" r:id="rId16"/>
    <p:sldId id="365" r:id="rId17"/>
    <p:sldId id="366" r:id="rId18"/>
    <p:sldId id="368" r:id="rId19"/>
    <p:sldId id="367" r:id="rId20"/>
    <p:sldId id="370" r:id="rId21"/>
    <p:sldId id="371" r:id="rId22"/>
    <p:sldId id="349" r:id="rId23"/>
    <p:sldId id="350" r:id="rId24"/>
    <p:sldId id="360" r:id="rId25"/>
    <p:sldId id="372" r:id="rId26"/>
    <p:sldId id="301" r:id="rId27"/>
    <p:sldId id="373" r:id="rId28"/>
    <p:sldId id="256" r:id="rId29"/>
    <p:sldId id="258" r:id="rId30"/>
    <p:sldId id="259" r:id="rId31"/>
    <p:sldId id="260" r:id="rId32"/>
    <p:sldId id="262" r:id="rId33"/>
    <p:sldId id="264" r:id="rId34"/>
    <p:sldId id="291" r:id="rId35"/>
    <p:sldId id="265" r:id="rId36"/>
    <p:sldId id="266" r:id="rId37"/>
    <p:sldId id="292" r:id="rId38"/>
    <p:sldId id="267" r:id="rId39"/>
    <p:sldId id="268" r:id="rId40"/>
    <p:sldId id="269" r:id="rId41"/>
    <p:sldId id="288" r:id="rId42"/>
    <p:sldId id="271" r:id="rId43"/>
    <p:sldId id="272" r:id="rId44"/>
    <p:sldId id="273" r:id="rId45"/>
    <p:sldId id="274" r:id="rId46"/>
    <p:sldId id="299" r:id="rId47"/>
    <p:sldId id="314" r:id="rId48"/>
    <p:sldId id="316" r:id="rId49"/>
    <p:sldId id="374" r:id="rId50"/>
    <p:sldId id="375" r:id="rId51"/>
    <p:sldId id="308" r:id="rId52"/>
    <p:sldId id="309" r:id="rId53"/>
    <p:sldId id="310" r:id="rId54"/>
    <p:sldId id="311" r:id="rId55"/>
  </p:sldIdLst>
  <p:sldSz cx="9144000" cy="6858000" type="screen4x3"/>
  <p:notesSz cx="6858000" cy="9144000"/>
  <p:defaultTextStyle>
    <a:defPPr>
      <a:defRPr lang="en-US"/>
    </a:defPPr>
    <a:lvl1pPr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600" kern="1200">
        <a:solidFill>
          <a:schemeClr val="tx1"/>
        </a:solidFill>
        <a:latin typeface="Times New Roman" panose="02020603050405020304" pitchFamily="18" charset="0"/>
        <a:ea typeface="+mn-ea"/>
        <a:cs typeface="+mn-cs"/>
      </a:defRPr>
    </a:lvl5pPr>
    <a:lvl6pPr marL="2286000" algn="l" defTabSz="914400" rtl="0" eaLnBrk="1" latinLnBrk="0" hangingPunct="1">
      <a:defRPr sz="2600" kern="1200">
        <a:solidFill>
          <a:schemeClr val="tx1"/>
        </a:solidFill>
        <a:latin typeface="Times New Roman" panose="02020603050405020304" pitchFamily="18" charset="0"/>
        <a:ea typeface="+mn-ea"/>
        <a:cs typeface="+mn-cs"/>
      </a:defRPr>
    </a:lvl6pPr>
    <a:lvl7pPr marL="2743200" algn="l" defTabSz="914400" rtl="0" eaLnBrk="1" latinLnBrk="0" hangingPunct="1">
      <a:defRPr sz="2600" kern="1200">
        <a:solidFill>
          <a:schemeClr val="tx1"/>
        </a:solidFill>
        <a:latin typeface="Times New Roman" panose="02020603050405020304" pitchFamily="18" charset="0"/>
        <a:ea typeface="+mn-ea"/>
        <a:cs typeface="+mn-cs"/>
      </a:defRPr>
    </a:lvl7pPr>
    <a:lvl8pPr marL="3200400" algn="l" defTabSz="914400" rtl="0" eaLnBrk="1" latinLnBrk="0" hangingPunct="1">
      <a:defRPr sz="2600" kern="1200">
        <a:solidFill>
          <a:schemeClr val="tx1"/>
        </a:solidFill>
        <a:latin typeface="Times New Roman" panose="02020603050405020304" pitchFamily="18" charset="0"/>
        <a:ea typeface="+mn-ea"/>
        <a:cs typeface="+mn-cs"/>
      </a:defRPr>
    </a:lvl8pPr>
    <a:lvl9pPr marL="3657600" algn="l" defTabSz="914400" rtl="0" eaLnBrk="1" latinLnBrk="0" hangingPunct="1">
      <a:defRPr sz="26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56" d="100"/>
          <a:sy n="56" d="100"/>
        </p:scale>
        <p:origin x="852" y="2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Family" userId="239b08a12419b333" providerId="LiveId" clId="{BC9226FD-542E-4F23-A6B0-432EEAD6C328}"/>
    <pc:docChg chg="addSld delSld modSld">
      <pc:chgData name="Sebastian Family" userId="239b08a12419b333" providerId="LiveId" clId="{BC9226FD-542E-4F23-A6B0-432EEAD6C328}" dt="2026-04-28T07:33:32.383" v="47" actId="47"/>
      <pc:docMkLst>
        <pc:docMk/>
      </pc:docMkLst>
      <pc:sldChg chg="del">
        <pc:chgData name="Sebastian Family" userId="239b08a12419b333" providerId="LiveId" clId="{BC9226FD-542E-4F23-A6B0-432EEAD6C328}" dt="2026-04-28T07:33:32.383" v="47" actId="47"/>
        <pc:sldMkLst>
          <pc:docMk/>
          <pc:sldMk cId="0" sldId="313"/>
        </pc:sldMkLst>
      </pc:sldChg>
      <pc:sldChg chg="modSp new mod">
        <pc:chgData name="Sebastian Family" userId="239b08a12419b333" providerId="LiveId" clId="{BC9226FD-542E-4F23-A6B0-432EEAD6C328}" dt="2026-04-28T07:33:12.756" v="46" actId="20577"/>
        <pc:sldMkLst>
          <pc:docMk/>
          <pc:sldMk cId="2871906519" sldId="376"/>
        </pc:sldMkLst>
        <pc:spChg chg="mod">
          <ac:chgData name="Sebastian Family" userId="239b08a12419b333" providerId="LiveId" clId="{BC9226FD-542E-4F23-A6B0-432EEAD6C328}" dt="2026-04-28T07:33:04.041" v="20" actId="20577"/>
          <ac:spMkLst>
            <pc:docMk/>
            <pc:sldMk cId="2871906519" sldId="376"/>
            <ac:spMk id="2" creationId="{23D87F04-CD01-5DDD-8006-E38C161F3CC6}"/>
          </ac:spMkLst>
        </pc:spChg>
        <pc:spChg chg="mod">
          <ac:chgData name="Sebastian Family" userId="239b08a12419b333" providerId="LiveId" clId="{BC9226FD-542E-4F23-A6B0-432EEAD6C328}" dt="2026-04-28T07:33:12.756" v="46" actId="20577"/>
          <ac:spMkLst>
            <pc:docMk/>
            <pc:sldMk cId="2871906519" sldId="376"/>
            <ac:spMk id="3" creationId="{85118466-3873-C905-87F5-3F7F1557050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239b08a12419b333/Duke/Public%20Finance/Corporate%20Tax%20Rates%202003-202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solidFill>
                <a:latin typeface="+mn-lt"/>
                <a:ea typeface="+mn-ea"/>
                <a:cs typeface="+mn-cs"/>
              </a:defRPr>
            </a:pPr>
            <a:r>
              <a:rPr lang="en-US">
                <a:solidFill>
                  <a:schemeClr val="tx1"/>
                </a:solidFill>
              </a:rPr>
              <a:t>Average Corporate Tax Rates by Income Group</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Sheet1!$A$2</c:f>
              <c:strCache>
                <c:ptCount val="1"/>
                <c:pt idx="0">
                  <c:v>High Income</c:v>
                </c:pt>
              </c:strCache>
            </c:strRef>
          </c:tx>
          <c:spPr>
            <a:ln w="34925" cap="rnd">
              <a:solidFill>
                <a:schemeClr val="accent1"/>
              </a:solidFill>
              <a:round/>
            </a:ln>
            <a:effectLst>
              <a:outerShdw blurRad="40000" dist="23000" dir="5400000" rotWithShape="0">
                <a:srgbClr val="000000">
                  <a:alpha val="35000"/>
                </a:srgbClr>
              </a:outerShdw>
            </a:effectLst>
          </c:spPr>
          <c:marker>
            <c:symbol val="none"/>
          </c:marker>
          <c:cat>
            <c:strRef>
              <c:f>Sheet1!$B$1:$T$1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Sheet1!$B$2:$T$2</c:f>
              <c:numCache>
                <c:formatCode>0.00</c:formatCode>
                <c:ptCount val="19"/>
                <c:pt idx="0">
                  <c:v>28.03734693877551</c:v>
                </c:pt>
                <c:pt idx="1">
                  <c:v>27.166122448979589</c:v>
                </c:pt>
                <c:pt idx="2">
                  <c:v>26.620799999999999</c:v>
                </c:pt>
                <c:pt idx="3">
                  <c:v>26.064599999999999</c:v>
                </c:pt>
                <c:pt idx="4">
                  <c:v>25.489599999999999</c:v>
                </c:pt>
                <c:pt idx="5">
                  <c:v>24.645</c:v>
                </c:pt>
                <c:pt idx="6">
                  <c:v>23.708000000000002</c:v>
                </c:pt>
                <c:pt idx="7">
                  <c:v>23.194098039215689</c:v>
                </c:pt>
                <c:pt idx="8">
                  <c:v>22.680196078431372</c:v>
                </c:pt>
                <c:pt idx="9">
                  <c:v>22.559038461538464</c:v>
                </c:pt>
                <c:pt idx="10">
                  <c:v>22.715576923076924</c:v>
                </c:pt>
                <c:pt idx="11">
                  <c:v>22.495769230769231</c:v>
                </c:pt>
                <c:pt idx="12">
                  <c:v>22.348846153846157</c:v>
                </c:pt>
                <c:pt idx="13">
                  <c:v>22.433529411764709</c:v>
                </c:pt>
                <c:pt idx="14">
                  <c:v>22.024000000000004</c:v>
                </c:pt>
                <c:pt idx="15">
                  <c:v>21.852181818181815</c:v>
                </c:pt>
                <c:pt idx="16">
                  <c:v>21.317454545454545</c:v>
                </c:pt>
                <c:pt idx="17">
                  <c:v>20.344642857142862</c:v>
                </c:pt>
                <c:pt idx="18">
                  <c:v>20.37436363636364</c:v>
                </c:pt>
              </c:numCache>
            </c:numRef>
          </c:val>
          <c:smooth val="0"/>
          <c:extLst>
            <c:ext xmlns:c16="http://schemas.microsoft.com/office/drawing/2014/chart" uri="{C3380CC4-5D6E-409C-BE32-E72D297353CC}">
              <c16:uniqueId val="{00000000-2C39-4815-B1D6-B2EFD6F2AF32}"/>
            </c:ext>
          </c:extLst>
        </c:ser>
        <c:ser>
          <c:idx val="1"/>
          <c:order val="1"/>
          <c:tx>
            <c:strRef>
              <c:f>Sheet1!$A$3</c:f>
              <c:strCache>
                <c:ptCount val="1"/>
                <c:pt idx="0">
                  <c:v>Low Income</c:v>
                </c:pt>
              </c:strCache>
            </c:strRef>
          </c:tx>
          <c:spPr>
            <a:ln w="34925" cap="rnd">
              <a:solidFill>
                <a:schemeClr val="accent2"/>
              </a:solidFill>
              <a:round/>
            </a:ln>
            <a:effectLst>
              <a:outerShdw blurRad="40000" dist="23000" dir="5400000" rotWithShape="0">
                <a:srgbClr val="000000">
                  <a:alpha val="35000"/>
                </a:srgbClr>
              </a:outerShdw>
            </a:effectLst>
          </c:spPr>
          <c:marker>
            <c:symbol val="none"/>
          </c:marker>
          <c:cat>
            <c:strRef>
              <c:f>Sheet1!$B$1:$T$1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Sheet1!$B$3:$T$3</c:f>
              <c:numCache>
                <c:formatCode>General</c:formatCode>
                <c:ptCount val="19"/>
                <c:pt idx="4" formatCode="0.00">
                  <c:v>28.225000000000001</c:v>
                </c:pt>
                <c:pt idx="5" formatCode="0.00">
                  <c:v>28.225000000000001</c:v>
                </c:pt>
                <c:pt idx="6" formatCode="0.00">
                  <c:v>28.580000000000002</c:v>
                </c:pt>
                <c:pt idx="7" formatCode="0.00">
                  <c:v>27.55</c:v>
                </c:pt>
                <c:pt idx="8" formatCode="0.00">
                  <c:v>27.55</c:v>
                </c:pt>
                <c:pt idx="9" formatCode="0.00">
                  <c:v>28.392857142857142</c:v>
                </c:pt>
                <c:pt idx="10" formatCode="0.00">
                  <c:v>28.392857142857142</c:v>
                </c:pt>
                <c:pt idx="11" formatCode="0.00">
                  <c:v>28.59375</c:v>
                </c:pt>
                <c:pt idx="12" formatCode="0.00">
                  <c:v>28.75</c:v>
                </c:pt>
                <c:pt idx="13" formatCode="0.00">
                  <c:v>28.75</c:v>
                </c:pt>
                <c:pt idx="14" formatCode="0.00">
                  <c:v>28.366666666666667</c:v>
                </c:pt>
                <c:pt idx="15" formatCode="0.00">
                  <c:v>28.4</c:v>
                </c:pt>
                <c:pt idx="16" formatCode="0.00">
                  <c:v>28.4</c:v>
                </c:pt>
                <c:pt idx="17" formatCode="0.00">
                  <c:v>29.117647058823529</c:v>
                </c:pt>
                <c:pt idx="18" formatCode="0.00">
                  <c:v>28.882352941176471</c:v>
                </c:pt>
              </c:numCache>
            </c:numRef>
          </c:val>
          <c:smooth val="0"/>
          <c:extLst>
            <c:ext xmlns:c16="http://schemas.microsoft.com/office/drawing/2014/chart" uri="{C3380CC4-5D6E-409C-BE32-E72D297353CC}">
              <c16:uniqueId val="{00000001-2C39-4815-B1D6-B2EFD6F2AF32}"/>
            </c:ext>
          </c:extLst>
        </c:ser>
        <c:ser>
          <c:idx val="2"/>
          <c:order val="2"/>
          <c:tx>
            <c:strRef>
              <c:f>Sheet1!$A$4</c:f>
              <c:strCache>
                <c:ptCount val="1"/>
                <c:pt idx="0">
                  <c:v>Lower Middle Income</c:v>
                </c:pt>
              </c:strCache>
            </c:strRef>
          </c:tx>
          <c:spPr>
            <a:ln w="34925" cap="rnd">
              <a:solidFill>
                <a:schemeClr val="accent3"/>
              </a:solidFill>
              <a:round/>
            </a:ln>
            <a:effectLst>
              <a:outerShdw blurRad="40000" dist="23000" dir="5400000" rotWithShape="0">
                <a:srgbClr val="000000">
                  <a:alpha val="35000"/>
                </a:srgbClr>
              </a:outerShdw>
            </a:effectLst>
          </c:spPr>
          <c:marker>
            <c:symbol val="none"/>
          </c:marker>
          <c:cat>
            <c:strRef>
              <c:f>Sheet1!$B$1:$T$1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Sheet1!$B$4:$T$4</c:f>
              <c:numCache>
                <c:formatCode>0.00</c:formatCode>
                <c:ptCount val="19"/>
                <c:pt idx="0">
                  <c:v>30.178571428571427</c:v>
                </c:pt>
                <c:pt idx="1">
                  <c:v>29.676363636363636</c:v>
                </c:pt>
                <c:pt idx="2">
                  <c:v>28.731363636363639</c:v>
                </c:pt>
                <c:pt idx="3">
                  <c:v>28.598181818181818</c:v>
                </c:pt>
                <c:pt idx="4">
                  <c:v>27.863181818181818</c:v>
                </c:pt>
                <c:pt idx="5">
                  <c:v>26.499545454545455</c:v>
                </c:pt>
                <c:pt idx="6">
                  <c:v>25.931363636363638</c:v>
                </c:pt>
                <c:pt idx="7">
                  <c:v>25.312083333333334</c:v>
                </c:pt>
                <c:pt idx="8">
                  <c:v>25.580833333333334</c:v>
                </c:pt>
                <c:pt idx="9">
                  <c:v>26.42115384615385</c:v>
                </c:pt>
                <c:pt idx="10">
                  <c:v>26.267500000000002</c:v>
                </c:pt>
                <c:pt idx="11">
                  <c:v>25.624642857142856</c:v>
                </c:pt>
                <c:pt idx="12">
                  <c:v>25.62448275862069</c:v>
                </c:pt>
                <c:pt idx="13">
                  <c:v>24.553666666666668</c:v>
                </c:pt>
                <c:pt idx="14">
                  <c:v>25.588048780487807</c:v>
                </c:pt>
                <c:pt idx="15">
                  <c:v>24.76829268292683</c:v>
                </c:pt>
                <c:pt idx="16">
                  <c:v>24.621951219512194</c:v>
                </c:pt>
                <c:pt idx="17">
                  <c:v>24.29717391304348</c:v>
                </c:pt>
                <c:pt idx="18">
                  <c:v>23.808043478260871</c:v>
                </c:pt>
              </c:numCache>
            </c:numRef>
          </c:val>
          <c:smooth val="0"/>
          <c:extLst>
            <c:ext xmlns:c16="http://schemas.microsoft.com/office/drawing/2014/chart" uri="{C3380CC4-5D6E-409C-BE32-E72D297353CC}">
              <c16:uniqueId val="{00000002-2C39-4815-B1D6-B2EFD6F2AF32}"/>
            </c:ext>
          </c:extLst>
        </c:ser>
        <c:ser>
          <c:idx val="3"/>
          <c:order val="3"/>
          <c:tx>
            <c:strRef>
              <c:f>Sheet1!$A$5</c:f>
              <c:strCache>
                <c:ptCount val="1"/>
                <c:pt idx="0">
                  <c:v>Upper Middle Income</c:v>
                </c:pt>
              </c:strCache>
            </c:strRef>
          </c:tx>
          <c:spPr>
            <a:ln w="34925" cap="rnd">
              <a:solidFill>
                <a:schemeClr val="accent4"/>
              </a:solidFill>
              <a:round/>
            </a:ln>
            <a:effectLst>
              <a:outerShdw blurRad="40000" dist="23000" dir="5400000" rotWithShape="0">
                <a:srgbClr val="000000">
                  <a:alpha val="35000"/>
                </a:srgbClr>
              </a:outerShdw>
            </a:effectLst>
          </c:spPr>
          <c:marker>
            <c:symbol val="none"/>
          </c:marker>
          <c:cat>
            <c:strRef>
              <c:f>Sheet1!$B$1:$T$1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Sheet1!$B$5:$T$5</c:f>
              <c:numCache>
                <c:formatCode>0.00</c:formatCode>
                <c:ptCount val="19"/>
                <c:pt idx="0">
                  <c:v>28.0934375</c:v>
                </c:pt>
                <c:pt idx="1">
                  <c:v>27.885000000000002</c:v>
                </c:pt>
                <c:pt idx="2">
                  <c:v>26.287575757575759</c:v>
                </c:pt>
                <c:pt idx="3">
                  <c:v>25.684848484848484</c:v>
                </c:pt>
                <c:pt idx="4">
                  <c:v>25.415757575757578</c:v>
                </c:pt>
                <c:pt idx="5">
                  <c:v>24.450909090909089</c:v>
                </c:pt>
                <c:pt idx="6">
                  <c:v>23.935757575757577</c:v>
                </c:pt>
                <c:pt idx="7">
                  <c:v>23.556969696969698</c:v>
                </c:pt>
                <c:pt idx="8">
                  <c:v>23.202352941176471</c:v>
                </c:pt>
                <c:pt idx="9">
                  <c:v>22.790588235294116</c:v>
                </c:pt>
                <c:pt idx="10">
                  <c:v>21.794871794871796</c:v>
                </c:pt>
                <c:pt idx="11">
                  <c:v>21.705128205128204</c:v>
                </c:pt>
                <c:pt idx="12">
                  <c:v>21.807692307692307</c:v>
                </c:pt>
                <c:pt idx="13">
                  <c:v>21.782051282051281</c:v>
                </c:pt>
                <c:pt idx="14">
                  <c:v>22.866666666666667</c:v>
                </c:pt>
                <c:pt idx="15">
                  <c:v>22.855555555555554</c:v>
                </c:pt>
                <c:pt idx="16">
                  <c:v>22.788888888888888</c:v>
                </c:pt>
                <c:pt idx="17">
                  <c:v>23.032608695652176</c:v>
                </c:pt>
                <c:pt idx="18">
                  <c:v>23.315217391304348</c:v>
                </c:pt>
              </c:numCache>
            </c:numRef>
          </c:val>
          <c:smooth val="0"/>
          <c:extLst>
            <c:ext xmlns:c16="http://schemas.microsoft.com/office/drawing/2014/chart" uri="{C3380CC4-5D6E-409C-BE32-E72D297353CC}">
              <c16:uniqueId val="{00000003-2C39-4815-B1D6-B2EFD6F2AF32}"/>
            </c:ext>
          </c:extLst>
        </c:ser>
        <c:dLbls>
          <c:showLegendKey val="0"/>
          <c:showVal val="0"/>
          <c:showCatName val="0"/>
          <c:showSerName val="0"/>
          <c:showPercent val="0"/>
          <c:showBubbleSize val="0"/>
        </c:dLbls>
        <c:smooth val="0"/>
        <c:axId val="2099266079"/>
        <c:axId val="1237731535"/>
      </c:lineChart>
      <c:catAx>
        <c:axId val="2099266079"/>
        <c:scaling>
          <c:orientation val="minMax"/>
        </c:scaling>
        <c:delete val="0"/>
        <c:axPos val="b"/>
        <c:numFmt formatCode="0" sourceLinked="0"/>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237731535"/>
        <c:crosses val="autoZero"/>
        <c:auto val="1"/>
        <c:lblAlgn val="ctr"/>
        <c:lblOffset val="100"/>
        <c:noMultiLvlLbl val="0"/>
      </c:catAx>
      <c:valAx>
        <c:axId val="1237731535"/>
        <c:scaling>
          <c:orientation val="minMax"/>
          <c:min val="1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dirty="0"/>
                  <a:t>%</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20992660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r>
              <a:rPr lang="en-US" sz="2000" b="1">
                <a:solidFill>
                  <a:schemeClr val="tx1"/>
                </a:solidFill>
              </a:rPr>
              <a:t>Average Corporate Tax Rates by Region</a:t>
            </a:r>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3.2197461409457812E-2"/>
          <c:y val="0.12003236245954695"/>
          <c:w val="0.95490763338789464"/>
          <c:h val="0.68110516525240172"/>
        </c:manualLayout>
      </c:layout>
      <c:lineChart>
        <c:grouping val="standard"/>
        <c:varyColors val="0"/>
        <c:ser>
          <c:idx val="0"/>
          <c:order val="0"/>
          <c:tx>
            <c:strRef>
              <c:f>'Sheet 2'!$A$2</c:f>
              <c:strCache>
                <c:ptCount val="1"/>
                <c:pt idx="0">
                  <c:v>East Asia &amp; Pacific</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2'!$B$2:$T$2</c:f>
              <c:numCache>
                <c:formatCode>0.00</c:formatCode>
                <c:ptCount val="19"/>
                <c:pt idx="0">
                  <c:v>26.982352941176469</c:v>
                </c:pt>
                <c:pt idx="1">
                  <c:v>26.894117647058824</c:v>
                </c:pt>
                <c:pt idx="2">
                  <c:v>26.57</c:v>
                </c:pt>
                <c:pt idx="3">
                  <c:v>26.746470588235294</c:v>
                </c:pt>
                <c:pt idx="4">
                  <c:v>26.57</c:v>
                </c:pt>
                <c:pt idx="5">
                  <c:v>25.687647058823529</c:v>
                </c:pt>
                <c:pt idx="6">
                  <c:v>24.728823529411763</c:v>
                </c:pt>
                <c:pt idx="7">
                  <c:v>24.188333333333333</c:v>
                </c:pt>
                <c:pt idx="8">
                  <c:v>23.954999999999998</c:v>
                </c:pt>
                <c:pt idx="9">
                  <c:v>23.539444444444442</c:v>
                </c:pt>
                <c:pt idx="10">
                  <c:v>22.928333333333331</c:v>
                </c:pt>
                <c:pt idx="11">
                  <c:v>22.630000000000003</c:v>
                </c:pt>
                <c:pt idx="12">
                  <c:v>22.475555555555555</c:v>
                </c:pt>
                <c:pt idx="13">
                  <c:v>22.308888888888887</c:v>
                </c:pt>
                <c:pt idx="14">
                  <c:v>24.084545454545456</c:v>
                </c:pt>
                <c:pt idx="15">
                  <c:v>22.675454545454546</c:v>
                </c:pt>
                <c:pt idx="16">
                  <c:v>22.664545454545454</c:v>
                </c:pt>
                <c:pt idx="17">
                  <c:v>22.722608695652173</c:v>
                </c:pt>
                <c:pt idx="18">
                  <c:v>22.418260869565216</c:v>
                </c:pt>
              </c:numCache>
            </c:numRef>
          </c:val>
          <c:smooth val="0"/>
          <c:extLst>
            <c:ext xmlns:c16="http://schemas.microsoft.com/office/drawing/2014/chart" uri="{C3380CC4-5D6E-409C-BE32-E72D297353CC}">
              <c16:uniqueId val="{00000000-13F8-42CB-B5FD-C4B1714B430A}"/>
            </c:ext>
          </c:extLst>
        </c:ser>
        <c:ser>
          <c:idx val="1"/>
          <c:order val="1"/>
          <c:tx>
            <c:strRef>
              <c:f>'Sheet 2'!$A$3</c:f>
              <c:strCache>
                <c:ptCount val="1"/>
                <c:pt idx="0">
                  <c:v>Eastern Europe &amp; Central Asia</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2'!$B$3:$T$3</c:f>
              <c:numCache>
                <c:formatCode>0.00</c:formatCode>
                <c:ptCount val="19"/>
                <c:pt idx="0">
                  <c:v>23.543478260869566</c:v>
                </c:pt>
                <c:pt idx="1">
                  <c:v>21.576250000000002</c:v>
                </c:pt>
                <c:pt idx="2">
                  <c:v>19.8</c:v>
                </c:pt>
                <c:pt idx="3">
                  <c:v>19.32</c:v>
                </c:pt>
                <c:pt idx="4">
                  <c:v>18.72</c:v>
                </c:pt>
                <c:pt idx="5">
                  <c:v>17.440000000000001</c:v>
                </c:pt>
                <c:pt idx="6">
                  <c:v>17</c:v>
                </c:pt>
                <c:pt idx="7">
                  <c:v>16.8</c:v>
                </c:pt>
                <c:pt idx="8">
                  <c:v>16.64</c:v>
                </c:pt>
                <c:pt idx="9">
                  <c:v>16.64</c:v>
                </c:pt>
                <c:pt idx="10">
                  <c:v>17.134615384615383</c:v>
                </c:pt>
                <c:pt idx="11">
                  <c:v>17.25</c:v>
                </c:pt>
                <c:pt idx="12">
                  <c:v>17.326923076923077</c:v>
                </c:pt>
                <c:pt idx="13">
                  <c:v>16.962962962962962</c:v>
                </c:pt>
                <c:pt idx="14">
                  <c:v>16.633333333333333</c:v>
                </c:pt>
                <c:pt idx="15">
                  <c:v>16.733333333333334</c:v>
                </c:pt>
                <c:pt idx="16">
                  <c:v>16.7</c:v>
                </c:pt>
                <c:pt idx="17">
                  <c:v>16.29032258064516</c:v>
                </c:pt>
                <c:pt idx="18">
                  <c:v>16.29032258064516</c:v>
                </c:pt>
              </c:numCache>
            </c:numRef>
          </c:val>
          <c:smooth val="0"/>
          <c:extLst>
            <c:ext xmlns:c16="http://schemas.microsoft.com/office/drawing/2014/chart" uri="{C3380CC4-5D6E-409C-BE32-E72D297353CC}">
              <c16:uniqueId val="{00000001-13F8-42CB-B5FD-C4B1714B430A}"/>
            </c:ext>
          </c:extLst>
        </c:ser>
        <c:ser>
          <c:idx val="2"/>
          <c:order val="2"/>
          <c:tx>
            <c:strRef>
              <c:f>'Sheet 2'!$A$4</c:f>
              <c:strCache>
                <c:ptCount val="1"/>
                <c:pt idx="0">
                  <c:v>Latin America &amp; the Caribbean</c:v>
                </c:pt>
              </c:strCache>
            </c:strRef>
          </c:tx>
          <c:spPr>
            <a:ln w="28575" cap="rnd">
              <a:solidFill>
                <a:srgbClr val="FF0000"/>
              </a:solidFill>
              <a:round/>
            </a:ln>
            <a:effectLst/>
          </c:spPr>
          <c:marker>
            <c:symbol val="circle"/>
            <c:size val="5"/>
            <c:spPr>
              <a:solidFill>
                <a:srgbClr val="FF0000"/>
              </a:solidFill>
              <a:ln w="9525">
                <a:solidFill>
                  <a:schemeClr val="accent3"/>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2'!$B$4:$T$4</c:f>
              <c:numCache>
                <c:formatCode>0.00</c:formatCode>
                <c:ptCount val="19"/>
                <c:pt idx="0">
                  <c:v>29.101666666666663</c:v>
                </c:pt>
                <c:pt idx="1">
                  <c:v>28.351666666666667</c:v>
                </c:pt>
                <c:pt idx="2">
                  <c:v>28.122631578947363</c:v>
                </c:pt>
                <c:pt idx="3">
                  <c:v>27.543684210526312</c:v>
                </c:pt>
                <c:pt idx="4">
                  <c:v>26.806842105263158</c:v>
                </c:pt>
                <c:pt idx="5">
                  <c:v>26.491052631578945</c:v>
                </c:pt>
                <c:pt idx="6">
                  <c:v>26.491052631578945</c:v>
                </c:pt>
                <c:pt idx="7">
                  <c:v>26.141499999999997</c:v>
                </c:pt>
                <c:pt idx="8">
                  <c:v>26.816499999999998</c:v>
                </c:pt>
                <c:pt idx="9">
                  <c:v>26.764999999999997</c:v>
                </c:pt>
                <c:pt idx="10">
                  <c:v>26.478260869565219</c:v>
                </c:pt>
                <c:pt idx="11">
                  <c:v>26.021739130434781</c:v>
                </c:pt>
                <c:pt idx="12">
                  <c:v>25.804347826086957</c:v>
                </c:pt>
                <c:pt idx="13">
                  <c:v>25.804347826086957</c:v>
                </c:pt>
                <c:pt idx="14">
                  <c:v>26.916666666666668</c:v>
                </c:pt>
                <c:pt idx="15">
                  <c:v>27.016666666666666</c:v>
                </c:pt>
                <c:pt idx="16">
                  <c:v>26.066666666666666</c:v>
                </c:pt>
                <c:pt idx="17">
                  <c:v>26.2</c:v>
                </c:pt>
                <c:pt idx="18">
                  <c:v>26.033333333333335</c:v>
                </c:pt>
              </c:numCache>
            </c:numRef>
          </c:val>
          <c:smooth val="0"/>
          <c:extLst>
            <c:ext xmlns:c16="http://schemas.microsoft.com/office/drawing/2014/chart" uri="{C3380CC4-5D6E-409C-BE32-E72D297353CC}">
              <c16:uniqueId val="{00000002-13F8-42CB-B5FD-C4B1714B430A}"/>
            </c:ext>
          </c:extLst>
        </c:ser>
        <c:ser>
          <c:idx val="3"/>
          <c:order val="3"/>
          <c:tx>
            <c:strRef>
              <c:f>'Sheet 2'!$A$5</c:f>
              <c:strCache>
                <c:ptCount val="1"/>
                <c:pt idx="0">
                  <c:v>Middle East &amp; North Africa</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2'!$B$5:$T$5</c:f>
              <c:numCache>
                <c:formatCode>0.00</c:formatCode>
                <c:ptCount val="19"/>
                <c:pt idx="0">
                  <c:v>32.527142857142856</c:v>
                </c:pt>
                <c:pt idx="1">
                  <c:v>32.67</c:v>
                </c:pt>
                <c:pt idx="2">
                  <c:v>30.812857142857144</c:v>
                </c:pt>
                <c:pt idx="3">
                  <c:v>29.169999999999998</c:v>
                </c:pt>
                <c:pt idx="4">
                  <c:v>28.857142857142858</c:v>
                </c:pt>
                <c:pt idx="5">
                  <c:v>28.714285714285715</c:v>
                </c:pt>
                <c:pt idx="6">
                  <c:v>25.785714285714285</c:v>
                </c:pt>
                <c:pt idx="7">
                  <c:v>23.142857142857142</c:v>
                </c:pt>
                <c:pt idx="8">
                  <c:v>20.571428571428573</c:v>
                </c:pt>
                <c:pt idx="9">
                  <c:v>21</c:v>
                </c:pt>
                <c:pt idx="10">
                  <c:v>20.722222222222221</c:v>
                </c:pt>
                <c:pt idx="11">
                  <c:v>20.194444444444443</c:v>
                </c:pt>
                <c:pt idx="12">
                  <c:v>20.75</c:v>
                </c:pt>
                <c:pt idx="13">
                  <c:v>21.382352941176471</c:v>
                </c:pt>
                <c:pt idx="14">
                  <c:v>20.868421052631579</c:v>
                </c:pt>
                <c:pt idx="15">
                  <c:v>20.94736842105263</c:v>
                </c:pt>
                <c:pt idx="16">
                  <c:v>21.026315789473685</c:v>
                </c:pt>
                <c:pt idx="17">
                  <c:v>18.475000000000001</c:v>
                </c:pt>
                <c:pt idx="18">
                  <c:v>19.125</c:v>
                </c:pt>
              </c:numCache>
            </c:numRef>
          </c:val>
          <c:smooth val="0"/>
          <c:extLst>
            <c:ext xmlns:c16="http://schemas.microsoft.com/office/drawing/2014/chart" uri="{C3380CC4-5D6E-409C-BE32-E72D297353CC}">
              <c16:uniqueId val="{00000003-13F8-42CB-B5FD-C4B1714B430A}"/>
            </c:ext>
          </c:extLst>
        </c:ser>
        <c:ser>
          <c:idx val="4"/>
          <c:order val="4"/>
          <c:tx>
            <c:strRef>
              <c:f>'Sheet 2'!$A$6</c:f>
              <c:strCache>
                <c:ptCount val="1"/>
                <c:pt idx="0">
                  <c:v>North America</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2'!$B$6:$T$6</c:f>
              <c:numCache>
                <c:formatCode>0.00</c:formatCode>
                <c:ptCount val="19"/>
                <c:pt idx="0">
                  <c:v>35.299999999999997</c:v>
                </c:pt>
                <c:pt idx="1">
                  <c:v>35.049999999999997</c:v>
                </c:pt>
                <c:pt idx="2">
                  <c:v>38.049999999999997</c:v>
                </c:pt>
                <c:pt idx="3">
                  <c:v>38.049999999999997</c:v>
                </c:pt>
                <c:pt idx="4">
                  <c:v>38.049999999999997</c:v>
                </c:pt>
                <c:pt idx="5">
                  <c:v>36.75</c:v>
                </c:pt>
                <c:pt idx="6">
                  <c:v>36.5</c:v>
                </c:pt>
                <c:pt idx="7">
                  <c:v>35.5</c:v>
                </c:pt>
                <c:pt idx="8">
                  <c:v>34</c:v>
                </c:pt>
                <c:pt idx="9">
                  <c:v>33</c:v>
                </c:pt>
                <c:pt idx="10">
                  <c:v>33</c:v>
                </c:pt>
                <c:pt idx="11">
                  <c:v>33.25</c:v>
                </c:pt>
                <c:pt idx="12">
                  <c:v>33.25</c:v>
                </c:pt>
                <c:pt idx="13">
                  <c:v>33.25</c:v>
                </c:pt>
                <c:pt idx="14">
                  <c:v>33.25</c:v>
                </c:pt>
                <c:pt idx="15">
                  <c:v>26.75</c:v>
                </c:pt>
                <c:pt idx="16">
                  <c:v>26.75</c:v>
                </c:pt>
                <c:pt idx="17">
                  <c:v>23.75</c:v>
                </c:pt>
                <c:pt idx="18">
                  <c:v>23.75</c:v>
                </c:pt>
              </c:numCache>
            </c:numRef>
          </c:val>
          <c:smooth val="0"/>
          <c:extLst>
            <c:ext xmlns:c16="http://schemas.microsoft.com/office/drawing/2014/chart" uri="{C3380CC4-5D6E-409C-BE32-E72D297353CC}">
              <c16:uniqueId val="{00000004-13F8-42CB-B5FD-C4B1714B430A}"/>
            </c:ext>
          </c:extLst>
        </c:ser>
        <c:ser>
          <c:idx val="5"/>
          <c:order val="5"/>
          <c:tx>
            <c:strRef>
              <c:f>'Sheet 2'!$A$7</c:f>
              <c:strCache>
                <c:ptCount val="1"/>
                <c:pt idx="0">
                  <c:v>South Asia</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2'!$B$7:$T$7</c:f>
              <c:numCache>
                <c:formatCode>0.00</c:formatCode>
                <c:ptCount val="19"/>
                <c:pt idx="0">
                  <c:v>25.95</c:v>
                </c:pt>
                <c:pt idx="1">
                  <c:v>27.175999999999998</c:v>
                </c:pt>
                <c:pt idx="2">
                  <c:v>26.818000000000001</c:v>
                </c:pt>
                <c:pt idx="3">
                  <c:v>26.231999999999999</c:v>
                </c:pt>
                <c:pt idx="4">
                  <c:v>30.798000000000002</c:v>
                </c:pt>
                <c:pt idx="5">
                  <c:v>30.798000000000002</c:v>
                </c:pt>
                <c:pt idx="6">
                  <c:v>30.298000000000002</c:v>
                </c:pt>
                <c:pt idx="7">
                  <c:v>30.298000000000002</c:v>
                </c:pt>
                <c:pt idx="8">
                  <c:v>28.588000000000001</c:v>
                </c:pt>
                <c:pt idx="9">
                  <c:v>28.589999999999996</c:v>
                </c:pt>
                <c:pt idx="10">
                  <c:v>28.898000000000003</c:v>
                </c:pt>
                <c:pt idx="11">
                  <c:v>28.698</c:v>
                </c:pt>
                <c:pt idx="12">
                  <c:v>28.122000000000003</c:v>
                </c:pt>
                <c:pt idx="13">
                  <c:v>25.321999999999999</c:v>
                </c:pt>
                <c:pt idx="14">
                  <c:v>27.722000000000001</c:v>
                </c:pt>
                <c:pt idx="15">
                  <c:v>27.6</c:v>
                </c:pt>
                <c:pt idx="16">
                  <c:v>26.6</c:v>
                </c:pt>
                <c:pt idx="17">
                  <c:v>25.834000000000003</c:v>
                </c:pt>
                <c:pt idx="18">
                  <c:v>26.134000000000004</c:v>
                </c:pt>
              </c:numCache>
            </c:numRef>
          </c:val>
          <c:smooth val="0"/>
          <c:extLst>
            <c:ext xmlns:c16="http://schemas.microsoft.com/office/drawing/2014/chart" uri="{C3380CC4-5D6E-409C-BE32-E72D297353CC}">
              <c16:uniqueId val="{00000005-13F8-42CB-B5FD-C4B1714B430A}"/>
            </c:ext>
          </c:extLst>
        </c:ser>
        <c:ser>
          <c:idx val="6"/>
          <c:order val="6"/>
          <c:tx>
            <c:strRef>
              <c:f>'Sheet 2'!$A$8</c:f>
              <c:strCache>
                <c:ptCount val="1"/>
                <c:pt idx="0">
                  <c:v>Sub-Saharan Africa</c:v>
                </c:pt>
              </c:strCache>
            </c:strRef>
          </c:tx>
          <c:spPr>
            <a:ln w="28575" cap="rnd">
              <a:solidFill>
                <a:schemeClr val="accent1">
                  <a:lumMod val="60000"/>
                </a:schemeClr>
              </a:solidFill>
              <a:round/>
            </a:ln>
            <a:effectLst/>
          </c:spPr>
          <c:marker>
            <c:symbol val="circle"/>
            <c:size val="5"/>
            <c:spPr>
              <a:solidFill>
                <a:schemeClr val="accent1">
                  <a:lumMod val="60000"/>
                </a:schemeClr>
              </a:solidFill>
              <a:ln w="9525">
                <a:solidFill>
                  <a:schemeClr val="accent1">
                    <a:lumMod val="60000"/>
                  </a:schemeClr>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2'!$B$8:$T$8</c:f>
              <c:numCache>
                <c:formatCode>0.00</c:formatCode>
                <c:ptCount val="19"/>
                <c:pt idx="0">
                  <c:v>31.568000000000001</c:v>
                </c:pt>
                <c:pt idx="1">
                  <c:v>31.568000000000001</c:v>
                </c:pt>
                <c:pt idx="2">
                  <c:v>31.568000000000001</c:v>
                </c:pt>
                <c:pt idx="3">
                  <c:v>31.478999999999996</c:v>
                </c:pt>
                <c:pt idx="4">
                  <c:v>30.728999999999996</c:v>
                </c:pt>
                <c:pt idx="5">
                  <c:v>28.245000000000005</c:v>
                </c:pt>
                <c:pt idx="6">
                  <c:v>28.404545454545453</c:v>
                </c:pt>
                <c:pt idx="7">
                  <c:v>27.936363636363637</c:v>
                </c:pt>
                <c:pt idx="8">
                  <c:v>29.858333333333334</c:v>
                </c:pt>
                <c:pt idx="9">
                  <c:v>29.953333333333333</c:v>
                </c:pt>
                <c:pt idx="10">
                  <c:v>29.171875</c:v>
                </c:pt>
                <c:pt idx="11">
                  <c:v>29.220588235294116</c:v>
                </c:pt>
                <c:pt idx="12">
                  <c:v>29.19736842105263</c:v>
                </c:pt>
                <c:pt idx="13">
                  <c:v>29.144736842105264</c:v>
                </c:pt>
                <c:pt idx="14">
                  <c:v>28.766666666666666</c:v>
                </c:pt>
                <c:pt idx="15">
                  <c:v>28.8</c:v>
                </c:pt>
                <c:pt idx="16">
                  <c:v>28.783333333333335</c:v>
                </c:pt>
                <c:pt idx="17">
                  <c:v>29.319444444444443</c:v>
                </c:pt>
                <c:pt idx="18">
                  <c:v>28.875</c:v>
                </c:pt>
              </c:numCache>
            </c:numRef>
          </c:val>
          <c:smooth val="0"/>
          <c:extLst>
            <c:ext xmlns:c16="http://schemas.microsoft.com/office/drawing/2014/chart" uri="{C3380CC4-5D6E-409C-BE32-E72D297353CC}">
              <c16:uniqueId val="{00000006-13F8-42CB-B5FD-C4B1714B430A}"/>
            </c:ext>
          </c:extLst>
        </c:ser>
        <c:ser>
          <c:idx val="7"/>
          <c:order val="7"/>
          <c:tx>
            <c:strRef>
              <c:f>'Sheet 2'!$A$9</c:f>
              <c:strCache>
                <c:ptCount val="1"/>
                <c:pt idx="0">
                  <c:v>Western Europe</c:v>
                </c:pt>
              </c:strCache>
            </c:strRef>
          </c:tx>
          <c:spPr>
            <a:ln w="28575" cap="rnd">
              <a:solidFill>
                <a:schemeClr val="accent2">
                  <a:lumMod val="60000"/>
                </a:schemeClr>
              </a:solidFill>
              <a:round/>
            </a:ln>
            <a:effectLst/>
          </c:spPr>
          <c:marker>
            <c:symbol val="circle"/>
            <c:size val="5"/>
            <c:spPr>
              <a:solidFill>
                <a:schemeClr val="accent2">
                  <a:lumMod val="60000"/>
                </a:schemeClr>
              </a:solidFill>
              <a:ln w="9525">
                <a:solidFill>
                  <a:schemeClr val="accent2">
                    <a:lumMod val="60000"/>
                  </a:schemeClr>
                </a:solidFill>
              </a:ln>
              <a:effectLst/>
            </c:spPr>
          </c:marker>
          <c:cat>
            <c:strRef>
              <c:f>'Sheet 2'!$B$1:$T$1</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'Sheet 2'!$B$9:$T$9</c:f>
              <c:numCache>
                <c:formatCode>0.00</c:formatCode>
                <c:ptCount val="19"/>
                <c:pt idx="0">
                  <c:v>29.648823529411764</c:v>
                </c:pt>
                <c:pt idx="1">
                  <c:v>29.696470588235293</c:v>
                </c:pt>
                <c:pt idx="2">
                  <c:v>28.544117647058822</c:v>
                </c:pt>
                <c:pt idx="3">
                  <c:v>28.32</c:v>
                </c:pt>
                <c:pt idx="4">
                  <c:v>27.57</c:v>
                </c:pt>
                <c:pt idx="5">
                  <c:v>26.297647058823529</c:v>
                </c:pt>
                <c:pt idx="6">
                  <c:v>26.000588235294117</c:v>
                </c:pt>
                <c:pt idx="7">
                  <c:v>26.162941176470586</c:v>
                </c:pt>
                <c:pt idx="8">
                  <c:v>25.361111111111111</c:v>
                </c:pt>
                <c:pt idx="9">
                  <c:v>25.158888888888889</c:v>
                </c:pt>
                <c:pt idx="10">
                  <c:v>24.888888888888889</c:v>
                </c:pt>
                <c:pt idx="11">
                  <c:v>24.33</c:v>
                </c:pt>
                <c:pt idx="12">
                  <c:v>23.921111111111113</c:v>
                </c:pt>
                <c:pt idx="13">
                  <c:v>23.641666666666666</c:v>
                </c:pt>
                <c:pt idx="14">
                  <c:v>22.997777777777777</c:v>
                </c:pt>
                <c:pt idx="15">
                  <c:v>22.611666666666665</c:v>
                </c:pt>
                <c:pt idx="16">
                  <c:v>22.352222222222224</c:v>
                </c:pt>
                <c:pt idx="17">
                  <c:v>22.01</c:v>
                </c:pt>
                <c:pt idx="18">
                  <c:v>22.204117647058826</c:v>
                </c:pt>
              </c:numCache>
            </c:numRef>
          </c:val>
          <c:smooth val="0"/>
          <c:extLst>
            <c:ext xmlns:c16="http://schemas.microsoft.com/office/drawing/2014/chart" uri="{C3380CC4-5D6E-409C-BE32-E72D297353CC}">
              <c16:uniqueId val="{00000007-13F8-42CB-B5FD-C4B1714B430A}"/>
            </c:ext>
          </c:extLst>
        </c:ser>
        <c:dLbls>
          <c:showLegendKey val="0"/>
          <c:showVal val="0"/>
          <c:showCatName val="0"/>
          <c:showSerName val="0"/>
          <c:showPercent val="0"/>
          <c:showBubbleSize val="0"/>
        </c:dLbls>
        <c:marker val="1"/>
        <c:smooth val="0"/>
        <c:axId val="2098317023"/>
        <c:axId val="2135297535"/>
      </c:lineChart>
      <c:catAx>
        <c:axId val="2098317023"/>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2135297535"/>
        <c:crosses val="autoZero"/>
        <c:auto val="1"/>
        <c:lblAlgn val="ctr"/>
        <c:lblOffset val="100"/>
        <c:noMultiLvlLbl val="0"/>
      </c:catAx>
      <c:valAx>
        <c:axId val="2135297535"/>
        <c:scaling>
          <c:orientation val="minMax"/>
          <c:min val="15"/>
        </c:scaling>
        <c:delete val="0"/>
        <c:axPos val="l"/>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US" b="1">
                    <a:solidFill>
                      <a:schemeClr val="tx1"/>
                    </a:solidFill>
                  </a:rPr>
                  <a:t>(%)</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2098317023"/>
        <c:crosses val="autoZero"/>
        <c:crossBetween val="between"/>
      </c:valAx>
      <c:spPr>
        <a:noFill/>
        <a:ln>
          <a:noFill/>
        </a:ln>
        <a:effectLst/>
      </c:spPr>
    </c:plotArea>
    <c:legend>
      <c:legendPos val="b"/>
      <c:layout>
        <c:manualLayout>
          <c:xMode val="edge"/>
          <c:yMode val="edge"/>
          <c:x val="3.8471857497946835E-2"/>
          <c:y val="0.90588741941237927"/>
          <c:w val="0.93626305175622693"/>
          <c:h val="7.4710903855464667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87D818F-FC5C-42F2-6038-D08B6CDEA70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50179" name="Rectangle 3">
            <a:extLst>
              <a:ext uri="{FF2B5EF4-FFF2-40B4-BE49-F238E27FC236}">
                <a16:creationId xmlns:a16="http://schemas.microsoft.com/office/drawing/2014/main" id="{4B87DB6E-9760-DF93-209A-BE306054D01A}"/>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50180" name="Rectangle 4">
            <a:extLst>
              <a:ext uri="{FF2B5EF4-FFF2-40B4-BE49-F238E27FC236}">
                <a16:creationId xmlns:a16="http://schemas.microsoft.com/office/drawing/2014/main" id="{18A1D0FD-1079-9FD2-DC5A-9881481274CA}"/>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50181" name="Rectangle 5">
            <a:extLst>
              <a:ext uri="{FF2B5EF4-FFF2-40B4-BE49-F238E27FC236}">
                <a16:creationId xmlns:a16="http://schemas.microsoft.com/office/drawing/2014/main" id="{30C6678E-25D4-A377-C16D-804FDF5DBD1D}"/>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AE4C814E-8B80-4B70-B466-89DF27A86C5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7-17T02:10:38.8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70,'65'1,"75"-3,-128 0,0 0,0-1,0-1,21-8,-17 5,26-6,-38 12,26-7,-1 2,1 1,33 0,388 4,-198 3,60-2,-299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7-17T02:10:43.0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25,'0'0,"0"-1,0 0,0 0,1 0,-1 1,0-1,1 0,-1 0,1 1,-1-1,1 0,-1 1,1-1,-1 1,1-1,0 1,-1-1,1 1,0-1,-1 1,1-1,0 1,0 0,-1-1,1 1,2 0,23-5,-24 4,55-3,77 5,-51 0,-51-1,-15-1,0 1,0 0,-1 2,1 0,17 4,-15-1,1-1,-1-1,30 1,60-4,-44-2,252 2,-302 1,0 1,0 0,14 4,-12-2,29 3,-21-5,-1 1,25 7,11 2,-42-6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A2B7C0C-0287-B090-A631-1342E5AC95B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48131" name="Rectangle 3">
            <a:extLst>
              <a:ext uri="{FF2B5EF4-FFF2-40B4-BE49-F238E27FC236}">
                <a16:creationId xmlns:a16="http://schemas.microsoft.com/office/drawing/2014/main" id="{A79049E3-B578-86FF-BCEE-9F4C96E8153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2052" name="Rectangle 4">
            <a:extLst>
              <a:ext uri="{FF2B5EF4-FFF2-40B4-BE49-F238E27FC236}">
                <a16:creationId xmlns:a16="http://schemas.microsoft.com/office/drawing/2014/main" id="{78A34297-6059-F953-CD0B-67086A7D58D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a:extLst>
              <a:ext uri="{FF2B5EF4-FFF2-40B4-BE49-F238E27FC236}">
                <a16:creationId xmlns:a16="http://schemas.microsoft.com/office/drawing/2014/main" id="{9FB7BFB7-329E-BE4E-F893-104291FD9F0F}"/>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a:extLst>
              <a:ext uri="{FF2B5EF4-FFF2-40B4-BE49-F238E27FC236}">
                <a16:creationId xmlns:a16="http://schemas.microsoft.com/office/drawing/2014/main" id="{C762A70B-6268-DE3D-37FA-7FE5B50CDC51}"/>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48135" name="Rectangle 7">
            <a:extLst>
              <a:ext uri="{FF2B5EF4-FFF2-40B4-BE49-F238E27FC236}">
                <a16:creationId xmlns:a16="http://schemas.microsoft.com/office/drawing/2014/main" id="{65239A4F-3E17-2823-9983-547BA492DAC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256743A5-C062-4A9C-B9AA-839698CC3E8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investopedia.com/terms/s/shareholdersequity.asp" TargetMode="External"/><Relationship Id="rId7" Type="http://schemas.openxmlformats.org/officeDocument/2006/relationships/hyperlink" Target="http://www.investopedia.com/terms/a/accumulatedother.asp#ixzz4ceMRAmOe"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www.investopedia.com/terms/p/pensionfund.asp" TargetMode="External"/><Relationship Id="rId5" Type="http://schemas.openxmlformats.org/officeDocument/2006/relationships/hyperlink" Target="http://www.investopedia.com/terms/u/unrealizedgain.asp" TargetMode="External"/><Relationship Id="rId4" Type="http://schemas.openxmlformats.org/officeDocument/2006/relationships/hyperlink" Target="http://www.investopedia.com/terms/c/comprehensiveincome.asp"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FB8D8E1-0295-09E9-E10F-77E82D9F77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B08B5F7-ABBF-4D6B-AFB3-0043E0851793}" type="slidenum">
              <a:rPr lang="en-US" altLang="en-US"/>
              <a:pPr>
                <a:spcBef>
                  <a:spcPct val="0"/>
                </a:spcBef>
              </a:pPr>
              <a:t>10</a:t>
            </a:fld>
            <a:endParaRPr lang="en-US" altLang="en-US"/>
          </a:p>
        </p:txBody>
      </p:sp>
      <p:sp>
        <p:nvSpPr>
          <p:cNvPr id="7171" name="Rectangle 2">
            <a:extLst>
              <a:ext uri="{FF2B5EF4-FFF2-40B4-BE49-F238E27FC236}">
                <a16:creationId xmlns:a16="http://schemas.microsoft.com/office/drawing/2014/main" id="{7AAB11CC-6AEB-EA72-160A-E890CD9CDE9F}"/>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7F6CD226-2BD0-4E4A-9D21-CEC8CBCDAD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24554C17-D313-74A2-29BC-E4D34C71B754}"/>
              </a:ext>
            </a:extLst>
          </p:cNvPr>
          <p:cNvSpPr>
            <a:spLocks noGrp="1" noRot="1" noChangeAspect="1" noChangeArrowheads="1" noTextEdit="1"/>
          </p:cNvSpPr>
          <p:nvPr>
            <p:ph type="sldImg"/>
          </p:nvPr>
        </p:nvSpPr>
        <p:spPr>
          <a:ln/>
        </p:spPr>
      </p:sp>
      <p:sp>
        <p:nvSpPr>
          <p:cNvPr id="12291" name="Notes Placeholder 2">
            <a:extLst>
              <a:ext uri="{FF2B5EF4-FFF2-40B4-BE49-F238E27FC236}">
                <a16:creationId xmlns:a16="http://schemas.microsoft.com/office/drawing/2014/main" id="{315251FB-E120-4123-12BB-3FA7FD0BC9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What is 'Accumulated Other Comprehensive Income'</a:t>
            </a:r>
          </a:p>
          <a:p>
            <a:r>
              <a:rPr lang="en-US" altLang="en-US"/>
              <a:t>Accumulated other comprehensive income (OCI) is a line item in the </a:t>
            </a:r>
            <a:r>
              <a:rPr lang="en-US" altLang="en-US">
                <a:hlinkClick r:id="rId3"/>
              </a:rPr>
              <a:t>shareholders' equity</a:t>
            </a:r>
            <a:r>
              <a:rPr lang="en-US" altLang="en-US"/>
              <a:t> section of the balance sheet that includes income that is not reported in the income statement. Other </a:t>
            </a:r>
            <a:r>
              <a:rPr lang="en-US" altLang="en-US">
                <a:hlinkClick r:id="rId4"/>
              </a:rPr>
              <a:t>comprehensive income</a:t>
            </a:r>
            <a:r>
              <a:rPr lang="en-US" altLang="en-US"/>
              <a:t> includes </a:t>
            </a:r>
            <a:r>
              <a:rPr lang="en-US" altLang="en-US">
                <a:hlinkClick r:id="rId5"/>
              </a:rPr>
              <a:t>unrealized gains</a:t>
            </a:r>
            <a:r>
              <a:rPr lang="en-US" altLang="en-US"/>
              <a:t> and losses on certain types of investments, as well as gains or losses on </a:t>
            </a:r>
            <a:r>
              <a:rPr lang="en-US" altLang="en-US">
                <a:hlinkClick r:id="rId6"/>
              </a:rPr>
              <a:t>pension funds</a:t>
            </a:r>
            <a:r>
              <a:rPr lang="en-US" altLang="en-US"/>
              <a:t> and foreign currency transactions.</a:t>
            </a:r>
          </a:p>
          <a:p>
            <a:br>
              <a:rPr lang="en-US" altLang="en-US"/>
            </a:br>
            <a:br>
              <a:rPr lang="en-US" altLang="en-US"/>
            </a:br>
            <a:r>
              <a:rPr lang="en-US" altLang="en-US"/>
              <a:t>Read more: </a:t>
            </a:r>
            <a:r>
              <a:rPr lang="en-US" altLang="en-US">
                <a:hlinkClick r:id="rId7"/>
              </a:rPr>
              <a:t>Accumulated Other Comprehensive Income Definition | Investopedia</a:t>
            </a:r>
            <a:r>
              <a:rPr lang="en-US" altLang="en-US"/>
              <a:t> </a:t>
            </a:r>
            <a:r>
              <a:rPr lang="en-US" altLang="en-US">
                <a:hlinkClick r:id="rId7"/>
              </a:rPr>
              <a:t>http://www.investopedia.com/terms/a/accumulatedother.asp#ixzz4ceMRAmOe</a:t>
            </a:r>
            <a:r>
              <a:rPr lang="en-US" altLang="en-US"/>
              <a:t> </a:t>
            </a:r>
            <a:br>
              <a:rPr lang="en-US" altLang="en-US"/>
            </a:br>
            <a:endParaRPr lang="en-US" altLang="en-US"/>
          </a:p>
          <a:p>
            <a:r>
              <a:rPr lang="en-US" altLang="en-US" b="1"/>
              <a:t>Treasury stock</a:t>
            </a:r>
            <a:r>
              <a:rPr lang="en-US" altLang="en-US"/>
              <a:t> is a company's own </a:t>
            </a:r>
            <a:r>
              <a:rPr lang="en-US" altLang="en-US" b="1"/>
              <a:t>stock</a:t>
            </a:r>
            <a:r>
              <a:rPr lang="en-US" altLang="en-US"/>
              <a:t> that it has reacquired from shareholders. When a company buys back shares, the expenditure to repurchase the </a:t>
            </a:r>
            <a:r>
              <a:rPr lang="en-US" altLang="en-US" b="1"/>
              <a:t>stock</a:t>
            </a:r>
            <a:r>
              <a:rPr lang="en-US" altLang="en-US"/>
              <a:t> is recorded in a contra equity account. This is a </a:t>
            </a:r>
            <a:r>
              <a:rPr lang="en-US" altLang="en-US" b="1"/>
              <a:t>balance sheet</a:t>
            </a:r>
            <a:r>
              <a:rPr lang="en-US" altLang="en-US"/>
              <a:t> account that has a natural debit </a:t>
            </a:r>
            <a:r>
              <a:rPr lang="en-US" altLang="en-US" b="1"/>
              <a:t>balance</a:t>
            </a:r>
            <a:r>
              <a:rPr lang="en-US" altLang="en-US"/>
              <a:t>.</a:t>
            </a:r>
          </a:p>
          <a:p>
            <a:endParaRPr lang="en-US" altLang="en-US"/>
          </a:p>
        </p:txBody>
      </p:sp>
      <p:sp>
        <p:nvSpPr>
          <p:cNvPr id="12292" name="Slide Number Placeholder 3">
            <a:extLst>
              <a:ext uri="{FF2B5EF4-FFF2-40B4-BE49-F238E27FC236}">
                <a16:creationId xmlns:a16="http://schemas.microsoft.com/office/drawing/2014/main" id="{C4D9ACD4-400C-801B-9131-1A043BE1CA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defRPr>
            </a:lvl1pPr>
            <a:lvl2pPr marL="742950" indent="-285750">
              <a:defRPr sz="2600">
                <a:solidFill>
                  <a:schemeClr val="tx1"/>
                </a:solidFill>
                <a:latin typeface="Times New Roman" panose="02020603050405020304" pitchFamily="18" charset="0"/>
              </a:defRPr>
            </a:lvl2pPr>
            <a:lvl3pPr marL="1143000" indent="-228600">
              <a:defRPr sz="2600">
                <a:solidFill>
                  <a:schemeClr val="tx1"/>
                </a:solidFill>
                <a:latin typeface="Times New Roman" panose="02020603050405020304" pitchFamily="18" charset="0"/>
              </a:defRPr>
            </a:lvl3pPr>
            <a:lvl4pPr marL="1600200" indent="-228600">
              <a:defRPr sz="2600">
                <a:solidFill>
                  <a:schemeClr val="tx1"/>
                </a:solidFill>
                <a:latin typeface="Times New Roman" panose="02020603050405020304" pitchFamily="18" charset="0"/>
              </a:defRPr>
            </a:lvl4pPr>
            <a:lvl5pPr marL="2057400" indent="-228600">
              <a:defRPr sz="2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defRPr>
            </a:lvl9pPr>
          </a:lstStyle>
          <a:p>
            <a:fld id="{C0E1161E-9EC8-45EF-8793-5FD9FB3C3C02}" type="slidenum">
              <a:rPr lang="en-US" altLang="en-US" sz="1200"/>
              <a:pPr/>
              <a:t>14</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D4DD6C18-E527-8CA5-9424-D28D8C54E7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CE7AE58-1EB3-4904-ADE0-347C96B8530F}" type="slidenum">
              <a:rPr lang="en-US" altLang="en-US"/>
              <a:pPr>
                <a:spcBef>
                  <a:spcPct val="0"/>
                </a:spcBef>
              </a:pPr>
              <a:t>21</a:t>
            </a:fld>
            <a:endParaRPr lang="en-US" altLang="en-US"/>
          </a:p>
        </p:txBody>
      </p:sp>
      <p:sp>
        <p:nvSpPr>
          <p:cNvPr id="20483" name="Rectangle 2">
            <a:extLst>
              <a:ext uri="{FF2B5EF4-FFF2-40B4-BE49-F238E27FC236}">
                <a16:creationId xmlns:a16="http://schemas.microsoft.com/office/drawing/2014/main" id="{D55D8EE5-9DB1-D75E-8AE8-E679E4C42750}"/>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8CB909F-2573-2547-FB00-9E6EB26359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B569A2-0A0D-B500-F62C-DC274762FF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E1B98C9-69D1-4707-AF03-493D94E70422}" type="slidenum">
              <a:rPr lang="en-US" altLang="en-US"/>
              <a:pPr>
                <a:spcBef>
                  <a:spcPct val="0"/>
                </a:spcBef>
              </a:pPr>
              <a:t>28</a:t>
            </a:fld>
            <a:endParaRPr lang="en-US" altLang="en-US"/>
          </a:p>
        </p:txBody>
      </p:sp>
      <p:sp>
        <p:nvSpPr>
          <p:cNvPr id="19459" name="Rectangle 2">
            <a:extLst>
              <a:ext uri="{FF2B5EF4-FFF2-40B4-BE49-F238E27FC236}">
                <a16:creationId xmlns:a16="http://schemas.microsoft.com/office/drawing/2014/main" id="{1CA5E47F-374B-DE16-B92E-987576010C24}"/>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D4E906C5-E24B-3AF2-0163-0250A5DA2F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F149924-1233-A9F0-D8A9-486DAE25F6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7BA9AE-6F43-4715-9A3E-189E94B34BD1}" type="slidenum">
              <a:rPr lang="en-US" altLang="en-US"/>
              <a:pPr>
                <a:spcBef>
                  <a:spcPct val="0"/>
                </a:spcBef>
              </a:pPr>
              <a:t>29</a:t>
            </a:fld>
            <a:endParaRPr lang="en-US" altLang="en-US"/>
          </a:p>
        </p:txBody>
      </p:sp>
      <p:sp>
        <p:nvSpPr>
          <p:cNvPr id="21507" name="Rectangle 2">
            <a:extLst>
              <a:ext uri="{FF2B5EF4-FFF2-40B4-BE49-F238E27FC236}">
                <a16:creationId xmlns:a16="http://schemas.microsoft.com/office/drawing/2014/main" id="{DCD2A06F-3E32-75CD-09FF-5EED27ED8E34}"/>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B0E74A35-F005-F37B-2584-266B3530F0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6F3501F9-8345-96B4-39AE-93BD33E4BF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4F4916-2125-4673-94A4-FDD41FF0C177}" type="slidenum">
              <a:rPr lang="en-US" altLang="en-US"/>
              <a:pPr>
                <a:spcBef>
                  <a:spcPct val="0"/>
                </a:spcBef>
              </a:pPr>
              <a:t>30</a:t>
            </a:fld>
            <a:endParaRPr lang="en-US" altLang="en-US"/>
          </a:p>
        </p:txBody>
      </p:sp>
      <p:sp>
        <p:nvSpPr>
          <p:cNvPr id="23555" name="Rectangle 2">
            <a:extLst>
              <a:ext uri="{FF2B5EF4-FFF2-40B4-BE49-F238E27FC236}">
                <a16:creationId xmlns:a16="http://schemas.microsoft.com/office/drawing/2014/main" id="{CBB3E292-C106-9DFC-3D33-9725890C6C4A}"/>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09B1401A-DCBB-566D-4F0E-F370BF661D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81F189F-7094-C85A-01FA-91EDB215BE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D95CFA0-4EAA-4363-94AA-C4C8F82AE078}" type="slidenum">
              <a:rPr lang="en-US" altLang="en-US"/>
              <a:pPr>
                <a:spcBef>
                  <a:spcPct val="0"/>
                </a:spcBef>
              </a:pPr>
              <a:t>31</a:t>
            </a:fld>
            <a:endParaRPr lang="en-US" altLang="en-US"/>
          </a:p>
        </p:txBody>
      </p:sp>
      <p:sp>
        <p:nvSpPr>
          <p:cNvPr id="25603" name="Rectangle 2">
            <a:extLst>
              <a:ext uri="{FF2B5EF4-FFF2-40B4-BE49-F238E27FC236}">
                <a16:creationId xmlns:a16="http://schemas.microsoft.com/office/drawing/2014/main" id="{52C73752-6018-CAB7-3109-7A0D228DC9BA}"/>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9182EA4D-C7F0-55C5-0E1E-6B15E2E3A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29F2943D-4F63-1AFE-CFC6-86F4C9EA7D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105E3C-FC77-4726-90EF-F6BB2C92BD40}" type="slidenum">
              <a:rPr lang="en-US" altLang="en-US"/>
              <a:pPr>
                <a:spcBef>
                  <a:spcPct val="0"/>
                </a:spcBef>
              </a:pPr>
              <a:t>32</a:t>
            </a:fld>
            <a:endParaRPr lang="en-US" altLang="en-US"/>
          </a:p>
        </p:txBody>
      </p:sp>
      <p:sp>
        <p:nvSpPr>
          <p:cNvPr id="27651" name="Rectangle 2">
            <a:extLst>
              <a:ext uri="{FF2B5EF4-FFF2-40B4-BE49-F238E27FC236}">
                <a16:creationId xmlns:a16="http://schemas.microsoft.com/office/drawing/2014/main" id="{FFFCC2BD-8433-B95C-AFFF-E6BBB4A8E289}"/>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3544A8AC-103C-25A5-9514-B3EC05CC37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ADC13A1C-6CA4-1C8E-414B-4F1793DFBC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EBB04BA-6746-4857-988C-885510A71AB5}" type="slidenum">
              <a:rPr lang="en-US" altLang="en-US"/>
              <a:pPr>
                <a:spcBef>
                  <a:spcPct val="0"/>
                </a:spcBef>
              </a:pPr>
              <a:t>33</a:t>
            </a:fld>
            <a:endParaRPr lang="en-US" altLang="en-US"/>
          </a:p>
        </p:txBody>
      </p:sp>
      <p:sp>
        <p:nvSpPr>
          <p:cNvPr id="29699" name="Rectangle 2">
            <a:extLst>
              <a:ext uri="{FF2B5EF4-FFF2-40B4-BE49-F238E27FC236}">
                <a16:creationId xmlns:a16="http://schemas.microsoft.com/office/drawing/2014/main" id="{CF46F858-EE2E-7433-D27A-52AA5706567F}"/>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BD9D13D6-E906-3FA9-F499-4A5B72B0D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A6D5ABC-84E1-A5C4-9BBB-41DE0679BD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95F90BF-8EAF-4070-A6D3-21040C12939E}" type="slidenum">
              <a:rPr lang="en-US" altLang="en-US"/>
              <a:pPr>
                <a:spcBef>
                  <a:spcPct val="0"/>
                </a:spcBef>
              </a:pPr>
              <a:t>34</a:t>
            </a:fld>
            <a:endParaRPr lang="en-US" altLang="en-US"/>
          </a:p>
        </p:txBody>
      </p:sp>
      <p:sp>
        <p:nvSpPr>
          <p:cNvPr id="31747" name="Rectangle 2">
            <a:extLst>
              <a:ext uri="{FF2B5EF4-FFF2-40B4-BE49-F238E27FC236}">
                <a16:creationId xmlns:a16="http://schemas.microsoft.com/office/drawing/2014/main" id="{D1CB9EEC-80C4-26FF-5573-CCA5C23BCF0A}"/>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9B4872E5-27A0-7C8C-4265-147A9A4078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BE92CBF9-03A3-F798-6889-7A5961D8F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20F567-FEBC-41BF-A418-AFAD5D66A6B3}" type="slidenum">
              <a:rPr lang="en-US" altLang="en-US"/>
              <a:pPr>
                <a:spcBef>
                  <a:spcPct val="0"/>
                </a:spcBef>
              </a:pPr>
              <a:t>35</a:t>
            </a:fld>
            <a:endParaRPr lang="en-US" altLang="en-US"/>
          </a:p>
        </p:txBody>
      </p:sp>
      <p:sp>
        <p:nvSpPr>
          <p:cNvPr id="33795" name="Rectangle 2">
            <a:extLst>
              <a:ext uri="{FF2B5EF4-FFF2-40B4-BE49-F238E27FC236}">
                <a16:creationId xmlns:a16="http://schemas.microsoft.com/office/drawing/2014/main" id="{62A39CBA-4F67-EFBF-2A6B-343E7888DB7F}"/>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758130B0-3D35-3DC5-B8BF-3D7C467D2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3142F029-29F4-9205-614B-FBBC8E0D19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745F2BE-5BDE-44E1-A82E-35EE760EF035}" type="slidenum">
              <a:rPr lang="en-US" altLang="en-US"/>
              <a:pPr>
                <a:spcBef>
                  <a:spcPct val="0"/>
                </a:spcBef>
              </a:pPr>
              <a:t>36</a:t>
            </a:fld>
            <a:endParaRPr lang="en-US" altLang="en-US"/>
          </a:p>
        </p:txBody>
      </p:sp>
      <p:sp>
        <p:nvSpPr>
          <p:cNvPr id="35843" name="Rectangle 2">
            <a:extLst>
              <a:ext uri="{FF2B5EF4-FFF2-40B4-BE49-F238E27FC236}">
                <a16:creationId xmlns:a16="http://schemas.microsoft.com/office/drawing/2014/main" id="{DE8AEC23-8092-B5FC-2711-10AD01129298}"/>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D31030B1-A24A-01D3-0936-B2CB6B92E6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2629ECC2-62BD-9608-0EC3-7047FC67B2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CBE43F-AD88-4887-BF25-65E86FDD6050}" type="slidenum">
              <a:rPr lang="en-US" altLang="en-US"/>
              <a:pPr>
                <a:spcBef>
                  <a:spcPct val="0"/>
                </a:spcBef>
              </a:pPr>
              <a:t>37</a:t>
            </a:fld>
            <a:endParaRPr lang="en-US" altLang="en-US"/>
          </a:p>
        </p:txBody>
      </p:sp>
      <p:sp>
        <p:nvSpPr>
          <p:cNvPr id="37891" name="Rectangle 2">
            <a:extLst>
              <a:ext uri="{FF2B5EF4-FFF2-40B4-BE49-F238E27FC236}">
                <a16:creationId xmlns:a16="http://schemas.microsoft.com/office/drawing/2014/main" id="{6F7BFAE7-A467-1D6A-0FEE-6DD180F947D6}"/>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DAE61A34-C5BC-7206-DD9F-6CB318D341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910EF63-ECDB-ABC3-BB94-9915DA6C0E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4AD8F0-F5C4-4E23-B5FC-FA674566BCCE}" type="slidenum">
              <a:rPr lang="en-US" altLang="en-US"/>
              <a:pPr>
                <a:spcBef>
                  <a:spcPct val="0"/>
                </a:spcBef>
              </a:pPr>
              <a:t>38</a:t>
            </a:fld>
            <a:endParaRPr lang="en-US" altLang="en-US"/>
          </a:p>
        </p:txBody>
      </p:sp>
      <p:sp>
        <p:nvSpPr>
          <p:cNvPr id="39939" name="Rectangle 2">
            <a:extLst>
              <a:ext uri="{FF2B5EF4-FFF2-40B4-BE49-F238E27FC236}">
                <a16:creationId xmlns:a16="http://schemas.microsoft.com/office/drawing/2014/main" id="{EE16F509-94F3-102B-48D4-F8037A6F71DA}"/>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391A5C5D-7FA3-B5DB-8DC1-289996022B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E46B9745-0FDF-B0B2-B27A-B5C74B3BE0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CE90646-CEFD-4B98-B865-5E82C07D40FB}" type="slidenum">
              <a:rPr lang="en-US" altLang="en-US"/>
              <a:pPr>
                <a:spcBef>
                  <a:spcPct val="0"/>
                </a:spcBef>
              </a:pPr>
              <a:t>39</a:t>
            </a:fld>
            <a:endParaRPr lang="en-US" altLang="en-US"/>
          </a:p>
        </p:txBody>
      </p:sp>
      <p:sp>
        <p:nvSpPr>
          <p:cNvPr id="41987" name="Rectangle 2">
            <a:extLst>
              <a:ext uri="{FF2B5EF4-FFF2-40B4-BE49-F238E27FC236}">
                <a16:creationId xmlns:a16="http://schemas.microsoft.com/office/drawing/2014/main" id="{E0CC7D6D-681A-88A6-F6A3-83400EA8328F}"/>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683B47DF-2D21-562C-FA47-A60DF703A6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0A0268A1-886A-8726-3395-657149BBDE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E312539-080D-4E9A-B98A-8A2CC8F87104}" type="slidenum">
              <a:rPr lang="en-US" altLang="en-US"/>
              <a:pPr>
                <a:spcBef>
                  <a:spcPct val="0"/>
                </a:spcBef>
              </a:pPr>
              <a:t>40</a:t>
            </a:fld>
            <a:endParaRPr lang="en-US" altLang="en-US"/>
          </a:p>
        </p:txBody>
      </p:sp>
      <p:sp>
        <p:nvSpPr>
          <p:cNvPr id="44035" name="Rectangle 2">
            <a:extLst>
              <a:ext uri="{FF2B5EF4-FFF2-40B4-BE49-F238E27FC236}">
                <a16:creationId xmlns:a16="http://schemas.microsoft.com/office/drawing/2014/main" id="{D731D292-2088-9BA1-0632-03C27AA79CC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6DFBA63B-9AA1-687B-549E-1D5BF12186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3E2D426F-C35E-1248-5B9C-7411C7010A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8C57FEB-659D-4430-8E8D-F9AAA8602C8B}" type="slidenum">
              <a:rPr lang="en-US" altLang="en-US"/>
              <a:pPr>
                <a:spcBef>
                  <a:spcPct val="0"/>
                </a:spcBef>
              </a:pPr>
              <a:t>41</a:t>
            </a:fld>
            <a:endParaRPr lang="en-US" altLang="en-US"/>
          </a:p>
        </p:txBody>
      </p:sp>
      <p:sp>
        <p:nvSpPr>
          <p:cNvPr id="46083" name="Rectangle 2">
            <a:extLst>
              <a:ext uri="{FF2B5EF4-FFF2-40B4-BE49-F238E27FC236}">
                <a16:creationId xmlns:a16="http://schemas.microsoft.com/office/drawing/2014/main" id="{A7AAEBB1-3E50-00B5-FCE8-43932C16BC80}"/>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6218E11-0E03-1C58-C880-4356886B49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287A1693-6AD0-11E7-8A31-7134C00A90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C09165-0FE1-4439-8226-CA8DCCFF3094}" type="slidenum">
              <a:rPr lang="en-US" altLang="en-US"/>
              <a:pPr>
                <a:spcBef>
                  <a:spcPct val="0"/>
                </a:spcBef>
              </a:pPr>
              <a:t>42</a:t>
            </a:fld>
            <a:endParaRPr lang="en-US" altLang="en-US"/>
          </a:p>
        </p:txBody>
      </p:sp>
      <p:sp>
        <p:nvSpPr>
          <p:cNvPr id="48131" name="Rectangle 2">
            <a:extLst>
              <a:ext uri="{FF2B5EF4-FFF2-40B4-BE49-F238E27FC236}">
                <a16:creationId xmlns:a16="http://schemas.microsoft.com/office/drawing/2014/main" id="{B8ADD930-ED65-49D4-A7D2-40CB2890AE38}"/>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A2C7BE8B-BD29-8EE6-8132-D9F82A6D59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95276BC-149D-E65F-3AD8-5801DBDA9C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3ABB896-FA3B-46C5-AB04-DE7DE6F1F8FC}" type="slidenum">
              <a:rPr lang="en-US" altLang="en-US"/>
              <a:pPr>
                <a:spcBef>
                  <a:spcPct val="0"/>
                </a:spcBef>
              </a:pPr>
              <a:t>43</a:t>
            </a:fld>
            <a:endParaRPr lang="en-US" altLang="en-US"/>
          </a:p>
        </p:txBody>
      </p:sp>
      <p:sp>
        <p:nvSpPr>
          <p:cNvPr id="50179" name="Rectangle 2">
            <a:extLst>
              <a:ext uri="{FF2B5EF4-FFF2-40B4-BE49-F238E27FC236}">
                <a16:creationId xmlns:a16="http://schemas.microsoft.com/office/drawing/2014/main" id="{FA20D832-719A-400B-309B-1A8288F5EE5F}"/>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0EE2B3FD-28C3-6C24-7F9D-5C6F71C1DE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7BD5627E-7A43-72DA-E5AD-00E0E3D5D2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4D2BE7D-5640-4242-BE46-A88391570CDD}" type="slidenum">
              <a:rPr lang="en-US" altLang="en-US"/>
              <a:pPr>
                <a:spcBef>
                  <a:spcPct val="0"/>
                </a:spcBef>
              </a:pPr>
              <a:t>44</a:t>
            </a:fld>
            <a:endParaRPr lang="en-US" altLang="en-US"/>
          </a:p>
        </p:txBody>
      </p:sp>
      <p:sp>
        <p:nvSpPr>
          <p:cNvPr id="52227" name="Rectangle 2">
            <a:extLst>
              <a:ext uri="{FF2B5EF4-FFF2-40B4-BE49-F238E27FC236}">
                <a16:creationId xmlns:a16="http://schemas.microsoft.com/office/drawing/2014/main" id="{C5188FBC-9EAA-41FB-6EBB-46E4A512E24C}"/>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DF1810E0-AD33-6C0E-8C97-B68DA04E99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1B28D295-36C3-4430-7255-F06D4C1203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78A0717-2CE9-4A2E-A079-97A41D9655D1}" type="slidenum">
              <a:rPr lang="en-US" altLang="en-US"/>
              <a:pPr>
                <a:spcBef>
                  <a:spcPct val="0"/>
                </a:spcBef>
              </a:pPr>
              <a:t>45</a:t>
            </a:fld>
            <a:endParaRPr lang="en-US" altLang="en-US"/>
          </a:p>
        </p:txBody>
      </p:sp>
      <p:sp>
        <p:nvSpPr>
          <p:cNvPr id="54275" name="Rectangle 2">
            <a:extLst>
              <a:ext uri="{FF2B5EF4-FFF2-40B4-BE49-F238E27FC236}">
                <a16:creationId xmlns:a16="http://schemas.microsoft.com/office/drawing/2014/main" id="{D83350CB-DBC9-E962-7C0A-72BE8D997489}"/>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2307E3BE-7E9D-DD46-D41D-84B11773D0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15A401FA-FBA8-76B1-13E2-320FDEC6FA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BFC8BA6-F8CE-4C59-3F30-8BDE98CC3FA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E1A082E-B5C7-462C-FC13-7208C5903100}"/>
              </a:ext>
            </a:extLst>
          </p:cNvPr>
          <p:cNvSpPr>
            <a:spLocks noGrp="1" noChangeArrowheads="1"/>
          </p:cNvSpPr>
          <p:nvPr>
            <p:ph type="sldNum" sz="quarter" idx="12"/>
          </p:nvPr>
        </p:nvSpPr>
        <p:spPr>
          <a:ln/>
        </p:spPr>
        <p:txBody>
          <a:bodyPr/>
          <a:lstStyle>
            <a:lvl1pPr>
              <a:defRPr/>
            </a:lvl1pPr>
          </a:lstStyle>
          <a:p>
            <a:fld id="{0E625B60-975C-41B0-BE12-D9A0FB8C2BD6}" type="slidenum">
              <a:rPr lang="en-US" altLang="en-US"/>
              <a:pPr/>
              <a:t>‹#›</a:t>
            </a:fld>
            <a:endParaRPr lang="en-US" altLang="en-US"/>
          </a:p>
        </p:txBody>
      </p:sp>
    </p:spTree>
    <p:extLst>
      <p:ext uri="{BB962C8B-B14F-4D97-AF65-F5344CB8AC3E}">
        <p14:creationId xmlns:p14="http://schemas.microsoft.com/office/powerpoint/2010/main" val="2712966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ED31962-780C-62EE-CDED-7849BB62E3E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A2D9AB9-8AF4-CBE5-4E54-B30323B22F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129F5DE-ABE5-C2AF-4E21-75A66977AB3D}"/>
              </a:ext>
            </a:extLst>
          </p:cNvPr>
          <p:cNvSpPr>
            <a:spLocks noGrp="1" noChangeArrowheads="1"/>
          </p:cNvSpPr>
          <p:nvPr>
            <p:ph type="sldNum" sz="quarter" idx="12"/>
          </p:nvPr>
        </p:nvSpPr>
        <p:spPr>
          <a:ln/>
        </p:spPr>
        <p:txBody>
          <a:bodyPr/>
          <a:lstStyle>
            <a:lvl1pPr>
              <a:defRPr/>
            </a:lvl1pPr>
          </a:lstStyle>
          <a:p>
            <a:fld id="{5DC54A95-63A8-4B4B-8341-172734AF75D2}" type="slidenum">
              <a:rPr lang="en-US" altLang="en-US"/>
              <a:pPr/>
              <a:t>‹#›</a:t>
            </a:fld>
            <a:endParaRPr lang="en-US" altLang="en-US"/>
          </a:p>
        </p:txBody>
      </p:sp>
    </p:spTree>
    <p:extLst>
      <p:ext uri="{BB962C8B-B14F-4D97-AF65-F5344CB8AC3E}">
        <p14:creationId xmlns:p14="http://schemas.microsoft.com/office/powerpoint/2010/main" val="3827087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90FE49C-249D-40E8-E5D5-A49C451D7C8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07A3848-408E-BF62-0D07-4AF6095DE3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F4082F1-4930-2523-D25F-7B6AAC248F9F}"/>
              </a:ext>
            </a:extLst>
          </p:cNvPr>
          <p:cNvSpPr>
            <a:spLocks noGrp="1" noChangeArrowheads="1"/>
          </p:cNvSpPr>
          <p:nvPr>
            <p:ph type="sldNum" sz="quarter" idx="12"/>
          </p:nvPr>
        </p:nvSpPr>
        <p:spPr>
          <a:ln/>
        </p:spPr>
        <p:txBody>
          <a:bodyPr/>
          <a:lstStyle>
            <a:lvl1pPr>
              <a:defRPr/>
            </a:lvl1pPr>
          </a:lstStyle>
          <a:p>
            <a:fld id="{0EB051B5-DB79-4D73-B14D-E3658906AAF8}" type="slidenum">
              <a:rPr lang="en-US" altLang="en-US"/>
              <a:pPr/>
              <a:t>‹#›</a:t>
            </a:fld>
            <a:endParaRPr lang="en-US" altLang="en-US"/>
          </a:p>
        </p:txBody>
      </p:sp>
    </p:spTree>
    <p:extLst>
      <p:ext uri="{BB962C8B-B14F-4D97-AF65-F5344CB8AC3E}">
        <p14:creationId xmlns:p14="http://schemas.microsoft.com/office/powerpoint/2010/main" val="3537081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E6247DB-23DD-BB72-F090-F19823FA353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D2ACE6-181D-E998-0CE1-858000382B6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EAF6338-CA8A-0301-F598-248B8013F6AF}"/>
              </a:ext>
            </a:extLst>
          </p:cNvPr>
          <p:cNvSpPr>
            <a:spLocks noGrp="1" noChangeArrowheads="1"/>
          </p:cNvSpPr>
          <p:nvPr>
            <p:ph type="sldNum" sz="quarter" idx="12"/>
          </p:nvPr>
        </p:nvSpPr>
        <p:spPr>
          <a:ln/>
        </p:spPr>
        <p:txBody>
          <a:bodyPr/>
          <a:lstStyle>
            <a:lvl1pPr>
              <a:defRPr/>
            </a:lvl1pPr>
          </a:lstStyle>
          <a:p>
            <a:fld id="{B85C3E03-4256-4628-8616-37957E0FA153}" type="slidenum">
              <a:rPr lang="en-US" altLang="en-US"/>
              <a:pPr/>
              <a:t>‹#›</a:t>
            </a:fld>
            <a:endParaRPr lang="en-US" altLang="en-US"/>
          </a:p>
        </p:txBody>
      </p:sp>
    </p:spTree>
    <p:extLst>
      <p:ext uri="{BB962C8B-B14F-4D97-AF65-F5344CB8AC3E}">
        <p14:creationId xmlns:p14="http://schemas.microsoft.com/office/powerpoint/2010/main" val="1092881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C707AB1-85AB-8C21-952B-A9F08579DC7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305E7ED-526A-1F08-EBB1-E4369C9F709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5444714-2B72-B289-1AC3-14F0419A2430}"/>
              </a:ext>
            </a:extLst>
          </p:cNvPr>
          <p:cNvSpPr>
            <a:spLocks noGrp="1" noChangeArrowheads="1"/>
          </p:cNvSpPr>
          <p:nvPr>
            <p:ph type="sldNum" sz="quarter" idx="12"/>
          </p:nvPr>
        </p:nvSpPr>
        <p:spPr>
          <a:ln/>
        </p:spPr>
        <p:txBody>
          <a:bodyPr/>
          <a:lstStyle>
            <a:lvl1pPr>
              <a:defRPr/>
            </a:lvl1pPr>
          </a:lstStyle>
          <a:p>
            <a:fld id="{530E6F85-A6E1-4D6B-9E40-D8EAA78DA2DD}" type="slidenum">
              <a:rPr lang="en-US" altLang="en-US"/>
              <a:pPr/>
              <a:t>‹#›</a:t>
            </a:fld>
            <a:endParaRPr lang="en-US" altLang="en-US"/>
          </a:p>
        </p:txBody>
      </p:sp>
    </p:spTree>
    <p:extLst>
      <p:ext uri="{BB962C8B-B14F-4D97-AF65-F5344CB8AC3E}">
        <p14:creationId xmlns:p14="http://schemas.microsoft.com/office/powerpoint/2010/main" val="1322018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8114846-28CA-D5D4-1A13-20BB63D9C4D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5932101-7294-83B9-DEBD-91632B749E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54FB523-4E80-2451-D910-766E21224115}"/>
              </a:ext>
            </a:extLst>
          </p:cNvPr>
          <p:cNvSpPr>
            <a:spLocks noGrp="1" noChangeArrowheads="1"/>
          </p:cNvSpPr>
          <p:nvPr>
            <p:ph type="sldNum" sz="quarter" idx="12"/>
          </p:nvPr>
        </p:nvSpPr>
        <p:spPr>
          <a:ln/>
        </p:spPr>
        <p:txBody>
          <a:bodyPr/>
          <a:lstStyle>
            <a:lvl1pPr>
              <a:defRPr/>
            </a:lvl1pPr>
          </a:lstStyle>
          <a:p>
            <a:fld id="{821157E3-36E7-4EA0-9BC0-D2C4F8ACF434}" type="slidenum">
              <a:rPr lang="en-US" altLang="en-US"/>
              <a:pPr/>
              <a:t>‹#›</a:t>
            </a:fld>
            <a:endParaRPr lang="en-US" altLang="en-US"/>
          </a:p>
        </p:txBody>
      </p:sp>
    </p:spTree>
    <p:extLst>
      <p:ext uri="{BB962C8B-B14F-4D97-AF65-F5344CB8AC3E}">
        <p14:creationId xmlns:p14="http://schemas.microsoft.com/office/powerpoint/2010/main" val="1009437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407FDF4-F59D-508C-571B-7CB173CCC6A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8BDD8B29-45F8-63B8-B3A5-83D624A959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0273118-2DD1-960D-F73B-FD7A0A2330F4}"/>
              </a:ext>
            </a:extLst>
          </p:cNvPr>
          <p:cNvSpPr>
            <a:spLocks noGrp="1" noChangeArrowheads="1"/>
          </p:cNvSpPr>
          <p:nvPr>
            <p:ph type="sldNum" sz="quarter" idx="12"/>
          </p:nvPr>
        </p:nvSpPr>
        <p:spPr>
          <a:ln/>
        </p:spPr>
        <p:txBody>
          <a:bodyPr/>
          <a:lstStyle>
            <a:lvl1pPr>
              <a:defRPr/>
            </a:lvl1pPr>
          </a:lstStyle>
          <a:p>
            <a:fld id="{68C725F6-AE5E-45D4-A21C-70FE20AB9D71}" type="slidenum">
              <a:rPr lang="en-US" altLang="en-US"/>
              <a:pPr/>
              <a:t>‹#›</a:t>
            </a:fld>
            <a:endParaRPr lang="en-US" altLang="en-US"/>
          </a:p>
        </p:txBody>
      </p:sp>
    </p:spTree>
    <p:extLst>
      <p:ext uri="{BB962C8B-B14F-4D97-AF65-F5344CB8AC3E}">
        <p14:creationId xmlns:p14="http://schemas.microsoft.com/office/powerpoint/2010/main" val="746876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9C53B67-9ECD-B3B3-FA9D-12F7BA19F59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CDC60D9-DC8F-92C9-8908-0766AE31B52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10A064F-6DA7-BEA1-3A58-C62CFE04AD04}"/>
              </a:ext>
            </a:extLst>
          </p:cNvPr>
          <p:cNvSpPr>
            <a:spLocks noGrp="1" noChangeArrowheads="1"/>
          </p:cNvSpPr>
          <p:nvPr>
            <p:ph type="sldNum" sz="quarter" idx="12"/>
          </p:nvPr>
        </p:nvSpPr>
        <p:spPr>
          <a:ln/>
        </p:spPr>
        <p:txBody>
          <a:bodyPr/>
          <a:lstStyle>
            <a:lvl1pPr>
              <a:defRPr/>
            </a:lvl1pPr>
          </a:lstStyle>
          <a:p>
            <a:fld id="{421E0E10-E4AB-400A-BD3E-2E1222E13ACC}" type="slidenum">
              <a:rPr lang="en-US" altLang="en-US"/>
              <a:pPr/>
              <a:t>‹#›</a:t>
            </a:fld>
            <a:endParaRPr lang="en-US" altLang="en-US"/>
          </a:p>
        </p:txBody>
      </p:sp>
    </p:spTree>
    <p:extLst>
      <p:ext uri="{BB962C8B-B14F-4D97-AF65-F5344CB8AC3E}">
        <p14:creationId xmlns:p14="http://schemas.microsoft.com/office/powerpoint/2010/main" val="4276027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26B48A1-7E9A-BE88-26C9-A79353B7CFD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48CAAB4-8798-930F-DA36-12D0F0EDE8F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26B0DAF-73A9-2E78-25FF-2B8187B00EE2}"/>
              </a:ext>
            </a:extLst>
          </p:cNvPr>
          <p:cNvSpPr>
            <a:spLocks noGrp="1" noChangeArrowheads="1"/>
          </p:cNvSpPr>
          <p:nvPr>
            <p:ph type="sldNum" sz="quarter" idx="12"/>
          </p:nvPr>
        </p:nvSpPr>
        <p:spPr>
          <a:ln/>
        </p:spPr>
        <p:txBody>
          <a:bodyPr/>
          <a:lstStyle>
            <a:lvl1pPr>
              <a:defRPr/>
            </a:lvl1pPr>
          </a:lstStyle>
          <a:p>
            <a:fld id="{2ECDBE26-334D-420A-A1D6-28FD1E25413C}" type="slidenum">
              <a:rPr lang="en-US" altLang="en-US"/>
              <a:pPr/>
              <a:t>‹#›</a:t>
            </a:fld>
            <a:endParaRPr lang="en-US" altLang="en-US"/>
          </a:p>
        </p:txBody>
      </p:sp>
    </p:spTree>
    <p:extLst>
      <p:ext uri="{BB962C8B-B14F-4D97-AF65-F5344CB8AC3E}">
        <p14:creationId xmlns:p14="http://schemas.microsoft.com/office/powerpoint/2010/main" val="7687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1BC41F6-2B12-AA13-E625-325899227CD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7C65DD3-1BB2-370E-B289-DE69B2E9C2C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BE1415C-BFAA-8DF4-D660-3565FDB0219F}"/>
              </a:ext>
            </a:extLst>
          </p:cNvPr>
          <p:cNvSpPr>
            <a:spLocks noGrp="1" noChangeArrowheads="1"/>
          </p:cNvSpPr>
          <p:nvPr>
            <p:ph type="sldNum" sz="quarter" idx="12"/>
          </p:nvPr>
        </p:nvSpPr>
        <p:spPr>
          <a:ln/>
        </p:spPr>
        <p:txBody>
          <a:bodyPr/>
          <a:lstStyle>
            <a:lvl1pPr>
              <a:defRPr/>
            </a:lvl1pPr>
          </a:lstStyle>
          <a:p>
            <a:fld id="{6CA1D214-5CAE-4AE2-ACAE-735051B05587}" type="slidenum">
              <a:rPr lang="en-US" altLang="en-US"/>
              <a:pPr/>
              <a:t>‹#›</a:t>
            </a:fld>
            <a:endParaRPr lang="en-US" altLang="en-US"/>
          </a:p>
        </p:txBody>
      </p:sp>
    </p:spTree>
    <p:extLst>
      <p:ext uri="{BB962C8B-B14F-4D97-AF65-F5344CB8AC3E}">
        <p14:creationId xmlns:p14="http://schemas.microsoft.com/office/powerpoint/2010/main" val="4212670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7DA5B83-CA19-7F91-ACCF-6A5A5AA0B42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0D87FA-4E1E-48C4-BB0B-28904FA3D7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F60A48-0E4A-D45B-7C50-3BD6D55F0DCA}"/>
              </a:ext>
            </a:extLst>
          </p:cNvPr>
          <p:cNvSpPr>
            <a:spLocks noGrp="1" noChangeArrowheads="1"/>
          </p:cNvSpPr>
          <p:nvPr>
            <p:ph type="sldNum" sz="quarter" idx="12"/>
          </p:nvPr>
        </p:nvSpPr>
        <p:spPr>
          <a:ln/>
        </p:spPr>
        <p:txBody>
          <a:bodyPr/>
          <a:lstStyle>
            <a:lvl1pPr>
              <a:defRPr/>
            </a:lvl1pPr>
          </a:lstStyle>
          <a:p>
            <a:fld id="{0F88C499-6E12-4419-90BA-B4997682A081}" type="slidenum">
              <a:rPr lang="en-US" altLang="en-US"/>
              <a:pPr/>
              <a:t>‹#›</a:t>
            </a:fld>
            <a:endParaRPr lang="en-US" altLang="en-US"/>
          </a:p>
        </p:txBody>
      </p:sp>
    </p:spTree>
    <p:extLst>
      <p:ext uri="{BB962C8B-B14F-4D97-AF65-F5344CB8AC3E}">
        <p14:creationId xmlns:p14="http://schemas.microsoft.com/office/powerpoint/2010/main" val="1251770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81AFCC0-066A-08A7-87D3-72E29F7F214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35CD2D34-CF10-05D7-5B47-0C510899E0F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8026FE2-856E-7E32-60ED-BE66AE340BE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p>
        </p:txBody>
      </p:sp>
      <p:sp>
        <p:nvSpPr>
          <p:cNvPr id="1029" name="Rectangle 5">
            <a:extLst>
              <a:ext uri="{FF2B5EF4-FFF2-40B4-BE49-F238E27FC236}">
                <a16:creationId xmlns:a16="http://schemas.microsoft.com/office/drawing/2014/main" id="{C3EE51C8-2697-69A5-A807-36925E0D943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p>
        </p:txBody>
      </p:sp>
      <p:sp>
        <p:nvSpPr>
          <p:cNvPr id="1030" name="Rectangle 6">
            <a:extLst>
              <a:ext uri="{FF2B5EF4-FFF2-40B4-BE49-F238E27FC236}">
                <a16:creationId xmlns:a16="http://schemas.microsoft.com/office/drawing/2014/main" id="{00A7442F-CEFA-1B08-1B9C-1653F16DD91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772A7B0B-5840-4382-9514-AC97A4A9B0F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a-systems.net/financial-statemen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www.incometaxindia.gov.in/_layouts/15/dit/Pages/viewer.aspx?grp=Act&amp;cname=CMSID&amp;cval=102120000002038352&amp;searchFilter=%5b%7b%22CrawledPropertyKey%22%3a1%2c%22Value%22%3a%22Act%22%2c%22SearchOperand%22%3a2%7d%2c%7b%22CrawledPropertyKey%22%3a0%2c%22Value%22%3a%22Income-tax+Act%2c+1961%22%2c%22SearchOperand%22%3a2%7d%5d&amp;filterBy=S&amp;optionalFilter=28&amp;k=&amp;IsDlg=1#fn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87F04-CD01-5DDD-8006-E38C161F3CC6}"/>
              </a:ext>
            </a:extLst>
          </p:cNvPr>
          <p:cNvSpPr>
            <a:spLocks noGrp="1"/>
          </p:cNvSpPr>
          <p:nvPr>
            <p:ph type="ctrTitle"/>
          </p:nvPr>
        </p:nvSpPr>
        <p:spPr/>
        <p:txBody>
          <a:bodyPr/>
          <a:lstStyle/>
          <a:p>
            <a:r>
              <a:rPr lang="en-US"/>
              <a:t>Corporate Income Tax</a:t>
            </a:r>
          </a:p>
        </p:txBody>
      </p:sp>
      <p:sp>
        <p:nvSpPr>
          <p:cNvPr id="3" name="Subtitle 2">
            <a:extLst>
              <a:ext uri="{FF2B5EF4-FFF2-40B4-BE49-F238E27FC236}">
                <a16:creationId xmlns:a16="http://schemas.microsoft.com/office/drawing/2014/main" id="{85118466-3873-C905-87F5-3F7F15570503}"/>
              </a:ext>
            </a:extLst>
          </p:cNvPr>
          <p:cNvSpPr>
            <a:spLocks noGrp="1"/>
          </p:cNvSpPr>
          <p:nvPr>
            <p:ph type="subTitle" idx="1"/>
          </p:nvPr>
        </p:nvSpPr>
        <p:spPr/>
        <p:txBody>
          <a:bodyPr/>
          <a:lstStyle/>
          <a:p>
            <a:r>
              <a:rPr lang="en-US"/>
              <a:t>Sebastian James</a:t>
            </a:r>
          </a:p>
          <a:p>
            <a:r>
              <a:rPr lang="en-US"/>
              <a:t>World Bank</a:t>
            </a:r>
          </a:p>
        </p:txBody>
      </p:sp>
      <p:sp>
        <p:nvSpPr>
          <p:cNvPr id="4" name="Slide Number Placeholder 3">
            <a:extLst>
              <a:ext uri="{FF2B5EF4-FFF2-40B4-BE49-F238E27FC236}">
                <a16:creationId xmlns:a16="http://schemas.microsoft.com/office/drawing/2014/main" id="{0E5C3A8F-D99A-FB00-A532-279C9A669118}"/>
              </a:ext>
            </a:extLst>
          </p:cNvPr>
          <p:cNvSpPr>
            <a:spLocks noGrp="1"/>
          </p:cNvSpPr>
          <p:nvPr>
            <p:ph type="sldNum" sz="quarter" idx="12"/>
          </p:nvPr>
        </p:nvSpPr>
        <p:spPr/>
        <p:txBody>
          <a:bodyPr/>
          <a:lstStyle/>
          <a:p>
            <a:fld id="{0E625B60-975C-41B0-BE12-D9A0FB8C2BD6}" type="slidenum">
              <a:rPr lang="en-US" altLang="en-US" smtClean="0"/>
              <a:pPr/>
              <a:t>1</a:t>
            </a:fld>
            <a:endParaRPr lang="en-US" altLang="en-US"/>
          </a:p>
        </p:txBody>
      </p:sp>
    </p:spTree>
    <p:extLst>
      <p:ext uri="{BB962C8B-B14F-4D97-AF65-F5344CB8AC3E}">
        <p14:creationId xmlns:p14="http://schemas.microsoft.com/office/powerpoint/2010/main" val="2871906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3399"/>
                </a:solidFill>
              </a:rPr>
              <a:t>Business Accounting</a:t>
            </a:r>
            <a:br>
              <a:rPr lang="en-US" b="1" dirty="0">
                <a:solidFill>
                  <a:srgbClr val="003399"/>
                </a:solidFill>
              </a:rPr>
            </a:br>
            <a:r>
              <a:rPr lang="en-US" b="1" dirty="0">
                <a:solidFill>
                  <a:srgbClr val="003399"/>
                </a:solidFill>
              </a:rPr>
              <a:t>Practical Session</a:t>
            </a:r>
          </a:p>
        </p:txBody>
      </p:sp>
    </p:spTree>
    <p:extLst>
      <p:ext uri="{BB962C8B-B14F-4D97-AF65-F5344CB8AC3E}">
        <p14:creationId xmlns:p14="http://schemas.microsoft.com/office/powerpoint/2010/main" val="2455178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lstStyle/>
          <a:p>
            <a:r>
              <a:rPr lang="en-US" b="1" dirty="0">
                <a:solidFill>
                  <a:srgbClr val="003399"/>
                </a:solidFill>
              </a:rPr>
              <a:t>Requirements</a:t>
            </a:r>
          </a:p>
        </p:txBody>
      </p:sp>
      <p:sp>
        <p:nvSpPr>
          <p:cNvPr id="3" name="Content Placeholder 2"/>
          <p:cNvSpPr>
            <a:spLocks noGrp="1"/>
          </p:cNvSpPr>
          <p:nvPr>
            <p:ph idx="1"/>
          </p:nvPr>
        </p:nvSpPr>
        <p:spPr>
          <a:xfrm>
            <a:off x="152400" y="1447800"/>
            <a:ext cx="8839200" cy="4648200"/>
          </a:xfrm>
        </p:spPr>
        <p:txBody>
          <a:bodyPr/>
          <a:lstStyle/>
          <a:p>
            <a:r>
              <a:rPr lang="en-US" dirty="0"/>
              <a:t>Please use the interactive website financial statement calculator </a:t>
            </a:r>
            <a:r>
              <a:rPr lang="en-US" dirty="0">
                <a:solidFill>
                  <a:schemeClr val="accent2">
                    <a:lumMod val="75000"/>
                  </a:schemeClr>
                </a:solidFill>
                <a:hlinkClick r:id="rId2">
                  <a:extLst>
                    <a:ext uri="{A12FA001-AC4F-418D-AE19-62706E023703}">
                      <ahyp:hlinkClr xmlns:ahyp="http://schemas.microsoft.com/office/drawing/2018/hyperlinkcolor" val="tx"/>
                    </a:ext>
                  </a:extLst>
                </a:hlinkClick>
              </a:rPr>
              <a:t>http://www.a-systems.net/financial-statement/</a:t>
            </a:r>
            <a:r>
              <a:rPr lang="en-US" dirty="0">
                <a:solidFill>
                  <a:schemeClr val="accent2">
                    <a:lumMod val="75000"/>
                  </a:schemeClr>
                </a:solidFill>
              </a:rPr>
              <a:t>  </a:t>
            </a:r>
          </a:p>
        </p:txBody>
      </p:sp>
    </p:spTree>
    <p:extLst>
      <p:ext uri="{BB962C8B-B14F-4D97-AF65-F5344CB8AC3E}">
        <p14:creationId xmlns:p14="http://schemas.microsoft.com/office/powerpoint/2010/main" val="712207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991600" cy="1143000"/>
          </a:xfrm>
        </p:spPr>
        <p:txBody>
          <a:bodyPr/>
          <a:lstStyle/>
          <a:p>
            <a:r>
              <a:rPr lang="en-US" b="1" dirty="0">
                <a:solidFill>
                  <a:srgbClr val="003399"/>
                </a:solidFill>
              </a:rPr>
              <a:t>Balance Sheet (Beginning of Year 1)</a:t>
            </a:r>
          </a:p>
        </p:txBody>
      </p:sp>
      <p:sp>
        <p:nvSpPr>
          <p:cNvPr id="3" name="Content Placeholder 2"/>
          <p:cNvSpPr>
            <a:spLocks noGrp="1"/>
          </p:cNvSpPr>
          <p:nvPr>
            <p:ph idx="1"/>
          </p:nvPr>
        </p:nvSpPr>
        <p:spPr>
          <a:xfrm>
            <a:off x="685800" y="1447800"/>
            <a:ext cx="7772400" cy="4648200"/>
          </a:xfrm>
        </p:spPr>
        <p:txBody>
          <a:bodyPr>
            <a:normAutofit fontScale="92500" lnSpcReduction="10000"/>
          </a:bodyPr>
          <a:lstStyle/>
          <a:p>
            <a:r>
              <a:rPr lang="en-US" dirty="0"/>
              <a:t>Your Company was financed by Equity of $100,000 and Debt of $50,000</a:t>
            </a:r>
          </a:p>
          <a:p>
            <a:pPr lvl="1"/>
            <a:r>
              <a:rPr lang="en-US" dirty="0"/>
              <a:t>Loan will be repaid over time and interest will be deducted</a:t>
            </a:r>
          </a:p>
          <a:p>
            <a:pPr lvl="1"/>
            <a:r>
              <a:rPr lang="en-US" dirty="0"/>
              <a:t>Interest rate on Debt is 8%</a:t>
            </a:r>
          </a:p>
          <a:p>
            <a:r>
              <a:rPr lang="en-US" dirty="0"/>
              <a:t>You then used the moneys to buy Assets</a:t>
            </a:r>
          </a:p>
          <a:p>
            <a:pPr lvl="1"/>
            <a:r>
              <a:rPr lang="en-US" dirty="0"/>
              <a:t>Equipment $40,000 (depreciation 10%)</a:t>
            </a:r>
          </a:p>
          <a:p>
            <a:pPr marL="342900" lvl="1" indent="0">
              <a:buNone/>
            </a:pPr>
            <a:r>
              <a:rPr lang="en-US" dirty="0"/>
              <a:t>(Hint: Note that there will be Accumulated Depreciation at the end of the year)</a:t>
            </a:r>
          </a:p>
          <a:p>
            <a:r>
              <a:rPr lang="en-US" dirty="0"/>
              <a:t>What is the balancing item?</a:t>
            </a:r>
          </a:p>
        </p:txBody>
      </p:sp>
    </p:spTree>
    <p:extLst>
      <p:ext uri="{BB962C8B-B14F-4D97-AF65-F5344CB8AC3E}">
        <p14:creationId xmlns:p14="http://schemas.microsoft.com/office/powerpoint/2010/main" val="144345510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053"/>
            <a:ext cx="9144000" cy="886326"/>
          </a:xfrm>
        </p:spPr>
        <p:txBody>
          <a:bodyPr/>
          <a:lstStyle/>
          <a:p>
            <a:r>
              <a:rPr lang="en-US" b="1" dirty="0">
                <a:solidFill>
                  <a:srgbClr val="003399"/>
                </a:solidFill>
              </a:rPr>
              <a:t>Income and Expenses (Accrual Basis)</a:t>
            </a:r>
          </a:p>
        </p:txBody>
      </p:sp>
      <p:sp>
        <p:nvSpPr>
          <p:cNvPr id="3" name="Content Placeholder 2"/>
          <p:cNvSpPr>
            <a:spLocks noGrp="1"/>
          </p:cNvSpPr>
          <p:nvPr>
            <p:ph idx="1"/>
          </p:nvPr>
        </p:nvSpPr>
        <p:spPr>
          <a:xfrm>
            <a:off x="628650" y="1066800"/>
            <a:ext cx="8058150" cy="5763126"/>
          </a:xfrm>
        </p:spPr>
        <p:txBody>
          <a:bodyPr>
            <a:normAutofit fontScale="62500" lnSpcReduction="20000"/>
          </a:bodyPr>
          <a:lstStyle/>
          <a:p>
            <a:r>
              <a:rPr lang="en-US" dirty="0"/>
              <a:t>First Build your inventory</a:t>
            </a:r>
          </a:p>
          <a:p>
            <a:pPr lvl="1"/>
            <a:r>
              <a:rPr lang="en-US" dirty="0"/>
              <a:t>Total Inventory bought is $60,000 bought in cash</a:t>
            </a:r>
          </a:p>
          <a:p>
            <a:pPr lvl="1"/>
            <a:r>
              <a:rPr lang="en-US" dirty="0"/>
              <a:t>Note if Inventory of bought in credit 8% is automatically deducted as interest) </a:t>
            </a:r>
          </a:p>
          <a:p>
            <a:r>
              <a:rPr lang="en-US" dirty="0"/>
              <a:t>Your Company made Sales (what is the impact on the P&amp;L Account and the Balance Sheet)</a:t>
            </a:r>
          </a:p>
          <a:p>
            <a:pPr lvl="1"/>
            <a:r>
              <a:rPr lang="en-US" dirty="0"/>
              <a:t>Cash Sales of $80,000 during the year </a:t>
            </a:r>
          </a:p>
          <a:p>
            <a:pPr lvl="1"/>
            <a:r>
              <a:rPr lang="en-US" dirty="0"/>
              <a:t>Credit Sales of $20,000 during the year</a:t>
            </a:r>
          </a:p>
          <a:p>
            <a:pPr lvl="1"/>
            <a:r>
              <a:rPr lang="en-US" dirty="0"/>
              <a:t>Note: Cost of Goods Sold is 40% of Sales (i.e., gross margin is 60%) and when a Sale is made, it is automatically taken out of the Inventory and deducted as purchases</a:t>
            </a:r>
          </a:p>
          <a:p>
            <a:r>
              <a:rPr lang="en-US" dirty="0"/>
              <a:t>Your Operating Expenses was $20,000 </a:t>
            </a:r>
          </a:p>
          <a:p>
            <a:pPr lvl="1"/>
            <a:r>
              <a:rPr lang="en-US" dirty="0"/>
              <a:t>Salary was $15,000</a:t>
            </a:r>
          </a:p>
          <a:p>
            <a:pPr lvl="1"/>
            <a:r>
              <a:rPr lang="en-US" dirty="0"/>
              <a:t>Office supplies $5,000</a:t>
            </a:r>
          </a:p>
          <a:p>
            <a:r>
              <a:rPr lang="en-US" dirty="0"/>
              <a:t>Your Non-Operating Income/Expenses were</a:t>
            </a:r>
          </a:p>
          <a:p>
            <a:pPr lvl="1"/>
            <a:r>
              <a:rPr lang="en-US" dirty="0"/>
              <a:t>Rent expense $2,000</a:t>
            </a:r>
          </a:p>
          <a:p>
            <a:pPr lvl="1"/>
            <a:r>
              <a:rPr lang="en-US" dirty="0"/>
              <a:t>Hint: include the Depreciation Expenses</a:t>
            </a:r>
          </a:p>
          <a:p>
            <a:r>
              <a:rPr lang="en-US" dirty="0"/>
              <a:t>You paid back a loan of $12,500 out of which 8% includes interest</a:t>
            </a:r>
          </a:p>
          <a:p>
            <a:r>
              <a:rPr lang="en-US" dirty="0"/>
              <a:t>Calculate your Net Income/Profit</a:t>
            </a:r>
          </a:p>
          <a:p>
            <a:r>
              <a:rPr lang="en-US" dirty="0"/>
              <a:t>Adjust Your Balance Sheet (What is the Balancing entry?)</a:t>
            </a:r>
          </a:p>
        </p:txBody>
      </p:sp>
    </p:spTree>
    <p:extLst>
      <p:ext uri="{BB962C8B-B14F-4D97-AF65-F5344CB8AC3E}">
        <p14:creationId xmlns:p14="http://schemas.microsoft.com/office/powerpoint/2010/main" val="3082314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sz="3600" b="1" dirty="0">
                <a:solidFill>
                  <a:srgbClr val="003399"/>
                </a:solidFill>
              </a:rPr>
              <a:t>Additional Exercises - Balance Sheet Impact</a:t>
            </a:r>
          </a:p>
        </p:txBody>
      </p:sp>
      <p:sp>
        <p:nvSpPr>
          <p:cNvPr id="3" name="Content Placeholder 2"/>
          <p:cNvSpPr>
            <a:spLocks noGrp="1"/>
          </p:cNvSpPr>
          <p:nvPr>
            <p:ph idx="1"/>
          </p:nvPr>
        </p:nvSpPr>
        <p:spPr>
          <a:xfrm>
            <a:off x="609600" y="1143000"/>
            <a:ext cx="7772400" cy="5562600"/>
          </a:xfrm>
        </p:spPr>
        <p:txBody>
          <a:bodyPr/>
          <a:lstStyle/>
          <a:p>
            <a:r>
              <a:rPr lang="en-US" dirty="0"/>
              <a:t>You bought new Equipment worth $10,000</a:t>
            </a:r>
          </a:p>
          <a:p>
            <a:r>
              <a:rPr lang="en-US" dirty="0"/>
              <a:t>Machinery is depreciated at the rate of 10% straight-line</a:t>
            </a:r>
          </a:p>
          <a:p>
            <a:pPr lvl="1"/>
            <a:r>
              <a:rPr lang="en-US" dirty="0"/>
              <a:t>For tax purposes the machinery is allowed to be depreciated at 20% straight line (what are the implications?)</a:t>
            </a:r>
          </a:p>
          <a:p>
            <a:r>
              <a:rPr lang="en-US" dirty="0"/>
              <a:t>A client of yours is not likely to pay you $5,000 as they have gone out of business during the year</a:t>
            </a:r>
          </a:p>
          <a:p>
            <a:pPr lvl="1"/>
            <a:r>
              <a:rPr lang="en-US" dirty="0"/>
              <a:t>Tax rules state that you need to wait at least 2 years before you can write off a debt</a:t>
            </a:r>
          </a:p>
          <a:p>
            <a:endParaRPr lang="en-US" dirty="0"/>
          </a:p>
          <a:p>
            <a:endParaRPr lang="en-US" dirty="0"/>
          </a:p>
        </p:txBody>
      </p:sp>
    </p:spTree>
    <p:extLst>
      <p:ext uri="{BB962C8B-B14F-4D97-AF65-F5344CB8AC3E}">
        <p14:creationId xmlns:p14="http://schemas.microsoft.com/office/powerpoint/2010/main" val="315565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021"/>
            <a:ext cx="7772400" cy="1143000"/>
          </a:xfrm>
        </p:spPr>
        <p:txBody>
          <a:bodyPr/>
          <a:lstStyle/>
          <a:p>
            <a:r>
              <a:rPr lang="en-US" b="1" dirty="0">
                <a:solidFill>
                  <a:srgbClr val="003399"/>
                </a:solidFill>
              </a:rPr>
              <a:t>Tax Credits and Payments</a:t>
            </a:r>
          </a:p>
        </p:txBody>
      </p:sp>
      <p:sp>
        <p:nvSpPr>
          <p:cNvPr id="3" name="Content Placeholder 2"/>
          <p:cNvSpPr>
            <a:spLocks noGrp="1"/>
          </p:cNvSpPr>
          <p:nvPr>
            <p:ph idx="1"/>
          </p:nvPr>
        </p:nvSpPr>
        <p:spPr>
          <a:xfrm>
            <a:off x="685800" y="1371600"/>
            <a:ext cx="7772400" cy="4724400"/>
          </a:xfrm>
        </p:spPr>
        <p:txBody>
          <a:bodyPr/>
          <a:lstStyle/>
          <a:p>
            <a:r>
              <a:rPr lang="en-US" dirty="0"/>
              <a:t>Prepare your Balance sheet</a:t>
            </a:r>
          </a:p>
          <a:p>
            <a:r>
              <a:rPr lang="en-US" dirty="0"/>
              <a:t>Prepare your Income for</a:t>
            </a:r>
          </a:p>
          <a:p>
            <a:pPr lvl="1"/>
            <a:r>
              <a:rPr lang="en-US" dirty="0"/>
              <a:t>Financial purposes</a:t>
            </a:r>
          </a:p>
          <a:p>
            <a:pPr lvl="1"/>
            <a:r>
              <a:rPr lang="en-US" dirty="0"/>
              <a:t>Tax purposes</a:t>
            </a:r>
          </a:p>
          <a:p>
            <a:r>
              <a:rPr lang="en-US" dirty="0"/>
              <a:t>What parts go to the Balance Sheet ?</a:t>
            </a:r>
          </a:p>
          <a:p>
            <a:r>
              <a:rPr lang="en-US" dirty="0"/>
              <a:t>What would your Cash Flow Statement look like?</a:t>
            </a:r>
          </a:p>
        </p:txBody>
      </p:sp>
    </p:spTree>
    <p:extLst>
      <p:ext uri="{BB962C8B-B14F-4D97-AF65-F5344CB8AC3E}">
        <p14:creationId xmlns:p14="http://schemas.microsoft.com/office/powerpoint/2010/main" val="4076001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F39532-9EAC-03A3-B81E-469954DFE6A7}"/>
              </a:ext>
            </a:extLst>
          </p:cNvPr>
          <p:cNvPicPr>
            <a:picLocks noChangeAspect="1"/>
          </p:cNvPicPr>
          <p:nvPr/>
        </p:nvPicPr>
        <p:blipFill>
          <a:blip r:embed="rId2"/>
          <a:stretch>
            <a:fillRect/>
          </a:stretch>
        </p:blipFill>
        <p:spPr>
          <a:xfrm>
            <a:off x="1006771" y="1171260"/>
            <a:ext cx="7130458" cy="451548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AF4BC4A-EFCB-8332-3791-C3ED8C4C3BC0}"/>
                  </a:ext>
                </a:extLst>
              </p14:cNvPr>
              <p14:cNvContentPartPr/>
              <p14:nvPr/>
            </p14:nvContentPartPr>
            <p14:xfrm>
              <a:off x="7462080" y="2505716"/>
              <a:ext cx="551610" cy="25650"/>
            </p14:xfrm>
          </p:contentPart>
        </mc:Choice>
        <mc:Fallback xmlns="">
          <p:pic>
            <p:nvPicPr>
              <p:cNvPr id="4" name="Ink 3">
                <a:extLst>
                  <a:ext uri="{FF2B5EF4-FFF2-40B4-BE49-F238E27FC236}">
                    <a16:creationId xmlns:a16="http://schemas.microsoft.com/office/drawing/2014/main" id="{9AF4BC4A-EFCB-8332-3791-C3ED8C4C3BC0}"/>
                  </a:ext>
                </a:extLst>
              </p:cNvPr>
              <p:cNvPicPr/>
              <p:nvPr/>
            </p:nvPicPr>
            <p:blipFill>
              <a:blip r:embed="rId4"/>
              <a:stretch>
                <a:fillRect/>
              </a:stretch>
            </p:blipFill>
            <p:spPr>
              <a:xfrm>
                <a:off x="7408071" y="2397336"/>
                <a:ext cx="659268" cy="242049"/>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26CE0153-8844-EF4D-A6C2-54CAE3A9D0E4}"/>
                  </a:ext>
                </a:extLst>
              </p14:cNvPr>
              <p14:cNvContentPartPr/>
              <p14:nvPr/>
            </p14:nvContentPartPr>
            <p14:xfrm>
              <a:off x="7494750" y="5420096"/>
              <a:ext cx="497070" cy="28890"/>
            </p14:xfrm>
          </p:contentPart>
        </mc:Choice>
        <mc:Fallback xmlns="">
          <p:pic>
            <p:nvPicPr>
              <p:cNvPr id="5" name="Ink 4">
                <a:extLst>
                  <a:ext uri="{FF2B5EF4-FFF2-40B4-BE49-F238E27FC236}">
                    <a16:creationId xmlns:a16="http://schemas.microsoft.com/office/drawing/2014/main" id="{26CE0153-8844-EF4D-A6C2-54CAE3A9D0E4}"/>
                  </a:ext>
                </a:extLst>
              </p:cNvPr>
              <p:cNvPicPr/>
              <p:nvPr/>
            </p:nvPicPr>
            <p:blipFill>
              <a:blip r:embed="rId6"/>
              <a:stretch>
                <a:fillRect/>
              </a:stretch>
            </p:blipFill>
            <p:spPr>
              <a:xfrm>
                <a:off x="7441120" y="5313096"/>
                <a:ext cx="604691" cy="242533"/>
              </a:xfrm>
              <a:prstGeom prst="rect">
                <a:avLst/>
              </a:prstGeom>
            </p:spPr>
          </p:pic>
        </mc:Fallback>
      </mc:AlternateContent>
      <p:sp>
        <p:nvSpPr>
          <p:cNvPr id="2" name="Title 1">
            <a:extLst>
              <a:ext uri="{FF2B5EF4-FFF2-40B4-BE49-F238E27FC236}">
                <a16:creationId xmlns:a16="http://schemas.microsoft.com/office/drawing/2014/main" id="{141BAA1A-5B48-66E8-936D-9D74A4CABCC8}"/>
              </a:ext>
            </a:extLst>
          </p:cNvPr>
          <p:cNvSpPr txBox="1">
            <a:spLocks/>
          </p:cNvSpPr>
          <p:nvPr/>
        </p:nvSpPr>
        <p:spPr>
          <a:xfrm>
            <a:off x="685800" y="8021"/>
            <a:ext cx="7772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r>
              <a:rPr lang="en-US" b="1" kern="0" dirty="0">
                <a:solidFill>
                  <a:srgbClr val="003399"/>
                </a:solidFill>
              </a:rPr>
              <a:t>Solution</a:t>
            </a:r>
          </a:p>
        </p:txBody>
      </p:sp>
    </p:spTree>
    <p:extLst>
      <p:ext uri="{BB962C8B-B14F-4D97-AF65-F5344CB8AC3E}">
        <p14:creationId xmlns:p14="http://schemas.microsoft.com/office/powerpoint/2010/main" val="888581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a:extLst>
              <a:ext uri="{FF2B5EF4-FFF2-40B4-BE49-F238E27FC236}">
                <a16:creationId xmlns:a16="http://schemas.microsoft.com/office/drawing/2014/main" id="{99944D4B-3B09-00BB-151D-2EDAB9947AEA}"/>
              </a:ext>
            </a:extLst>
          </p:cNvPr>
          <p:cNvSpPr>
            <a:spLocks noGrp="1"/>
          </p:cNvSpPr>
          <p:nvPr>
            <p:ph type="title"/>
          </p:nvPr>
        </p:nvSpPr>
        <p:spPr>
          <a:xfrm>
            <a:off x="685800" y="152400"/>
            <a:ext cx="7772400" cy="1143000"/>
          </a:xfrm>
        </p:spPr>
        <p:txBody>
          <a:bodyPr/>
          <a:lstStyle/>
          <a:p>
            <a:pPr eaLnBrk="1" hangingPunct="1"/>
            <a:r>
              <a:rPr lang="en-US" altLang="en-US" b="1" dirty="0">
                <a:solidFill>
                  <a:srgbClr val="003399"/>
                </a:solidFill>
              </a:rPr>
              <a:t>Outline</a:t>
            </a:r>
          </a:p>
        </p:txBody>
      </p:sp>
      <p:sp>
        <p:nvSpPr>
          <p:cNvPr id="6147" name="Content Placeholder 3">
            <a:extLst>
              <a:ext uri="{FF2B5EF4-FFF2-40B4-BE49-F238E27FC236}">
                <a16:creationId xmlns:a16="http://schemas.microsoft.com/office/drawing/2014/main" id="{21D277CA-BBDF-3027-9DD8-685FA1E8B7F7}"/>
              </a:ext>
            </a:extLst>
          </p:cNvPr>
          <p:cNvSpPr>
            <a:spLocks noGrp="1"/>
          </p:cNvSpPr>
          <p:nvPr>
            <p:ph idx="1"/>
          </p:nvPr>
        </p:nvSpPr>
        <p:spPr>
          <a:xfrm>
            <a:off x="2514600" y="1447800"/>
            <a:ext cx="5257800" cy="5105400"/>
          </a:xfrm>
        </p:spPr>
        <p:txBody>
          <a:bodyPr/>
          <a:lstStyle/>
          <a:p>
            <a:r>
              <a:rPr lang="en-US" altLang="en-US" sz="2800"/>
              <a:t>Taxable persons</a:t>
            </a:r>
          </a:p>
          <a:p>
            <a:r>
              <a:rPr lang="en-US" altLang="en-US" sz="2800"/>
              <a:t>Sources of income</a:t>
            </a:r>
          </a:p>
          <a:p>
            <a:r>
              <a:rPr lang="en-US" altLang="en-US" sz="2800"/>
              <a:t>Corporate income and tax rates</a:t>
            </a:r>
          </a:p>
          <a:p>
            <a:r>
              <a:rPr lang="en-US" altLang="en-US" sz="2800"/>
              <a:t>Cost of goods sold</a:t>
            </a:r>
          </a:p>
          <a:p>
            <a:r>
              <a:rPr lang="en-US" altLang="en-US" sz="2800"/>
              <a:t>Depreciation allowances</a:t>
            </a:r>
          </a:p>
          <a:p>
            <a:r>
              <a:rPr lang="en-US" altLang="en-US" sz="2800"/>
              <a:t>Financing costs</a:t>
            </a:r>
          </a:p>
          <a:p>
            <a:r>
              <a:rPr lang="en-US" altLang="en-US" sz="2800"/>
              <a:t>Overheads</a:t>
            </a:r>
          </a:p>
          <a:p>
            <a:r>
              <a:rPr lang="en-US" altLang="en-US" sz="2800"/>
              <a:t>Treatment of losses</a:t>
            </a:r>
          </a:p>
          <a:p>
            <a:r>
              <a:rPr lang="en-US" altLang="en-US" sz="2800"/>
              <a:t>Capital gains</a:t>
            </a:r>
          </a:p>
          <a:p>
            <a:endParaRPr lang="en-US" altLang="en-US"/>
          </a:p>
          <a:p>
            <a:endParaRPr lang="en-US" altLang="en-US"/>
          </a:p>
          <a:p>
            <a:endParaRPr lang="en-US" altLang="en-US"/>
          </a:p>
          <a:p>
            <a:endParaRPr lang="en-US" altLang="en-US"/>
          </a:p>
          <a:p>
            <a:endParaRPr lang="en-US" altLang="en-US"/>
          </a:p>
          <a:p>
            <a:endParaRPr lang="en-US" altLang="en-US"/>
          </a:p>
        </p:txBody>
      </p:sp>
      <p:sp>
        <p:nvSpPr>
          <p:cNvPr id="6148" name="Slide Number Placeholder 1">
            <a:extLst>
              <a:ext uri="{FF2B5EF4-FFF2-40B4-BE49-F238E27FC236}">
                <a16:creationId xmlns:a16="http://schemas.microsoft.com/office/drawing/2014/main" id="{E6379B42-007E-19E4-44A2-CE150353B4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CF2C7E-FC60-4959-B116-217D92BB9079}" type="slidenum">
              <a:rPr lang="en-US" altLang="en-US" sz="1400"/>
              <a:pPr>
                <a:spcBef>
                  <a:spcPct val="0"/>
                </a:spcBef>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9910AC7-F379-9BD6-24DF-E8D560CA4ACD}"/>
              </a:ext>
            </a:extLst>
          </p:cNvPr>
          <p:cNvSpPr>
            <a:spLocks noGrp="1" noChangeArrowheads="1"/>
          </p:cNvSpPr>
          <p:nvPr>
            <p:ph type="title"/>
          </p:nvPr>
        </p:nvSpPr>
        <p:spPr>
          <a:xfrm>
            <a:off x="685800" y="228600"/>
            <a:ext cx="7772400" cy="609600"/>
          </a:xfrm>
        </p:spPr>
        <p:txBody>
          <a:bodyPr/>
          <a:lstStyle/>
          <a:p>
            <a:pPr eaLnBrk="1" hangingPunct="1"/>
            <a:r>
              <a:rPr lang="en-US" altLang="en-US" b="1" dirty="0">
                <a:solidFill>
                  <a:srgbClr val="003399"/>
                </a:solidFill>
              </a:rPr>
              <a:t>Corporate Income Tax </a:t>
            </a:r>
          </a:p>
        </p:txBody>
      </p:sp>
      <p:sp>
        <p:nvSpPr>
          <p:cNvPr id="6147" name="Rectangle 3">
            <a:extLst>
              <a:ext uri="{FF2B5EF4-FFF2-40B4-BE49-F238E27FC236}">
                <a16:creationId xmlns:a16="http://schemas.microsoft.com/office/drawing/2014/main" id="{B40F32AC-7977-C029-B267-A9F3A14DD135}"/>
              </a:ext>
            </a:extLst>
          </p:cNvPr>
          <p:cNvSpPr>
            <a:spLocks noGrp="1" noChangeArrowheads="1"/>
          </p:cNvSpPr>
          <p:nvPr>
            <p:ph type="body" idx="1"/>
          </p:nvPr>
        </p:nvSpPr>
        <p:spPr>
          <a:xfrm>
            <a:off x="381000" y="990600"/>
            <a:ext cx="8534400" cy="5029200"/>
          </a:xfrm>
        </p:spPr>
        <p:txBody>
          <a:bodyPr/>
          <a:lstStyle/>
          <a:p>
            <a:pPr eaLnBrk="1" hangingPunct="1">
              <a:lnSpc>
                <a:spcPct val="90000"/>
              </a:lnSpc>
            </a:pPr>
            <a:r>
              <a:rPr lang="en-US" altLang="en-US" sz="2000" dirty="0">
                <a:cs typeface="Times New Roman" panose="02020603050405020304" pitchFamily="18" charset="0"/>
              </a:rPr>
              <a:t>Corporations and their taxation are treated as </a:t>
            </a:r>
            <a:r>
              <a:rPr lang="en-US" altLang="en-US" sz="2000" b="1" dirty="0">
                <a:cs typeface="Times New Roman" panose="02020603050405020304" pitchFamily="18" charset="0"/>
              </a:rPr>
              <a:t>legal entities or legal persons separate from their owners</a:t>
            </a:r>
            <a:r>
              <a:rPr lang="en-US" altLang="en-US" sz="2000" dirty="0">
                <a:cs typeface="Times New Roman" panose="02020603050405020304" pitchFamily="18" charset="0"/>
              </a:rPr>
              <a:t>.  </a:t>
            </a:r>
          </a:p>
          <a:p>
            <a:pPr eaLnBrk="1" hangingPunct="1">
              <a:lnSpc>
                <a:spcPct val="90000"/>
              </a:lnSpc>
            </a:pPr>
            <a:r>
              <a:rPr lang="en-US" altLang="en-US" sz="2000" dirty="0">
                <a:cs typeface="Times New Roman" panose="02020603050405020304" pitchFamily="18" charset="0"/>
              </a:rPr>
              <a:t>Why are Corporations taxed as they are not living persons?</a:t>
            </a:r>
          </a:p>
          <a:p>
            <a:pPr eaLnBrk="1" hangingPunct="1">
              <a:lnSpc>
                <a:spcPct val="90000"/>
              </a:lnSpc>
            </a:pPr>
            <a:r>
              <a:rPr lang="en-US" altLang="en-US" sz="2000" dirty="0">
                <a:cs typeface="Times New Roman" panose="02020603050405020304" pitchFamily="18" charset="0"/>
              </a:rPr>
              <a:t>Issues of </a:t>
            </a:r>
            <a:r>
              <a:rPr lang="en-US" altLang="en-US" sz="2000" b="1" dirty="0">
                <a:cs typeface="Times New Roman" panose="02020603050405020304" pitchFamily="18" charset="0"/>
              </a:rPr>
              <a:t>integration</a:t>
            </a:r>
            <a:r>
              <a:rPr lang="en-US" altLang="en-US" sz="2000" dirty="0">
                <a:cs typeface="Times New Roman" panose="02020603050405020304" pitchFamily="18" charset="0"/>
              </a:rPr>
              <a:t> of corporate with personal income tax for </a:t>
            </a:r>
            <a:r>
              <a:rPr lang="en-US" altLang="en-US" sz="2000" b="1" dirty="0">
                <a:cs typeface="Times New Roman" panose="02020603050405020304" pitchFamily="18" charset="0"/>
              </a:rPr>
              <a:t>resident owners</a:t>
            </a:r>
            <a:r>
              <a:rPr lang="en-US" altLang="en-US" sz="2000" dirty="0">
                <a:cs typeface="Times New Roman" panose="02020603050405020304" pitchFamily="18" charset="0"/>
              </a:rPr>
              <a:t> and </a:t>
            </a:r>
            <a:r>
              <a:rPr lang="en-US" altLang="en-US" sz="2000" b="1" dirty="0">
                <a:cs typeface="Times New Roman" panose="02020603050405020304" pitchFamily="18" charset="0"/>
              </a:rPr>
              <a:t>harmonization</a:t>
            </a:r>
            <a:r>
              <a:rPr lang="en-US" altLang="en-US" sz="2000" dirty="0">
                <a:cs typeface="Times New Roman" panose="02020603050405020304" pitchFamily="18" charset="0"/>
              </a:rPr>
              <a:t> of tax with foreign jurisdiction for </a:t>
            </a:r>
            <a:r>
              <a:rPr lang="en-US" altLang="en-US" sz="2000" b="1" dirty="0">
                <a:cs typeface="Times New Roman" panose="02020603050405020304" pitchFamily="18" charset="0"/>
              </a:rPr>
              <a:t>owners of non-resident corporations become relevant</a:t>
            </a:r>
          </a:p>
          <a:p>
            <a:pPr eaLnBrk="1" hangingPunct="1">
              <a:lnSpc>
                <a:spcPct val="90000"/>
              </a:lnSpc>
            </a:pPr>
            <a:endParaRPr lang="en-US" altLang="en-US" sz="2000" dirty="0">
              <a:cs typeface="Times New Roman" panose="02020603050405020304" pitchFamily="18" charset="0"/>
            </a:endParaRPr>
          </a:p>
          <a:p>
            <a:pPr eaLnBrk="1" hangingPunct="1">
              <a:lnSpc>
                <a:spcPct val="90000"/>
              </a:lnSpc>
            </a:pPr>
            <a:r>
              <a:rPr lang="en-US" altLang="en-US" sz="2800" i="1" dirty="0">
                <a:cs typeface="Times New Roman" panose="02020603050405020304" pitchFamily="18" charset="0"/>
              </a:rPr>
              <a:t>The taxation of income from Corporations is fundamentally no different from the taxation of any other kind of business income</a:t>
            </a:r>
          </a:p>
          <a:p>
            <a:pPr lvl="1" eaLnBrk="1" hangingPunct="1">
              <a:lnSpc>
                <a:spcPct val="90000"/>
              </a:lnSpc>
            </a:pPr>
            <a:r>
              <a:rPr lang="en-US" altLang="en-US" sz="2000" dirty="0">
                <a:ea typeface="+mn-ea"/>
                <a:cs typeface="Times New Roman" panose="02020603050405020304" pitchFamily="18" charset="0"/>
              </a:rPr>
              <a:t>Even individuals could earn business Income and would be taxed just like corporations except that corporations could have an additional step that they distribute their post taxed income to their shareholders as dividend</a:t>
            </a:r>
          </a:p>
          <a:p>
            <a:pPr lvl="1" eaLnBrk="1" hangingPunct="1">
              <a:lnSpc>
                <a:spcPct val="90000"/>
              </a:lnSpc>
            </a:pPr>
            <a:r>
              <a:rPr lang="en-US" altLang="en-US" sz="2000" dirty="0">
                <a:ea typeface="+mn-ea"/>
                <a:cs typeface="Times New Roman" panose="02020603050405020304" pitchFamily="18" charset="0"/>
              </a:rPr>
              <a:t>Further Corporations don’t earn employment Income</a:t>
            </a:r>
          </a:p>
        </p:txBody>
      </p:sp>
      <p:sp>
        <p:nvSpPr>
          <p:cNvPr id="6148" name="Slide Number Placeholder 1">
            <a:extLst>
              <a:ext uri="{FF2B5EF4-FFF2-40B4-BE49-F238E27FC236}">
                <a16:creationId xmlns:a16="http://schemas.microsoft.com/office/drawing/2014/main" id="{1B033AE3-1709-A9F9-A9D2-B4A5E85885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C34EE3E8-7D60-434F-B5AB-CFDA5D7C8332}" type="slidenum">
              <a:rPr lang="en-US" altLang="en-US" sz="1400">
                <a:latin typeface="Times New Roman" panose="02020603050405020304" pitchFamily="18" charset="0"/>
              </a:rPr>
              <a:pPr>
                <a:spcBef>
                  <a:spcPct val="0"/>
                </a:spcBef>
                <a:buFontTx/>
                <a:buNone/>
              </a:pPr>
              <a:t>10</a:t>
            </a:fld>
            <a:endParaRPr lang="en-US" altLang="en-US"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20A9D03-3C79-D8EF-EBE0-CEA5A54633FA}"/>
              </a:ext>
            </a:extLst>
          </p:cNvPr>
          <p:cNvSpPr>
            <a:spLocks noGrp="1" noChangeArrowheads="1"/>
          </p:cNvSpPr>
          <p:nvPr>
            <p:ph type="title"/>
          </p:nvPr>
        </p:nvSpPr>
        <p:spPr>
          <a:xfrm>
            <a:off x="673100" y="0"/>
            <a:ext cx="7772400" cy="1143000"/>
          </a:xfrm>
        </p:spPr>
        <p:txBody>
          <a:bodyPr/>
          <a:lstStyle/>
          <a:p>
            <a:pPr eaLnBrk="1" hangingPunct="1"/>
            <a:r>
              <a:rPr lang="en-US" altLang="en-US" b="1" dirty="0">
                <a:solidFill>
                  <a:srgbClr val="003399"/>
                </a:solidFill>
              </a:rPr>
              <a:t>Business Income</a:t>
            </a:r>
          </a:p>
        </p:txBody>
      </p:sp>
      <p:sp>
        <p:nvSpPr>
          <p:cNvPr id="3" name="Content Placeholder 2">
            <a:extLst>
              <a:ext uri="{FF2B5EF4-FFF2-40B4-BE49-F238E27FC236}">
                <a16:creationId xmlns:a16="http://schemas.microsoft.com/office/drawing/2014/main" id="{5CBE1655-E1EB-4C06-81FD-0AB152B8E1E7}"/>
              </a:ext>
            </a:extLst>
          </p:cNvPr>
          <p:cNvSpPr>
            <a:spLocks noGrp="1"/>
          </p:cNvSpPr>
          <p:nvPr>
            <p:ph idx="1"/>
          </p:nvPr>
        </p:nvSpPr>
        <p:spPr>
          <a:xfrm>
            <a:off x="685800" y="1066800"/>
            <a:ext cx="7772400" cy="5029200"/>
          </a:xfrm>
        </p:spPr>
        <p:txBody>
          <a:bodyPr/>
          <a:lstStyle/>
          <a:p>
            <a:pPr eaLnBrk="1" hangingPunct="1">
              <a:lnSpc>
                <a:spcPct val="90000"/>
              </a:lnSpc>
              <a:defRPr/>
            </a:pPr>
            <a:r>
              <a:rPr lang="en-US" altLang="en-US" sz="2000" b="1" dirty="0">
                <a:cs typeface="Times New Roman" panose="02020603050405020304" pitchFamily="18" charset="0"/>
              </a:rPr>
              <a:t>Definition of business income:  Using the same definition as personal income from the </a:t>
            </a:r>
            <a:r>
              <a:rPr lang="en-US" altLang="en-US" sz="2000" b="1" i="1" dirty="0">
                <a:solidFill>
                  <a:srgbClr val="FF0000"/>
                </a:solidFill>
                <a:cs typeface="Times New Roman" panose="02020603050405020304" pitchFamily="18" charset="0"/>
              </a:rPr>
              <a:t>uses side of income</a:t>
            </a:r>
            <a:r>
              <a:rPr lang="en-US" altLang="en-US" sz="2000" b="1" dirty="0">
                <a:cs typeface="Times New Roman" panose="02020603050405020304" pitchFamily="18" charset="0"/>
              </a:rPr>
              <a:t>:</a:t>
            </a:r>
            <a:endParaRPr lang="en-US" altLang="en-US" sz="2000" b="1" dirty="0">
              <a:latin typeface="Courier New" panose="02070309020205020404" pitchFamily="49" charset="0"/>
              <a:cs typeface="Times New Roman" panose="02020603050405020304" pitchFamily="18" charset="0"/>
            </a:endParaRPr>
          </a:p>
          <a:p>
            <a:pPr marL="0" indent="0" eaLnBrk="1" hangingPunct="1">
              <a:lnSpc>
                <a:spcPct val="90000"/>
              </a:lnSpc>
              <a:buFontTx/>
              <a:buNone/>
              <a:defRPr/>
            </a:pPr>
            <a:r>
              <a:rPr lang="en-US" altLang="en-US" sz="2000" dirty="0">
                <a:cs typeface="Times New Roman" panose="02020603050405020304" pitchFamily="18" charset="0"/>
              </a:rPr>
              <a:t>    </a:t>
            </a:r>
          </a:p>
          <a:p>
            <a:pPr marL="0" indent="0" algn="ctr" eaLnBrk="1" hangingPunct="1">
              <a:lnSpc>
                <a:spcPct val="90000"/>
              </a:lnSpc>
              <a:buFontTx/>
              <a:buNone/>
              <a:defRPr/>
            </a:pPr>
            <a:r>
              <a:rPr lang="en-US" altLang="en-US" sz="2000" b="1" dirty="0">
                <a:cs typeface="Times New Roman" panose="02020603050405020304" pitchFamily="18" charset="0"/>
              </a:rPr>
              <a:t>Income = Consumption + Change in net worth</a:t>
            </a:r>
            <a:endParaRPr lang="en-US" altLang="en-US" sz="2000" b="1" dirty="0">
              <a:latin typeface="Courier New" panose="02070309020205020404" pitchFamily="49" charset="0"/>
              <a:cs typeface="Times New Roman" panose="02020603050405020304" pitchFamily="18" charset="0"/>
            </a:endParaRPr>
          </a:p>
          <a:p>
            <a:pPr marL="0" indent="0" eaLnBrk="1" hangingPunct="1">
              <a:lnSpc>
                <a:spcPct val="90000"/>
              </a:lnSpc>
              <a:buFontTx/>
              <a:buNone/>
              <a:defRPr/>
            </a:pPr>
            <a:r>
              <a:rPr lang="en-US" altLang="en-US" sz="2000" dirty="0">
                <a:cs typeface="Times New Roman" panose="02020603050405020304" pitchFamily="18" charset="0"/>
              </a:rPr>
              <a:t>    		</a:t>
            </a:r>
            <a:r>
              <a:rPr lang="en-US" altLang="en-US" sz="2000" b="1" dirty="0">
                <a:cs typeface="Times New Roman" panose="02020603050405020304" pitchFamily="18" charset="0"/>
              </a:rPr>
              <a:t>Consumption =</a:t>
            </a:r>
            <a:r>
              <a:rPr lang="en-US" altLang="en-US" sz="2000" dirty="0">
                <a:cs typeface="Times New Roman" panose="02020603050405020304" pitchFamily="18" charset="0"/>
              </a:rPr>
              <a:t> payment of dividends (in the case of corporations) </a:t>
            </a:r>
            <a:endParaRPr lang="en-US" altLang="en-US" sz="2000" dirty="0">
              <a:latin typeface="Courier New" panose="02070309020205020404" pitchFamily="49" charset="0"/>
              <a:cs typeface="Times New Roman" panose="02020603050405020304" pitchFamily="18" charset="0"/>
            </a:endParaRPr>
          </a:p>
          <a:p>
            <a:pPr marL="0" indent="0" eaLnBrk="1" hangingPunct="1">
              <a:lnSpc>
                <a:spcPct val="90000"/>
              </a:lnSpc>
              <a:buFontTx/>
              <a:buNone/>
              <a:defRPr/>
            </a:pPr>
            <a:r>
              <a:rPr lang="en-US" altLang="en-US" sz="2000" dirty="0">
                <a:cs typeface="Times New Roman" panose="02020603050405020304" pitchFamily="18" charset="0"/>
              </a:rPr>
              <a:t>    		</a:t>
            </a:r>
            <a:r>
              <a:rPr lang="en-US" altLang="en-US" sz="2000" b="1" dirty="0">
                <a:cs typeface="Times New Roman" panose="02020603050405020304" pitchFamily="18" charset="0"/>
              </a:rPr>
              <a:t>Change in net worth</a:t>
            </a:r>
            <a:r>
              <a:rPr lang="en-US" altLang="en-US" sz="2000" dirty="0">
                <a:cs typeface="Times New Roman" panose="02020603050405020304" pitchFamily="18" charset="0"/>
              </a:rPr>
              <a:t> = retained earnings + 			capital gains/losses on assets and liabilities.  </a:t>
            </a:r>
          </a:p>
          <a:p>
            <a:pPr eaLnBrk="1" hangingPunct="1">
              <a:lnSpc>
                <a:spcPct val="90000"/>
              </a:lnSpc>
              <a:defRPr/>
            </a:pPr>
            <a:endParaRPr lang="en-US" altLang="en-US" sz="2000" dirty="0">
              <a:cs typeface="Times New Roman" panose="02020603050405020304" pitchFamily="18" charset="0"/>
            </a:endParaRPr>
          </a:p>
          <a:p>
            <a:pPr eaLnBrk="1" hangingPunct="1">
              <a:lnSpc>
                <a:spcPct val="90000"/>
              </a:lnSpc>
              <a:defRPr/>
            </a:pPr>
            <a:r>
              <a:rPr lang="en-US" altLang="en-US" sz="2000" dirty="0">
                <a:cs typeface="Times New Roman" panose="02020603050405020304" pitchFamily="18" charset="0"/>
              </a:rPr>
              <a:t>However, post taxed incomes of Corporation when distributed to shareholders as dividend are taxed again in the hands of the receiver</a:t>
            </a:r>
          </a:p>
          <a:p>
            <a:pPr eaLnBrk="1" hangingPunct="1">
              <a:lnSpc>
                <a:spcPct val="90000"/>
              </a:lnSpc>
              <a:defRPr/>
            </a:pPr>
            <a:r>
              <a:rPr lang="en-US" altLang="en-US" sz="2000" dirty="0">
                <a:cs typeface="Times New Roman" panose="02020603050405020304" pitchFamily="18" charset="0"/>
              </a:rPr>
              <a:t>Retained earnings are post-taxed incomes that are not distributed to shareholders but retained for future investments.</a:t>
            </a:r>
          </a:p>
          <a:p>
            <a:pPr eaLnBrk="1" hangingPunct="1">
              <a:lnSpc>
                <a:spcPct val="90000"/>
              </a:lnSpc>
              <a:defRPr/>
            </a:pPr>
            <a:r>
              <a:rPr lang="en-US" altLang="en-US" sz="2000" dirty="0">
                <a:cs typeface="Times New Roman" panose="02020603050405020304" pitchFamily="18" charset="0"/>
              </a:rPr>
              <a:t>Value of the Corporation (market value of all its shares) should be equal to the present value of all future incomes that it generates (including assets it owns when sold on liquidation)  </a:t>
            </a:r>
          </a:p>
          <a:p>
            <a:pPr>
              <a:defRPr/>
            </a:pPr>
            <a:endParaRPr lang="en-US" sz="2000" dirty="0"/>
          </a:p>
        </p:txBody>
      </p:sp>
      <p:sp>
        <p:nvSpPr>
          <p:cNvPr id="8196" name="Slide Number Placeholder 3">
            <a:extLst>
              <a:ext uri="{FF2B5EF4-FFF2-40B4-BE49-F238E27FC236}">
                <a16:creationId xmlns:a16="http://schemas.microsoft.com/office/drawing/2014/main" id="{2534CA90-D781-DA51-31B8-484F7F0C79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509A05EE-FB66-4B52-A84C-1F0CE60B75C7}" type="slidenum">
              <a:rPr lang="en-US" altLang="en-US" sz="1400">
                <a:latin typeface="Times New Roman" panose="02020603050405020304" pitchFamily="18" charset="0"/>
              </a:rPr>
              <a:pPr>
                <a:spcBef>
                  <a:spcPct val="0"/>
                </a:spcBef>
                <a:buFontTx/>
                <a:buNone/>
              </a:pPr>
              <a:t>11</a:t>
            </a:fld>
            <a:endParaRPr lang="en-US" altLang="en-US" sz="140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A91FB-E049-4D24-9E0B-FFD32EB49B5F}"/>
              </a:ext>
            </a:extLst>
          </p:cNvPr>
          <p:cNvSpPr>
            <a:spLocks noGrp="1"/>
          </p:cNvSpPr>
          <p:nvPr>
            <p:ph type="title"/>
          </p:nvPr>
        </p:nvSpPr>
        <p:spPr/>
        <p:txBody>
          <a:bodyPr/>
          <a:lstStyle/>
          <a:p>
            <a:pPr algn="ctr">
              <a:defRPr/>
            </a:pPr>
            <a:r>
              <a:rPr lang="en-US" sz="4400" dirty="0">
                <a:solidFill>
                  <a:srgbClr val="003399"/>
                </a:solidFill>
              </a:rPr>
              <a:t>Business income as viewed by an Accountant</a:t>
            </a:r>
            <a:br>
              <a:rPr lang="en-US" dirty="0"/>
            </a:br>
            <a:endParaRPr lang="en-US" dirty="0"/>
          </a:p>
        </p:txBody>
      </p:sp>
      <p:sp>
        <p:nvSpPr>
          <p:cNvPr id="9219" name="Text Placeholder 2">
            <a:extLst>
              <a:ext uri="{FF2B5EF4-FFF2-40B4-BE49-F238E27FC236}">
                <a16:creationId xmlns:a16="http://schemas.microsoft.com/office/drawing/2014/main" id="{CB910F02-50E8-1B38-8D0F-4B4201CA183A}"/>
              </a:ext>
            </a:extLst>
          </p:cNvPr>
          <p:cNvSpPr>
            <a:spLocks noGrp="1" noChangeArrowheads="1"/>
          </p:cNvSpPr>
          <p:nvPr>
            <p:ph type="body" idx="1"/>
          </p:nvPr>
        </p:nvSpPr>
        <p:spPr/>
        <p:txBody>
          <a:bodyPr/>
          <a:lstStyle/>
          <a:p>
            <a:endParaRPr lang="en-US" altLang="en-US"/>
          </a:p>
        </p:txBody>
      </p:sp>
      <p:sp>
        <p:nvSpPr>
          <p:cNvPr id="9220" name="Slide Number Placeholder 3">
            <a:extLst>
              <a:ext uri="{FF2B5EF4-FFF2-40B4-BE49-F238E27FC236}">
                <a16:creationId xmlns:a16="http://schemas.microsoft.com/office/drawing/2014/main" id="{AAE3748C-A7B3-5677-D39F-EAF6D690D2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06511AAD-6553-4737-966B-9D218B02B263}" type="slidenum">
              <a:rPr lang="en-US" altLang="en-US" sz="1400">
                <a:latin typeface="Times New Roman" panose="02020603050405020304" pitchFamily="18" charset="0"/>
              </a:rPr>
              <a:pPr>
                <a:spcBef>
                  <a:spcPct val="0"/>
                </a:spcBef>
                <a:buFontTx/>
                <a:buNone/>
              </a:pPr>
              <a:t>12</a:t>
            </a:fld>
            <a:endParaRPr lang="en-US" altLang="en-US" sz="14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182196F-AE68-56CB-B8BE-B34C2F794F7F}"/>
              </a:ext>
            </a:extLst>
          </p:cNvPr>
          <p:cNvSpPr>
            <a:spLocks noGrp="1" noChangeArrowheads="1"/>
          </p:cNvSpPr>
          <p:nvPr>
            <p:ph type="title"/>
          </p:nvPr>
        </p:nvSpPr>
        <p:spPr>
          <a:xfrm>
            <a:off x="685800" y="269875"/>
            <a:ext cx="7772400" cy="1143000"/>
          </a:xfrm>
        </p:spPr>
        <p:txBody>
          <a:bodyPr/>
          <a:lstStyle/>
          <a:p>
            <a:r>
              <a:rPr lang="en-US" altLang="en-US" b="1" dirty="0">
                <a:solidFill>
                  <a:srgbClr val="003399"/>
                </a:solidFill>
              </a:rPr>
              <a:t>Income Statement Example</a:t>
            </a:r>
          </a:p>
        </p:txBody>
      </p:sp>
      <p:pic>
        <p:nvPicPr>
          <p:cNvPr id="10243" name="Picture 4">
            <a:extLst>
              <a:ext uri="{FF2B5EF4-FFF2-40B4-BE49-F238E27FC236}">
                <a16:creationId xmlns:a16="http://schemas.microsoft.com/office/drawing/2014/main" id="{3DDCC0ED-99C6-E3D9-8C21-98F17C4973C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45212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5">
            <a:extLst>
              <a:ext uri="{FF2B5EF4-FFF2-40B4-BE49-F238E27FC236}">
                <a16:creationId xmlns:a16="http://schemas.microsoft.com/office/drawing/2014/main" id="{DCC2AC17-CDB5-9414-064D-D6B230706715}"/>
              </a:ext>
            </a:extLst>
          </p:cNvPr>
          <p:cNvSpPr txBox="1">
            <a:spLocks noChangeArrowheads="1"/>
          </p:cNvSpPr>
          <p:nvPr/>
        </p:nvSpPr>
        <p:spPr bwMode="auto">
          <a:xfrm>
            <a:off x="2057400" y="6438900"/>
            <a:ext cx="4521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r>
              <a:rPr lang="en-US" altLang="en-US" sz="1000">
                <a:latin typeface="Times New Roman" panose="02020603050405020304" pitchFamily="18" charset="0"/>
              </a:rPr>
              <a:t>Source: Accounting Coach.com</a:t>
            </a:r>
          </a:p>
        </p:txBody>
      </p:sp>
      <p:sp>
        <p:nvSpPr>
          <p:cNvPr id="10245" name="Slide Number Placeholder 7">
            <a:extLst>
              <a:ext uri="{FF2B5EF4-FFF2-40B4-BE49-F238E27FC236}">
                <a16:creationId xmlns:a16="http://schemas.microsoft.com/office/drawing/2014/main" id="{F3BFDA03-0A38-D440-1E66-39AC306CEF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673F2D6C-C78A-44EB-BD11-615A5E0806A0}" type="slidenum">
              <a:rPr lang="en-US" altLang="en-US" sz="1400">
                <a:latin typeface="Times New Roman" panose="02020603050405020304" pitchFamily="18" charset="0"/>
              </a:rPr>
              <a:pPr>
                <a:spcBef>
                  <a:spcPct val="0"/>
                </a:spcBef>
                <a:buFontTx/>
                <a:buNone/>
              </a:pPr>
              <a:t>13</a:t>
            </a:fld>
            <a:endParaRPr lang="en-US" altLang="en-US" sz="1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CF694DB-10E0-C87C-2EF8-4E9BBFF0503E}"/>
              </a:ext>
            </a:extLst>
          </p:cNvPr>
          <p:cNvSpPr>
            <a:spLocks noGrp="1" noChangeArrowheads="1"/>
          </p:cNvSpPr>
          <p:nvPr>
            <p:ph type="title"/>
          </p:nvPr>
        </p:nvSpPr>
        <p:spPr>
          <a:xfrm>
            <a:off x="685800" y="269875"/>
            <a:ext cx="7772400" cy="1143000"/>
          </a:xfrm>
        </p:spPr>
        <p:txBody>
          <a:bodyPr/>
          <a:lstStyle/>
          <a:p>
            <a:r>
              <a:rPr lang="en-US" altLang="en-US" b="1" dirty="0">
                <a:solidFill>
                  <a:srgbClr val="003399"/>
                </a:solidFill>
              </a:rPr>
              <a:t>Balance Sheet Example</a:t>
            </a:r>
          </a:p>
        </p:txBody>
      </p:sp>
      <p:pic>
        <p:nvPicPr>
          <p:cNvPr id="11267" name="Content Placeholder 3">
            <a:extLst>
              <a:ext uri="{FF2B5EF4-FFF2-40B4-BE49-F238E27FC236}">
                <a16:creationId xmlns:a16="http://schemas.microsoft.com/office/drawing/2014/main" id="{28FB2610-2817-8E4A-DA08-13C9ED121AF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62000" y="1600200"/>
            <a:ext cx="6858000" cy="4838700"/>
          </a:xfrm>
        </p:spPr>
      </p:pic>
      <p:sp>
        <p:nvSpPr>
          <p:cNvPr id="11268" name="TextBox 5">
            <a:extLst>
              <a:ext uri="{FF2B5EF4-FFF2-40B4-BE49-F238E27FC236}">
                <a16:creationId xmlns:a16="http://schemas.microsoft.com/office/drawing/2014/main" id="{BCD1C8D8-4B5A-FE52-CCA9-799C78AA2CCF}"/>
              </a:ext>
            </a:extLst>
          </p:cNvPr>
          <p:cNvSpPr txBox="1">
            <a:spLocks noChangeArrowheads="1"/>
          </p:cNvSpPr>
          <p:nvPr/>
        </p:nvSpPr>
        <p:spPr bwMode="auto">
          <a:xfrm>
            <a:off x="762000" y="6486525"/>
            <a:ext cx="45212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r>
              <a:rPr lang="en-US" altLang="en-US" sz="1000">
                <a:latin typeface="Times New Roman" panose="02020603050405020304" pitchFamily="18" charset="0"/>
              </a:rPr>
              <a:t>Source: Accounting Coach.com</a:t>
            </a:r>
          </a:p>
        </p:txBody>
      </p:sp>
      <p:sp>
        <p:nvSpPr>
          <p:cNvPr id="11269" name="Slide Number Placeholder 2">
            <a:extLst>
              <a:ext uri="{FF2B5EF4-FFF2-40B4-BE49-F238E27FC236}">
                <a16:creationId xmlns:a16="http://schemas.microsoft.com/office/drawing/2014/main" id="{054F0F88-ECD5-DE64-61ED-15CD0D54E7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6B374011-FF6D-4E65-A5E2-374F35E5CD15}" type="slidenum">
              <a:rPr lang="en-US" altLang="en-US" sz="1400">
                <a:latin typeface="Times New Roman" panose="02020603050405020304" pitchFamily="18" charset="0"/>
              </a:rPr>
              <a:pPr>
                <a:spcBef>
                  <a:spcPct val="0"/>
                </a:spcBef>
                <a:buFontTx/>
                <a:buNone/>
              </a:pPr>
              <a:t>14</a:t>
            </a:fld>
            <a:endParaRPr lang="en-US" altLang="en-US" sz="140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A91FB-E049-4D24-9E0B-FFD32EB49B5F}"/>
              </a:ext>
            </a:extLst>
          </p:cNvPr>
          <p:cNvSpPr>
            <a:spLocks noGrp="1"/>
          </p:cNvSpPr>
          <p:nvPr>
            <p:ph type="title"/>
          </p:nvPr>
        </p:nvSpPr>
        <p:spPr/>
        <p:txBody>
          <a:bodyPr/>
          <a:lstStyle/>
          <a:p>
            <a:pPr algn="ctr">
              <a:defRPr/>
            </a:pPr>
            <a:r>
              <a:rPr lang="en-US" sz="4400" dirty="0">
                <a:solidFill>
                  <a:srgbClr val="003399"/>
                </a:solidFill>
              </a:rPr>
              <a:t>Business income as viewed by an economist</a:t>
            </a:r>
            <a:br>
              <a:rPr lang="en-US" dirty="0"/>
            </a:br>
            <a:endParaRPr lang="en-US" dirty="0"/>
          </a:p>
        </p:txBody>
      </p:sp>
      <p:sp>
        <p:nvSpPr>
          <p:cNvPr id="13315" name="Text Placeholder 2">
            <a:extLst>
              <a:ext uri="{FF2B5EF4-FFF2-40B4-BE49-F238E27FC236}">
                <a16:creationId xmlns:a16="http://schemas.microsoft.com/office/drawing/2014/main" id="{9E4A80D0-D6CE-1B2D-EA11-E6D189562276}"/>
              </a:ext>
            </a:extLst>
          </p:cNvPr>
          <p:cNvSpPr>
            <a:spLocks noGrp="1" noChangeArrowheads="1"/>
          </p:cNvSpPr>
          <p:nvPr>
            <p:ph type="body" idx="1"/>
          </p:nvPr>
        </p:nvSpPr>
        <p:spPr/>
        <p:txBody>
          <a:bodyPr/>
          <a:lstStyle/>
          <a:p>
            <a:endParaRPr lang="en-US" altLang="en-US"/>
          </a:p>
        </p:txBody>
      </p:sp>
      <p:sp>
        <p:nvSpPr>
          <p:cNvPr id="13316" name="Slide Number Placeholder 3">
            <a:extLst>
              <a:ext uri="{FF2B5EF4-FFF2-40B4-BE49-F238E27FC236}">
                <a16:creationId xmlns:a16="http://schemas.microsoft.com/office/drawing/2014/main" id="{EDF2F0C6-D20E-7E77-013E-5843E739C4B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7E72D668-8A70-4DB2-AEDE-2C14426A1509}" type="slidenum">
              <a:rPr lang="en-US" altLang="en-US" sz="1400">
                <a:latin typeface="Times New Roman" panose="02020603050405020304" pitchFamily="18" charset="0"/>
              </a:rPr>
              <a:pPr>
                <a:spcBef>
                  <a:spcPct val="0"/>
                </a:spcBef>
                <a:buFontTx/>
                <a:buNone/>
              </a:pPr>
              <a:t>15</a:t>
            </a:fld>
            <a:endParaRPr lang="en-US" altLang="en-US" sz="1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D9D5D90-70C7-B66F-417E-AF7D0C485C1E}"/>
              </a:ext>
            </a:extLst>
          </p:cNvPr>
          <p:cNvSpPr>
            <a:spLocks noGrp="1" noChangeArrowheads="1"/>
          </p:cNvSpPr>
          <p:nvPr>
            <p:ph type="title"/>
          </p:nvPr>
        </p:nvSpPr>
        <p:spPr>
          <a:xfrm>
            <a:off x="666750" y="76200"/>
            <a:ext cx="7772400" cy="1143000"/>
          </a:xfrm>
        </p:spPr>
        <p:txBody>
          <a:bodyPr/>
          <a:lstStyle/>
          <a:p>
            <a:r>
              <a:rPr lang="en-US" altLang="en-US" b="1" dirty="0">
                <a:solidFill>
                  <a:srgbClr val="003399"/>
                </a:solidFill>
              </a:rPr>
              <a:t>Taxation of the Firm</a:t>
            </a:r>
          </a:p>
        </p:txBody>
      </p:sp>
      <p:sp>
        <p:nvSpPr>
          <p:cNvPr id="3" name="Content Placeholder 2">
            <a:extLst>
              <a:ext uri="{FF2B5EF4-FFF2-40B4-BE49-F238E27FC236}">
                <a16:creationId xmlns:a16="http://schemas.microsoft.com/office/drawing/2014/main" id="{6522E112-D74C-43FE-8561-413171542322}"/>
              </a:ext>
            </a:extLst>
          </p:cNvPr>
          <p:cNvSpPr>
            <a:spLocks noGrp="1" noRot="1" noChangeAspect="1" noMove="1" noResize="1" noEditPoints="1" noAdjustHandles="1" noChangeArrowheads="1" noChangeShapeType="1" noTextEdit="1"/>
          </p:cNvSpPr>
          <p:nvPr>
            <p:ph idx="1"/>
          </p:nvPr>
        </p:nvSpPr>
        <p:spPr>
          <a:xfrm>
            <a:off x="666750" y="1066800"/>
            <a:ext cx="7867650" cy="4505325"/>
          </a:xfrm>
          <a:blipFill>
            <a:blip r:embed="rId2"/>
            <a:stretch>
              <a:fillRect l="-775" t="-677" r="-155"/>
            </a:stretch>
          </a:blipFill>
        </p:spPr>
        <p:txBody>
          <a:bodyPr/>
          <a:lstStyle/>
          <a:p>
            <a:pPr>
              <a:defRPr/>
            </a:pPr>
            <a:r>
              <a:rPr lang="en-US">
                <a:noFill/>
              </a:rPr>
              <a:t> </a:t>
            </a:r>
          </a:p>
        </p:txBody>
      </p:sp>
      <p:sp>
        <p:nvSpPr>
          <p:cNvPr id="14340" name="Slide Number Placeholder 3">
            <a:extLst>
              <a:ext uri="{FF2B5EF4-FFF2-40B4-BE49-F238E27FC236}">
                <a16:creationId xmlns:a16="http://schemas.microsoft.com/office/drawing/2014/main" id="{EA1542F3-68C5-7698-06F8-BA32D977BA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8F199B42-B8FD-4315-A475-F6B3C5A61E86}" type="slidenum">
              <a:rPr lang="en-US" altLang="en-US" sz="1400">
                <a:latin typeface="Times New Roman" panose="02020603050405020304" pitchFamily="18" charset="0"/>
              </a:rPr>
              <a:pPr>
                <a:spcBef>
                  <a:spcPct val="0"/>
                </a:spcBef>
                <a:buFontTx/>
                <a:buNone/>
              </a:pPr>
              <a:t>16</a:t>
            </a:fld>
            <a:endParaRPr lang="en-US"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3488C5D-172A-D4F7-6972-EB015414B418}"/>
              </a:ext>
            </a:extLst>
          </p:cNvPr>
          <p:cNvSpPr>
            <a:spLocks noGrp="1" noChangeArrowheads="1"/>
          </p:cNvSpPr>
          <p:nvPr>
            <p:ph type="title"/>
          </p:nvPr>
        </p:nvSpPr>
        <p:spPr>
          <a:xfrm>
            <a:off x="666750" y="76200"/>
            <a:ext cx="7772400" cy="1143000"/>
          </a:xfrm>
        </p:spPr>
        <p:txBody>
          <a:bodyPr/>
          <a:lstStyle/>
          <a:p>
            <a:r>
              <a:rPr lang="en-US" altLang="en-US" b="1" dirty="0">
                <a:solidFill>
                  <a:srgbClr val="003399"/>
                </a:solidFill>
              </a:rPr>
              <a:t>Taxation of the Firm</a:t>
            </a:r>
          </a:p>
        </p:txBody>
      </p:sp>
      <p:sp>
        <p:nvSpPr>
          <p:cNvPr id="3" name="Content Placeholder 2">
            <a:extLst>
              <a:ext uri="{FF2B5EF4-FFF2-40B4-BE49-F238E27FC236}">
                <a16:creationId xmlns:a16="http://schemas.microsoft.com/office/drawing/2014/main" id="{6522E112-D74C-43FE-8561-413171542322}"/>
              </a:ext>
            </a:extLst>
          </p:cNvPr>
          <p:cNvSpPr>
            <a:spLocks noGrp="1" noRot="1" noChangeAspect="1" noMove="1" noResize="1" noEditPoints="1" noAdjustHandles="1" noChangeArrowheads="1" noChangeShapeType="1" noTextEdit="1"/>
          </p:cNvSpPr>
          <p:nvPr>
            <p:ph idx="1"/>
          </p:nvPr>
        </p:nvSpPr>
        <p:spPr>
          <a:xfrm>
            <a:off x="666750" y="1066800"/>
            <a:ext cx="7867650" cy="4953000"/>
          </a:xfrm>
          <a:blipFill>
            <a:blip r:embed="rId2"/>
            <a:stretch>
              <a:fillRect l="-620" t="-615"/>
            </a:stretch>
          </a:blipFill>
        </p:spPr>
        <p:txBody>
          <a:bodyPr/>
          <a:lstStyle/>
          <a:p>
            <a:pPr>
              <a:defRPr/>
            </a:pPr>
            <a:r>
              <a:rPr lang="en-US">
                <a:noFill/>
              </a:rPr>
              <a:t> </a:t>
            </a:r>
          </a:p>
        </p:txBody>
      </p:sp>
      <p:sp>
        <p:nvSpPr>
          <p:cNvPr id="15364" name="Slide Number Placeholder 3">
            <a:extLst>
              <a:ext uri="{FF2B5EF4-FFF2-40B4-BE49-F238E27FC236}">
                <a16:creationId xmlns:a16="http://schemas.microsoft.com/office/drawing/2014/main" id="{8A0ECAA5-4ABE-E74C-AFFE-62148341414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04C063E4-68CE-45B3-918E-88BC87D4F6FC}" type="slidenum">
              <a:rPr lang="en-US" altLang="en-US" sz="1400">
                <a:latin typeface="Times New Roman" panose="02020603050405020304" pitchFamily="18" charset="0"/>
              </a:rPr>
              <a:pPr>
                <a:spcBef>
                  <a:spcPct val="0"/>
                </a:spcBef>
                <a:buFontTx/>
                <a:buNone/>
              </a:pPr>
              <a:t>17</a:t>
            </a:fld>
            <a:endParaRPr lang="en-US"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A91FB-E049-4D24-9E0B-FFD32EB49B5F}"/>
              </a:ext>
            </a:extLst>
          </p:cNvPr>
          <p:cNvSpPr>
            <a:spLocks noGrp="1"/>
          </p:cNvSpPr>
          <p:nvPr>
            <p:ph type="title"/>
          </p:nvPr>
        </p:nvSpPr>
        <p:spPr/>
        <p:txBody>
          <a:bodyPr/>
          <a:lstStyle/>
          <a:p>
            <a:pPr algn="ctr">
              <a:defRPr/>
            </a:pPr>
            <a:r>
              <a:rPr lang="en-US" sz="4400" dirty="0">
                <a:solidFill>
                  <a:srgbClr val="003399"/>
                </a:solidFill>
              </a:rPr>
              <a:t>Business income as viewed by a lawyer</a:t>
            </a:r>
          </a:p>
        </p:txBody>
      </p:sp>
      <p:sp>
        <p:nvSpPr>
          <p:cNvPr id="16387" name="Text Placeholder 2">
            <a:extLst>
              <a:ext uri="{FF2B5EF4-FFF2-40B4-BE49-F238E27FC236}">
                <a16:creationId xmlns:a16="http://schemas.microsoft.com/office/drawing/2014/main" id="{23E1A0B3-B3CD-1D36-E3A8-B27E8FB193A4}"/>
              </a:ext>
            </a:extLst>
          </p:cNvPr>
          <p:cNvSpPr>
            <a:spLocks noGrp="1" noChangeArrowheads="1"/>
          </p:cNvSpPr>
          <p:nvPr>
            <p:ph type="body" idx="1"/>
          </p:nvPr>
        </p:nvSpPr>
        <p:spPr/>
        <p:txBody>
          <a:bodyPr/>
          <a:lstStyle/>
          <a:p>
            <a:endParaRPr lang="en-US" altLang="en-US"/>
          </a:p>
        </p:txBody>
      </p:sp>
      <p:sp>
        <p:nvSpPr>
          <p:cNvPr id="16388" name="Slide Number Placeholder 3">
            <a:extLst>
              <a:ext uri="{FF2B5EF4-FFF2-40B4-BE49-F238E27FC236}">
                <a16:creationId xmlns:a16="http://schemas.microsoft.com/office/drawing/2014/main" id="{887BFC8F-0217-1855-98B1-6F7A0E55A3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A71432E5-4509-4482-AA9B-40458080692E}" type="slidenum">
              <a:rPr lang="en-US" altLang="en-US" sz="1400">
                <a:latin typeface="Times New Roman" panose="02020603050405020304" pitchFamily="18" charset="0"/>
              </a:rPr>
              <a:pPr>
                <a:spcBef>
                  <a:spcPct val="0"/>
                </a:spcBef>
                <a:buFontTx/>
                <a:buNone/>
              </a:pPr>
              <a:t>18</a:t>
            </a:fld>
            <a:endParaRPr lang="en-US" altLang="en-US" sz="1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8119390D-48A9-ADCB-29A4-006A920E20FC}"/>
              </a:ext>
            </a:extLst>
          </p:cNvPr>
          <p:cNvSpPr>
            <a:spLocks noGrp="1" noChangeArrowheads="1"/>
          </p:cNvSpPr>
          <p:nvPr>
            <p:ph idx="1"/>
          </p:nvPr>
        </p:nvSpPr>
        <p:spPr>
          <a:xfrm>
            <a:off x="457200" y="685800"/>
            <a:ext cx="7772400" cy="4572000"/>
          </a:xfrm>
        </p:spPr>
        <p:txBody>
          <a:bodyPr/>
          <a:lstStyle/>
          <a:p>
            <a:pPr marL="0" indent="0">
              <a:buFontTx/>
              <a:buNone/>
            </a:pPr>
            <a:r>
              <a:rPr lang="en-US" altLang="en-US" sz="1100" b="1">
                <a:latin typeface="Calibri (Body)"/>
              </a:rPr>
              <a:t>Profits and gains of business or profession</a:t>
            </a:r>
            <a:endParaRPr lang="en-US" altLang="en-US" sz="1100">
              <a:latin typeface="Calibri (Body)"/>
            </a:endParaRPr>
          </a:p>
          <a:p>
            <a:pPr marL="0" indent="0">
              <a:buFontTx/>
              <a:buNone/>
            </a:pPr>
            <a:r>
              <a:rPr lang="en-US" altLang="en-US" sz="1100" b="1">
                <a:latin typeface="Calibri (Body)"/>
              </a:rPr>
              <a:t>28.</a:t>
            </a:r>
            <a:r>
              <a:rPr lang="en-US" altLang="en-US" sz="1100">
                <a:latin typeface="Calibri (Body)"/>
              </a:rPr>
              <a:t> The following income shall be chargeable to income-tax under the head “Profits and gains of business or profession”,—</a:t>
            </a:r>
          </a:p>
          <a:p>
            <a:pPr marL="0" indent="0">
              <a:buFontTx/>
              <a:buNone/>
            </a:pPr>
            <a:r>
              <a:rPr lang="en-US" altLang="en-US" sz="1100">
                <a:latin typeface="Calibri (Body)"/>
              </a:rPr>
              <a:t>(</a:t>
            </a:r>
            <a:r>
              <a:rPr lang="en-US" altLang="en-US" sz="1100" i="1">
                <a:latin typeface="Calibri (Body)"/>
              </a:rPr>
              <a:t>i</a:t>
            </a:r>
            <a:r>
              <a:rPr lang="en-US" altLang="en-US" sz="1100">
                <a:latin typeface="Calibri (Body)"/>
              </a:rPr>
              <a:t>) the profits and gains of any business or profession which was carried on by the assessee at any time during the previous year;</a:t>
            </a:r>
          </a:p>
          <a:p>
            <a:pPr marL="0" indent="0">
              <a:buFontTx/>
              <a:buNone/>
            </a:pPr>
            <a:r>
              <a:rPr lang="en-US" altLang="en-US" sz="1100">
                <a:latin typeface="Calibri (Body)"/>
              </a:rPr>
              <a:t>(</a:t>
            </a:r>
            <a:r>
              <a:rPr lang="en-US" altLang="en-US" sz="1100" i="1">
                <a:latin typeface="Calibri (Body)"/>
              </a:rPr>
              <a:t>ii</a:t>
            </a:r>
            <a:r>
              <a:rPr lang="en-US" altLang="en-US" sz="1100">
                <a:latin typeface="Calibri (Body)"/>
              </a:rPr>
              <a:t>) any compensation or other payment due to or received by,—</a:t>
            </a:r>
          </a:p>
          <a:p>
            <a:pPr marL="0" indent="0">
              <a:buFontTx/>
              <a:buNone/>
            </a:pPr>
            <a:r>
              <a:rPr lang="en-US" altLang="en-US" sz="1100">
                <a:latin typeface="Calibri (Body)"/>
              </a:rPr>
              <a:t>(</a:t>
            </a:r>
            <a:r>
              <a:rPr lang="en-US" altLang="en-US" sz="1100" i="1">
                <a:latin typeface="Calibri (Body)"/>
              </a:rPr>
              <a:t>a</a:t>
            </a:r>
            <a:r>
              <a:rPr lang="en-US" altLang="en-US" sz="1100">
                <a:latin typeface="Calibri (Body)"/>
              </a:rPr>
              <a:t>) any person, by whatever name called, managing the whole or substantially the whole of the affairs of an Indian company, at or in connection with the termination of his management or the modification of the terms and conditions relating thereto;</a:t>
            </a:r>
          </a:p>
          <a:p>
            <a:pPr marL="0" indent="0">
              <a:buFontTx/>
              <a:buNone/>
            </a:pPr>
            <a:r>
              <a:rPr lang="en-US" altLang="en-US" sz="1100">
                <a:latin typeface="Calibri (Body)"/>
              </a:rPr>
              <a:t>(</a:t>
            </a:r>
            <a:r>
              <a:rPr lang="en-US" altLang="en-US" sz="1100" i="1">
                <a:latin typeface="Calibri (Body)"/>
              </a:rPr>
              <a:t>b</a:t>
            </a:r>
            <a:r>
              <a:rPr lang="en-US" altLang="en-US" sz="1100">
                <a:latin typeface="Calibri (Body)"/>
              </a:rPr>
              <a:t>) any person, by whatever name called, managing the whole or substantially the whole of the affairs in India of any other company, at or </a:t>
            </a:r>
            <a:r>
              <a:rPr lang="en-US" altLang="en-US" sz="1100" i="1">
                <a:latin typeface="Calibri (Body)"/>
              </a:rPr>
              <a:t>in</a:t>
            </a:r>
            <a:r>
              <a:rPr lang="en-US" altLang="en-US" sz="1100">
                <a:latin typeface="Calibri (Body)"/>
              </a:rPr>
              <a:t> connection with the termination of his office or the modification of the terms and conditions relating thereto;</a:t>
            </a:r>
          </a:p>
          <a:p>
            <a:pPr marL="0" indent="0">
              <a:buFontTx/>
              <a:buNone/>
            </a:pPr>
            <a:r>
              <a:rPr lang="en-US" altLang="en-US" sz="1100">
                <a:latin typeface="Calibri (Body)"/>
              </a:rPr>
              <a:t>(</a:t>
            </a:r>
            <a:r>
              <a:rPr lang="en-US" altLang="en-US" sz="1100" i="1">
                <a:latin typeface="Calibri (Body)"/>
              </a:rPr>
              <a:t>c</a:t>
            </a:r>
            <a:r>
              <a:rPr lang="en-US" altLang="en-US" sz="1100">
                <a:latin typeface="Calibri (Body)"/>
              </a:rPr>
              <a:t>) any person, by whatever name called, holding an agency in India for any part of the activities relating to the business of any other person, at or in connection with the termination of the agency or the modification of the terms and conditions relating thereto;</a:t>
            </a:r>
          </a:p>
          <a:p>
            <a:pPr marL="0" indent="0">
              <a:buFontTx/>
              <a:buNone/>
            </a:pPr>
            <a:r>
              <a:rPr lang="en-US" altLang="en-US" sz="1100">
                <a:latin typeface="Calibri (Body)"/>
              </a:rPr>
              <a:t>(</a:t>
            </a:r>
            <a:r>
              <a:rPr lang="en-US" altLang="en-US" sz="1100" i="1">
                <a:latin typeface="Calibri (Body)"/>
              </a:rPr>
              <a:t>iii</a:t>
            </a:r>
            <a:r>
              <a:rPr lang="en-US" altLang="en-US" sz="1100">
                <a:latin typeface="Calibri (Body)"/>
              </a:rPr>
              <a:t>) income derived by a trade, professional or similar association from specific services performed for its members.</a:t>
            </a:r>
          </a:p>
          <a:p>
            <a:pPr marL="0" indent="0">
              <a:buFontTx/>
              <a:buNone/>
            </a:pPr>
            <a:r>
              <a:rPr lang="en-US" altLang="en-US" sz="1100" baseline="30000">
                <a:latin typeface="Calibri (Body)"/>
                <a:hlinkClick r:id="rId2"/>
              </a:rPr>
              <a:t>1</a:t>
            </a:r>
            <a:r>
              <a:rPr lang="en-US" altLang="en-US" sz="1100">
                <a:latin typeface="Calibri (Body)"/>
              </a:rPr>
              <a:t>[(</a:t>
            </a:r>
            <a:r>
              <a:rPr lang="en-US" altLang="en-US" sz="1100" i="1">
                <a:latin typeface="Calibri (Body)"/>
              </a:rPr>
              <a:t>iv</a:t>
            </a:r>
            <a:r>
              <a:rPr lang="en-US" altLang="en-US" sz="1100">
                <a:latin typeface="Calibri (Body)"/>
              </a:rPr>
              <a:t>) the value of any benefit or perquisite, whether convertible into money or not, arising from business or the exercise of a profession.]</a:t>
            </a:r>
          </a:p>
          <a:p>
            <a:pPr marL="0" indent="0">
              <a:buFontTx/>
              <a:buNone/>
            </a:pPr>
            <a:r>
              <a:rPr lang="en-US" altLang="en-US" sz="1100" i="1">
                <a:latin typeface="Calibri (Body)"/>
              </a:rPr>
              <a:t>Explanation 1.</a:t>
            </a:r>
            <a:r>
              <a:rPr lang="en-US" altLang="en-US" sz="1100">
                <a:latin typeface="Calibri (Body)"/>
              </a:rPr>
              <a:t>—The profits and gains of a business shall include the profits and gains of managing agency.</a:t>
            </a:r>
          </a:p>
          <a:p>
            <a:pPr marL="0" indent="0">
              <a:buFontTx/>
              <a:buNone/>
            </a:pPr>
            <a:r>
              <a:rPr lang="en-US" altLang="en-US" sz="1100" i="1">
                <a:latin typeface="Calibri (Body)"/>
              </a:rPr>
              <a:t>Explanation</a:t>
            </a:r>
            <a:r>
              <a:rPr lang="en-US" altLang="en-US" sz="1100">
                <a:latin typeface="Calibri (Body)"/>
              </a:rPr>
              <a:t> </a:t>
            </a:r>
            <a:r>
              <a:rPr lang="en-US" altLang="en-US" sz="1100" i="1">
                <a:latin typeface="Calibri (Body)"/>
              </a:rPr>
              <a:t>2.</a:t>
            </a:r>
            <a:r>
              <a:rPr lang="en-US" altLang="en-US" sz="1100">
                <a:latin typeface="Calibri (Body)"/>
              </a:rPr>
              <a:t>—Where speculative transactions carried on by an assessee are of such a nature as to constitute a business, the business (hereinafter referred to as “speculation business”) shall be deemed to be distinct and separate from any other business.</a:t>
            </a:r>
          </a:p>
          <a:p>
            <a:pPr marL="0" indent="0">
              <a:buFontTx/>
              <a:buNone/>
            </a:pPr>
            <a:r>
              <a:rPr lang="en-US" altLang="en-US" sz="1100">
                <a:latin typeface="Calibri (Body)"/>
              </a:rPr>
              <a:t> </a:t>
            </a:r>
          </a:p>
          <a:p>
            <a:pPr marL="0" indent="0">
              <a:buFontTx/>
              <a:buNone/>
            </a:pPr>
            <a:endParaRPr lang="en-US" altLang="en-US">
              <a:latin typeface="Calibri (Body)"/>
            </a:endParaRPr>
          </a:p>
        </p:txBody>
      </p:sp>
      <p:sp>
        <p:nvSpPr>
          <p:cNvPr id="17411" name="Slide Number Placeholder 3">
            <a:extLst>
              <a:ext uri="{FF2B5EF4-FFF2-40B4-BE49-F238E27FC236}">
                <a16:creationId xmlns:a16="http://schemas.microsoft.com/office/drawing/2014/main" id="{26ACD732-3145-EB54-7ABF-E12A96D0DA1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6CC00A75-E956-40D5-A072-C23CEC57C077}" type="slidenum">
              <a:rPr lang="en-US" altLang="en-US" sz="1400">
                <a:latin typeface="Times New Roman" panose="02020603050405020304" pitchFamily="18" charset="0"/>
              </a:rPr>
              <a:pPr>
                <a:spcBef>
                  <a:spcPct val="0"/>
                </a:spcBef>
                <a:buFontTx/>
                <a:buNone/>
              </a:pPr>
              <a:t>19</a:t>
            </a:fld>
            <a:endParaRPr lang="en-US" altLang="en-US" sz="1400">
              <a:latin typeface="Times New Roman" panose="02020603050405020304" pitchFamily="18" charset="0"/>
            </a:endParaRPr>
          </a:p>
        </p:txBody>
      </p:sp>
      <p:graphicFrame>
        <p:nvGraphicFramePr>
          <p:cNvPr id="5" name="Table 4">
            <a:extLst>
              <a:ext uri="{FF2B5EF4-FFF2-40B4-BE49-F238E27FC236}">
                <a16:creationId xmlns:a16="http://schemas.microsoft.com/office/drawing/2014/main" id="{25040078-0E86-48F9-BC94-076992389868}"/>
              </a:ext>
            </a:extLst>
          </p:cNvPr>
          <p:cNvGraphicFramePr>
            <a:graphicFrameLocks noGrp="1"/>
          </p:cNvGraphicFramePr>
          <p:nvPr/>
        </p:nvGraphicFramePr>
        <p:xfrm>
          <a:off x="457200" y="3962400"/>
          <a:ext cx="7772400" cy="549275"/>
        </p:xfrm>
        <a:graphic>
          <a:graphicData uri="http://schemas.openxmlformats.org/drawingml/2006/table">
            <a:tbl>
              <a:tblPr/>
              <a:tblGrid>
                <a:gridCol w="7772400">
                  <a:extLst>
                    <a:ext uri="{9D8B030D-6E8A-4147-A177-3AD203B41FA5}">
                      <a16:colId xmlns:a16="http://schemas.microsoft.com/office/drawing/2014/main" val="3656430862"/>
                    </a:ext>
                  </a:extLst>
                </a:gridCol>
              </a:tblGrid>
              <a:tr h="366183">
                <a:tc>
                  <a:txBody>
                    <a:bodyPr/>
                    <a:lstStyle/>
                    <a:p>
                      <a:r>
                        <a:rPr lang="en-US" sz="1200" b="1" dirty="0"/>
                        <a:t>29. Income from profits and gains of business or profession, how computed.- </a:t>
                      </a:r>
                      <a:r>
                        <a:rPr lang="en-US" sz="1200" dirty="0"/>
                        <a:t>The income referred to in section 28 shall be computed in accordance with the provisions contained in sections 30 to 43D.</a:t>
                      </a:r>
                    </a:p>
                  </a:txBody>
                  <a:tcPr marL="0" marR="0" marT="0" marB="0" anchor="ctr">
                    <a:lnL>
                      <a:noFill/>
                    </a:lnL>
                    <a:lnR>
                      <a:noFill/>
                    </a:lnR>
                    <a:lnT>
                      <a:noFill/>
                    </a:lnT>
                    <a:lnB>
                      <a:noFill/>
                    </a:lnB>
                  </a:tcPr>
                </a:tc>
                <a:extLst>
                  <a:ext uri="{0D108BD9-81ED-4DB2-BD59-A6C34878D82A}">
                    <a16:rowId xmlns:a16="http://schemas.microsoft.com/office/drawing/2014/main" val="2150970367"/>
                  </a:ext>
                </a:extLst>
              </a:tr>
              <a:tr h="183092">
                <a:tc>
                  <a:txBody>
                    <a:bodyPr/>
                    <a:lstStyle/>
                    <a:p>
                      <a:r>
                        <a:rPr lang="en-US" sz="1200" dirty="0"/>
                        <a:t> </a:t>
                      </a:r>
                    </a:p>
                  </a:txBody>
                  <a:tcPr marL="0" marR="0" marT="0" marB="0" anchor="ctr">
                    <a:lnL>
                      <a:noFill/>
                    </a:lnL>
                    <a:lnR>
                      <a:noFill/>
                    </a:lnR>
                    <a:lnT>
                      <a:noFill/>
                    </a:lnT>
                    <a:lnB>
                      <a:noFill/>
                    </a:lnB>
                  </a:tcPr>
                </a:tc>
                <a:extLst>
                  <a:ext uri="{0D108BD9-81ED-4DB2-BD59-A6C34878D82A}">
                    <a16:rowId xmlns:a16="http://schemas.microsoft.com/office/drawing/2014/main" val="326451376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a:extLst>
              <a:ext uri="{FF2B5EF4-FFF2-40B4-BE49-F238E27FC236}">
                <a16:creationId xmlns:a16="http://schemas.microsoft.com/office/drawing/2014/main" id="{BFCE7A64-D73A-5044-10FB-3376F92AC72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F044DCE3-0177-4249-8696-EE4F4B6C1E8C}" type="slidenum">
              <a:rPr lang="en-US" altLang="en-US" sz="1400">
                <a:latin typeface="Times New Roman" panose="02020603050405020304" pitchFamily="18" charset="0"/>
              </a:rPr>
              <a:pPr>
                <a:spcBef>
                  <a:spcPct val="0"/>
                </a:spcBef>
                <a:buFontTx/>
                <a:buNone/>
              </a:pPr>
              <a:t>20</a:t>
            </a:fld>
            <a:endParaRPr lang="en-US" altLang="en-US" sz="1400">
              <a:latin typeface="Times New Roman" panose="02020603050405020304" pitchFamily="18" charset="0"/>
            </a:endParaRPr>
          </a:p>
        </p:txBody>
      </p:sp>
      <p:pic>
        <p:nvPicPr>
          <p:cNvPr id="18435" name="Picture 4">
            <a:extLst>
              <a:ext uri="{FF2B5EF4-FFF2-40B4-BE49-F238E27FC236}">
                <a16:creationId xmlns:a16="http://schemas.microsoft.com/office/drawing/2014/main" id="{4B1080FD-069F-3FEA-17F7-36210D7A86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381000"/>
            <a:ext cx="7742237" cy="560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ACA259C-435E-AFC9-21CD-9FEE73436736}"/>
              </a:ext>
            </a:extLst>
          </p:cNvPr>
          <p:cNvSpPr>
            <a:spLocks noGrp="1" noChangeArrowheads="1"/>
          </p:cNvSpPr>
          <p:nvPr>
            <p:ph type="title"/>
          </p:nvPr>
        </p:nvSpPr>
        <p:spPr>
          <a:xfrm>
            <a:off x="381000" y="0"/>
            <a:ext cx="8305800" cy="914400"/>
          </a:xfrm>
        </p:spPr>
        <p:txBody>
          <a:bodyPr/>
          <a:lstStyle/>
          <a:p>
            <a:r>
              <a:rPr lang="en-US" altLang="en-US" b="1" dirty="0">
                <a:solidFill>
                  <a:srgbClr val="003399"/>
                </a:solidFill>
              </a:rPr>
              <a:t>Business Income</a:t>
            </a:r>
          </a:p>
        </p:txBody>
      </p:sp>
      <p:sp>
        <p:nvSpPr>
          <p:cNvPr id="8196" name="Rectangle 3">
            <a:extLst>
              <a:ext uri="{FF2B5EF4-FFF2-40B4-BE49-F238E27FC236}">
                <a16:creationId xmlns:a16="http://schemas.microsoft.com/office/drawing/2014/main" id="{5BC9582D-F903-42AF-83D2-34CD771FCAEC}"/>
              </a:ext>
            </a:extLst>
          </p:cNvPr>
          <p:cNvSpPr>
            <a:spLocks noGrp="1" noChangeArrowheads="1"/>
          </p:cNvSpPr>
          <p:nvPr>
            <p:ph type="body" idx="1"/>
          </p:nvPr>
        </p:nvSpPr>
        <p:spPr>
          <a:xfrm>
            <a:off x="381000" y="990600"/>
            <a:ext cx="8077200" cy="5334000"/>
          </a:xfrm>
        </p:spPr>
        <p:txBody>
          <a:bodyPr/>
          <a:lstStyle/>
          <a:p>
            <a:pPr eaLnBrk="1" hangingPunct="1">
              <a:lnSpc>
                <a:spcPct val="90000"/>
              </a:lnSpc>
              <a:buFontTx/>
              <a:buNone/>
              <a:defRPr/>
            </a:pPr>
            <a:r>
              <a:rPr lang="en-US" altLang="en-US" sz="2200" dirty="0">
                <a:cs typeface="Times New Roman" panose="02020603050405020304" pitchFamily="18" charset="0"/>
              </a:rPr>
              <a:t>In practice:  Business Income is defined from the </a:t>
            </a:r>
            <a:r>
              <a:rPr lang="en-US" altLang="en-US" sz="2200" b="1" i="1" dirty="0">
                <a:solidFill>
                  <a:srgbClr val="FF0000"/>
                </a:solidFill>
                <a:cs typeface="Times New Roman" panose="02020603050405020304" pitchFamily="18" charset="0"/>
              </a:rPr>
              <a:t>sources side</a:t>
            </a:r>
            <a:r>
              <a:rPr lang="en-US" altLang="en-US" sz="2200" b="1" dirty="0">
                <a:cs typeface="Times New Roman" panose="02020603050405020304" pitchFamily="18" charset="0"/>
              </a:rPr>
              <a:t> in terms of revenues earned less the costs of earning income </a:t>
            </a:r>
            <a:r>
              <a:rPr lang="en-US" altLang="en-US" sz="2200" b="1" i="1" dirty="0">
                <a:cs typeface="Times New Roman" panose="02020603050405020304" pitchFamily="18" charset="0"/>
              </a:rPr>
              <a:t>plus</a:t>
            </a:r>
            <a:r>
              <a:rPr lang="en-US" altLang="en-US" sz="2200" b="1" dirty="0">
                <a:cs typeface="Times New Roman" panose="02020603050405020304" pitchFamily="18" charset="0"/>
              </a:rPr>
              <a:t> capital gains. </a:t>
            </a:r>
            <a:r>
              <a:rPr lang="en-US" altLang="en-US" sz="2200" b="1" i="1" dirty="0">
                <a:cs typeface="Times New Roman" panose="02020603050405020304" pitchFamily="18" charset="0"/>
              </a:rPr>
              <a:t>Tax base or taxable income:</a:t>
            </a:r>
            <a:endParaRPr lang="en-US" altLang="en-US" sz="2200" dirty="0">
              <a:cs typeface="Times New Roman" panose="02020603050405020304" pitchFamily="18" charset="0"/>
            </a:endParaRPr>
          </a:p>
          <a:p>
            <a:pPr eaLnBrk="1" hangingPunct="1">
              <a:lnSpc>
                <a:spcPct val="90000"/>
              </a:lnSpc>
              <a:defRPr/>
            </a:pPr>
            <a:r>
              <a:rPr lang="en-US" altLang="en-US" sz="2200" dirty="0">
                <a:cs typeface="Times New Roman" panose="02020603050405020304" pitchFamily="18" charset="0"/>
              </a:rPr>
              <a:t>Generally, </a:t>
            </a:r>
            <a:r>
              <a:rPr lang="en-US" altLang="en-US" sz="2200" b="1" dirty="0">
                <a:cs typeface="Times New Roman" panose="02020603050405020304" pitchFamily="18" charset="0"/>
              </a:rPr>
              <a:t>Taxable income = Sales revenue - cost of goods sold - depreciation allowances - financing costs - overheads.</a:t>
            </a:r>
          </a:p>
          <a:p>
            <a:pPr eaLnBrk="1" hangingPunct="1">
              <a:lnSpc>
                <a:spcPct val="90000"/>
              </a:lnSpc>
              <a:defRPr/>
            </a:pPr>
            <a:endParaRPr lang="en-US" sz="2200" dirty="0"/>
          </a:p>
          <a:p>
            <a:pPr eaLnBrk="1" hangingPunct="1">
              <a:lnSpc>
                <a:spcPct val="90000"/>
              </a:lnSpc>
              <a:defRPr/>
            </a:pPr>
            <a:r>
              <a:rPr lang="en-US" sz="2200" dirty="0"/>
              <a:t>Receipts from sales are “Revenue Receipts” which are recurring by nature (received again and again) and which are available for meeting all day-to-day expenses (revenue expenditure). Apart from sale proceeds of goods, revenue receipts also include receipt of interest payment, commission and rent received etc.; shown on credit side in profit loss account.</a:t>
            </a:r>
          </a:p>
          <a:p>
            <a:pPr eaLnBrk="1" hangingPunct="1">
              <a:lnSpc>
                <a:spcPct val="90000"/>
              </a:lnSpc>
              <a:defRPr/>
            </a:pPr>
            <a:r>
              <a:rPr lang="en-US" sz="2200" dirty="0"/>
              <a:t>Receipts of non-recurring nature whose benefit is enjoyed over a long period are called "Capital Receipts", e.g. money brought into the business by the owner (capital invested), loan from bank, sale proceeds of fixed assets etc. Capital receipt is shown on the liabilities side of the Balance Sheet.</a:t>
            </a:r>
          </a:p>
          <a:p>
            <a:pPr eaLnBrk="1" hangingPunct="1">
              <a:lnSpc>
                <a:spcPct val="90000"/>
              </a:lnSpc>
              <a:defRPr/>
            </a:pPr>
            <a:endParaRPr lang="en-US" sz="2400" dirty="0"/>
          </a:p>
          <a:p>
            <a:pPr marL="0" indent="0" eaLnBrk="1" hangingPunct="1">
              <a:lnSpc>
                <a:spcPct val="90000"/>
              </a:lnSpc>
              <a:buFontTx/>
              <a:buNone/>
              <a:defRPr/>
            </a:pPr>
            <a:endParaRPr lang="en-US" altLang="en-US" sz="2200" b="1" dirty="0">
              <a:cs typeface="Times New Roman" panose="02020603050405020304" pitchFamily="18" charset="0"/>
            </a:endParaRPr>
          </a:p>
          <a:p>
            <a:pPr eaLnBrk="1" hangingPunct="1">
              <a:lnSpc>
                <a:spcPct val="90000"/>
              </a:lnSpc>
              <a:defRPr/>
            </a:pPr>
            <a:endParaRPr lang="en-US" altLang="en-US" sz="2200" b="1" dirty="0">
              <a:cs typeface="Times New Roman" panose="02020603050405020304" pitchFamily="18" charset="0"/>
            </a:endParaRPr>
          </a:p>
          <a:p>
            <a:pPr eaLnBrk="1" hangingPunct="1">
              <a:lnSpc>
                <a:spcPct val="80000"/>
              </a:lnSpc>
              <a:defRPr/>
            </a:pPr>
            <a:endParaRPr lang="en-US" altLang="en-US" sz="2200" dirty="0"/>
          </a:p>
          <a:p>
            <a:pPr eaLnBrk="1" hangingPunct="1">
              <a:lnSpc>
                <a:spcPct val="90000"/>
              </a:lnSpc>
              <a:buFontTx/>
              <a:buNone/>
              <a:defRPr/>
            </a:pPr>
            <a:endParaRPr lang="en-US" altLang="en-US" sz="2400" b="1" dirty="0"/>
          </a:p>
        </p:txBody>
      </p:sp>
      <p:sp>
        <p:nvSpPr>
          <p:cNvPr id="19460" name="Slide Number Placeholder 1">
            <a:extLst>
              <a:ext uri="{FF2B5EF4-FFF2-40B4-BE49-F238E27FC236}">
                <a16:creationId xmlns:a16="http://schemas.microsoft.com/office/drawing/2014/main" id="{3FF6EDD5-CBB8-51D6-275D-9F01B4638D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E6A126FE-FE91-4D37-A2E4-EF54E01E13B4}" type="slidenum">
              <a:rPr lang="en-US" altLang="en-US" sz="1400">
                <a:latin typeface="Times New Roman" panose="02020603050405020304" pitchFamily="18" charset="0"/>
              </a:rPr>
              <a:pPr>
                <a:spcBef>
                  <a:spcPct val="0"/>
                </a:spcBef>
                <a:buFontTx/>
                <a:buNone/>
              </a:pPr>
              <a:t>21</a:t>
            </a:fld>
            <a:endParaRPr lang="en-US" altLang="en-US" sz="1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721124D-C77A-C340-12CE-19684BF6757F}"/>
              </a:ext>
            </a:extLst>
          </p:cNvPr>
          <p:cNvSpPr>
            <a:spLocks noGrp="1" noChangeArrowheads="1"/>
          </p:cNvSpPr>
          <p:nvPr>
            <p:ph type="title"/>
          </p:nvPr>
        </p:nvSpPr>
        <p:spPr>
          <a:xfrm>
            <a:off x="685800" y="0"/>
            <a:ext cx="7772400" cy="762000"/>
          </a:xfrm>
        </p:spPr>
        <p:txBody>
          <a:bodyPr/>
          <a:lstStyle/>
          <a:p>
            <a:r>
              <a:rPr lang="en-US" altLang="en-US" b="1" dirty="0">
                <a:solidFill>
                  <a:srgbClr val="003399"/>
                </a:solidFill>
              </a:rPr>
              <a:t>Various Accounting Practices </a:t>
            </a:r>
          </a:p>
        </p:txBody>
      </p:sp>
      <p:sp>
        <p:nvSpPr>
          <p:cNvPr id="21507" name="Content Placeholder 2">
            <a:extLst>
              <a:ext uri="{FF2B5EF4-FFF2-40B4-BE49-F238E27FC236}">
                <a16:creationId xmlns:a16="http://schemas.microsoft.com/office/drawing/2014/main" id="{5F2A9B70-0066-E79F-BB06-F9C2C4DA64D5}"/>
              </a:ext>
            </a:extLst>
          </p:cNvPr>
          <p:cNvSpPr>
            <a:spLocks noGrp="1" noChangeArrowheads="1"/>
          </p:cNvSpPr>
          <p:nvPr>
            <p:ph idx="1"/>
          </p:nvPr>
        </p:nvSpPr>
        <p:spPr>
          <a:xfrm>
            <a:off x="685800" y="990600"/>
            <a:ext cx="7772400" cy="5105400"/>
          </a:xfrm>
        </p:spPr>
        <p:txBody>
          <a:bodyPr/>
          <a:lstStyle/>
          <a:p>
            <a:r>
              <a:rPr lang="en-US" altLang="en-US" sz="2200"/>
              <a:t>Financial or commercial accountancy is governed by both local and international accounting standards. Generally accepted accounting principles (GAAP) is the standard framework of guidelines for financial accounting used in any given jurisdiction. It includes the standards, conventions and rules that accountants follow in recording and summarizing and in the preparation of financial statements. </a:t>
            </a:r>
          </a:p>
          <a:p>
            <a:r>
              <a:rPr lang="en-US" altLang="en-US" sz="2200"/>
              <a:t>International Financial Reporting Standards (IFRS), on the other hand, is a set of accounting standards stating how particular types of transactions should be reported in financial statements. IFRS are issued by the International Accounting Standards Board (IASB). With IFRS becoming widespread, </a:t>
            </a:r>
            <a:r>
              <a:rPr lang="en-US" altLang="en-US" sz="2200" i="1"/>
              <a:t>consistency</a:t>
            </a:r>
            <a:r>
              <a:rPr lang="en-US" altLang="en-US" sz="2200"/>
              <a:t> in financial reporting has improved between global organizations.</a:t>
            </a:r>
          </a:p>
          <a:p>
            <a:r>
              <a:rPr lang="en-US" altLang="en-US" sz="2200"/>
              <a:t>Tax accounting rules are often different from the general financial accounting principles for a variety of reasons. </a:t>
            </a:r>
          </a:p>
          <a:p>
            <a:endParaRPr lang="en-US" altLang="en-US" sz="2200"/>
          </a:p>
          <a:p>
            <a:endParaRPr lang="en-US" altLang="en-US" sz="2200"/>
          </a:p>
        </p:txBody>
      </p:sp>
      <p:sp>
        <p:nvSpPr>
          <p:cNvPr id="21508" name="Slide Number Placeholder 1">
            <a:extLst>
              <a:ext uri="{FF2B5EF4-FFF2-40B4-BE49-F238E27FC236}">
                <a16:creationId xmlns:a16="http://schemas.microsoft.com/office/drawing/2014/main" id="{F6146B17-36A8-61A4-4902-E9E3F868A6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8AC66A4C-0E4E-469E-B29F-738166D82339}" type="slidenum">
              <a:rPr lang="en-US" altLang="en-US" sz="1400">
                <a:latin typeface="Times New Roman" panose="02020603050405020304" pitchFamily="18" charset="0"/>
              </a:rPr>
              <a:pPr>
                <a:spcBef>
                  <a:spcPct val="0"/>
                </a:spcBef>
                <a:buFontTx/>
                <a:buNone/>
              </a:pPr>
              <a:t>22</a:t>
            </a:fld>
            <a:endParaRPr lang="en-US" altLang="en-US" sz="1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47A904A8-F48C-38BB-8C3A-732FE0CF1FA3}"/>
              </a:ext>
            </a:extLst>
          </p:cNvPr>
          <p:cNvSpPr>
            <a:spLocks noGrp="1" noChangeArrowheads="1"/>
          </p:cNvSpPr>
          <p:nvPr>
            <p:ph type="title"/>
          </p:nvPr>
        </p:nvSpPr>
        <p:spPr>
          <a:xfrm>
            <a:off x="152400" y="152400"/>
            <a:ext cx="8915400" cy="762000"/>
          </a:xfrm>
        </p:spPr>
        <p:txBody>
          <a:bodyPr/>
          <a:lstStyle/>
          <a:p>
            <a:r>
              <a:rPr lang="en-US" altLang="en-US" sz="3200" b="1" dirty="0">
                <a:solidFill>
                  <a:srgbClr val="003399"/>
                </a:solidFill>
              </a:rPr>
              <a:t>Tax Accounting for Business Income Taxation (1)</a:t>
            </a:r>
          </a:p>
        </p:txBody>
      </p:sp>
      <p:sp>
        <p:nvSpPr>
          <p:cNvPr id="22531" name="Content Placeholder 2">
            <a:extLst>
              <a:ext uri="{FF2B5EF4-FFF2-40B4-BE49-F238E27FC236}">
                <a16:creationId xmlns:a16="http://schemas.microsoft.com/office/drawing/2014/main" id="{6B19B7B0-4BCC-AA32-8114-698B65B1BF0F}"/>
              </a:ext>
            </a:extLst>
          </p:cNvPr>
          <p:cNvSpPr>
            <a:spLocks noGrp="1" noChangeArrowheads="1"/>
          </p:cNvSpPr>
          <p:nvPr>
            <p:ph idx="1"/>
          </p:nvPr>
        </p:nvSpPr>
        <p:spPr>
          <a:xfrm>
            <a:off x="685800" y="1371600"/>
            <a:ext cx="7772400" cy="4724400"/>
          </a:xfrm>
        </p:spPr>
        <p:txBody>
          <a:bodyPr/>
          <a:lstStyle/>
          <a:p>
            <a:r>
              <a:rPr lang="en-US" altLang="en-US" sz="2000" dirty="0"/>
              <a:t>The simplest approach is to use the income that is obtained by using the standard Accounting principles.  </a:t>
            </a:r>
          </a:p>
          <a:p>
            <a:r>
              <a:rPr lang="en-US" altLang="en-US" sz="2000" dirty="0"/>
              <a:t>However, tax laws in most cases use different rules to obtain taxable income</a:t>
            </a:r>
          </a:p>
          <a:p>
            <a:r>
              <a:rPr lang="en-US" altLang="en-US" sz="2000" dirty="0"/>
              <a:t>This usually is derived by starting from accounting Income and adding back those incomes that are considered taxable (and not included in the income side as per accounting principles) and removing those expenses that are not allowed by the tax law (but allowed by the accounting principles)</a:t>
            </a:r>
          </a:p>
          <a:p>
            <a:r>
              <a:rPr lang="en-US" altLang="en-US" sz="2000" dirty="0"/>
              <a:t>Examples of expenses not permitted for deduction from income:-</a:t>
            </a:r>
          </a:p>
          <a:p>
            <a:pPr lvl="1"/>
            <a:r>
              <a:rPr lang="en-US" altLang="en-US" sz="2000" dirty="0">
                <a:ea typeface="+mn-ea"/>
                <a:cs typeface="+mn-cs"/>
              </a:rPr>
              <a:t>provision of bad debts and other taxes, fines and penalties; certain expenditures which government may like to discourage such as entertainment expenses or which are not incurred “wholly and exclusively” for business purposes.  </a:t>
            </a:r>
          </a:p>
          <a:p>
            <a:endParaRPr lang="en-US" altLang="en-US" dirty="0"/>
          </a:p>
        </p:txBody>
      </p:sp>
      <p:sp>
        <p:nvSpPr>
          <p:cNvPr id="22532" name="Slide Number Placeholder 1">
            <a:extLst>
              <a:ext uri="{FF2B5EF4-FFF2-40B4-BE49-F238E27FC236}">
                <a16:creationId xmlns:a16="http://schemas.microsoft.com/office/drawing/2014/main" id="{52BE87A3-E169-6212-D64F-CC320CCAB5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5B8E8818-1C84-482D-9C16-037CEA678FC5}" type="slidenum">
              <a:rPr lang="en-US" altLang="en-US" sz="1400">
                <a:latin typeface="Times New Roman" panose="02020603050405020304" pitchFamily="18" charset="0"/>
              </a:rPr>
              <a:pPr>
                <a:spcBef>
                  <a:spcPct val="0"/>
                </a:spcBef>
                <a:buFontTx/>
                <a:buNone/>
              </a:pPr>
              <a:t>23</a:t>
            </a:fld>
            <a:endParaRPr lang="en-US" altLang="en-US" sz="1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1063AB4-CC0B-5DAE-D068-E2ED9628B908}"/>
              </a:ext>
            </a:extLst>
          </p:cNvPr>
          <p:cNvSpPr>
            <a:spLocks noGrp="1" noChangeArrowheads="1"/>
          </p:cNvSpPr>
          <p:nvPr>
            <p:ph type="title"/>
          </p:nvPr>
        </p:nvSpPr>
        <p:spPr>
          <a:xfrm>
            <a:off x="0" y="152400"/>
            <a:ext cx="8991600" cy="762000"/>
          </a:xfrm>
        </p:spPr>
        <p:txBody>
          <a:bodyPr/>
          <a:lstStyle/>
          <a:p>
            <a:r>
              <a:rPr lang="en-US" altLang="en-US" sz="3200" b="1" dirty="0">
                <a:solidFill>
                  <a:srgbClr val="003399"/>
                </a:solidFill>
              </a:rPr>
              <a:t>Tax Accounting for Business Income Taxation (2)</a:t>
            </a:r>
          </a:p>
        </p:txBody>
      </p:sp>
      <p:sp>
        <p:nvSpPr>
          <p:cNvPr id="23555" name="Content Placeholder 2">
            <a:extLst>
              <a:ext uri="{FF2B5EF4-FFF2-40B4-BE49-F238E27FC236}">
                <a16:creationId xmlns:a16="http://schemas.microsoft.com/office/drawing/2014/main" id="{137016C3-57BB-2BAC-6A55-B393DAE09DBE}"/>
              </a:ext>
            </a:extLst>
          </p:cNvPr>
          <p:cNvSpPr>
            <a:spLocks noGrp="1" noChangeArrowheads="1"/>
          </p:cNvSpPr>
          <p:nvPr>
            <p:ph idx="1"/>
          </p:nvPr>
        </p:nvSpPr>
        <p:spPr>
          <a:xfrm>
            <a:off x="685800" y="1219200"/>
            <a:ext cx="7772400" cy="4876800"/>
          </a:xfrm>
        </p:spPr>
        <p:txBody>
          <a:bodyPr/>
          <a:lstStyle/>
          <a:p>
            <a:r>
              <a:rPr lang="en-US" altLang="en-US" sz="2000" dirty="0"/>
              <a:t>Income tax laws and accounting also usually restrict the valuation conventions that may be employed in measuring income (discussed later)</a:t>
            </a:r>
          </a:p>
          <a:p>
            <a:r>
              <a:rPr lang="en-US" altLang="en-US" sz="2000" dirty="0"/>
              <a:t>The main purpose of these specific provisions in income tax law is to make the measure of income for tax purposes more objective than it may be in commercial accounts that are meant to serve other purposes. </a:t>
            </a:r>
          </a:p>
          <a:p>
            <a:r>
              <a:rPr lang="en-US" altLang="en-US" sz="2000" dirty="0"/>
              <a:t>Similarly, income tax laws must provide for specific deductions not necessarily in commercial accountings of business such as any deduction for losses brought forward from  earlier years. </a:t>
            </a:r>
          </a:p>
          <a:p>
            <a:endParaRPr lang="en-US" altLang="en-US" sz="2000" dirty="0"/>
          </a:p>
          <a:p>
            <a:endParaRPr lang="en-US" altLang="en-US" dirty="0"/>
          </a:p>
        </p:txBody>
      </p:sp>
      <p:sp>
        <p:nvSpPr>
          <p:cNvPr id="23556" name="Slide Number Placeholder 1">
            <a:extLst>
              <a:ext uri="{FF2B5EF4-FFF2-40B4-BE49-F238E27FC236}">
                <a16:creationId xmlns:a16="http://schemas.microsoft.com/office/drawing/2014/main" id="{AEC86977-D409-210A-22EC-89983BBBBB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536F620D-BEF4-4A3F-B026-3ED19EDAF361}" type="slidenum">
              <a:rPr lang="en-US" altLang="en-US" sz="1400">
                <a:latin typeface="Times New Roman" panose="02020603050405020304" pitchFamily="18" charset="0"/>
              </a:rPr>
              <a:pPr>
                <a:spcBef>
                  <a:spcPct val="0"/>
                </a:spcBef>
                <a:buFontTx/>
                <a:buNone/>
              </a:pPr>
              <a:t>24</a:t>
            </a:fld>
            <a:endParaRPr lang="en-US" altLang="en-US" sz="1400">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1102FA63-DBEF-F9BA-A64A-FDF8E9066839}"/>
              </a:ext>
            </a:extLst>
          </p:cNvPr>
          <p:cNvSpPr>
            <a:spLocks noGrp="1" noChangeArrowheads="1"/>
          </p:cNvSpPr>
          <p:nvPr>
            <p:ph type="title"/>
          </p:nvPr>
        </p:nvSpPr>
        <p:spPr>
          <a:xfrm>
            <a:off x="76200" y="152400"/>
            <a:ext cx="8915400" cy="914400"/>
          </a:xfrm>
        </p:spPr>
        <p:txBody>
          <a:bodyPr/>
          <a:lstStyle/>
          <a:p>
            <a:r>
              <a:rPr lang="en-US" altLang="en-US" sz="4000" b="1" dirty="0">
                <a:solidFill>
                  <a:srgbClr val="003399"/>
                </a:solidFill>
              </a:rPr>
              <a:t>Tax Rates and Their Declining Trend </a:t>
            </a:r>
          </a:p>
        </p:txBody>
      </p:sp>
      <p:sp>
        <p:nvSpPr>
          <p:cNvPr id="24579" name="Content Placeholder 2">
            <a:extLst>
              <a:ext uri="{FF2B5EF4-FFF2-40B4-BE49-F238E27FC236}">
                <a16:creationId xmlns:a16="http://schemas.microsoft.com/office/drawing/2014/main" id="{BF47E7F8-95EB-8816-9A60-31A4C61927AB}"/>
              </a:ext>
            </a:extLst>
          </p:cNvPr>
          <p:cNvSpPr>
            <a:spLocks noGrp="1" noChangeArrowheads="1"/>
          </p:cNvSpPr>
          <p:nvPr>
            <p:ph idx="1"/>
          </p:nvPr>
        </p:nvSpPr>
        <p:spPr>
          <a:xfrm>
            <a:off x="685800" y="1295400"/>
            <a:ext cx="7772400" cy="4800600"/>
          </a:xfrm>
        </p:spPr>
        <p:txBody>
          <a:bodyPr/>
          <a:lstStyle/>
          <a:p>
            <a:pPr eaLnBrk="1" hangingPunct="1">
              <a:lnSpc>
                <a:spcPct val="80000"/>
              </a:lnSpc>
            </a:pPr>
            <a:r>
              <a:rPr lang="en-US" altLang="en-US" sz="2400" b="1" dirty="0"/>
              <a:t>Corporate income tax (CIT) rate</a:t>
            </a:r>
            <a:r>
              <a:rPr lang="en-US" altLang="en-US" sz="2400" dirty="0"/>
              <a:t> typically set at rate </a:t>
            </a:r>
            <a:r>
              <a:rPr lang="en-US" altLang="en-US" sz="2400" i="1" dirty="0"/>
              <a:t>at or less than</a:t>
            </a:r>
            <a:r>
              <a:rPr lang="en-US" altLang="en-US" sz="2400" dirty="0"/>
              <a:t> top MTR under PIT</a:t>
            </a:r>
          </a:p>
          <a:p>
            <a:pPr eaLnBrk="1" hangingPunct="1">
              <a:lnSpc>
                <a:spcPct val="80000"/>
              </a:lnSpc>
            </a:pPr>
            <a:r>
              <a:rPr lang="en-US" altLang="en-US" sz="2400" dirty="0"/>
              <a:t>Global investment competition has been driving down CIT rates over past three decades by about 20 percentage points to rates at or below 30% in most countries.</a:t>
            </a:r>
          </a:p>
          <a:p>
            <a:pPr eaLnBrk="1" hangingPunct="1">
              <a:lnSpc>
                <a:spcPct val="80000"/>
              </a:lnSpc>
            </a:pPr>
            <a:r>
              <a:rPr lang="en-US" altLang="en-US" sz="2400" dirty="0"/>
              <a:t>Many countries now have lower CIT rate on corporate earnings (first layer tax) and charge a secondary tax or final withholding tax on distributed dividends (secondary tax).  </a:t>
            </a:r>
            <a:endParaRPr lang="en-US" altLang="en-US" sz="2400" i="1" dirty="0"/>
          </a:p>
          <a:p>
            <a:pPr eaLnBrk="1" hangingPunct="1">
              <a:lnSpc>
                <a:spcPct val="80000"/>
              </a:lnSpc>
            </a:pPr>
            <a:r>
              <a:rPr lang="en-US" altLang="en-US" sz="2400" dirty="0"/>
              <a:t>Secondary (ST) or withholding tax is also important to ensure that corporate dividends are ultimately taxed at same rate as top PIT MTR.  For example if CIT rate =25% and top PIT MTR =40%, then ST = (40%-25%)/(1-25%) = 20% closes the gap between the top PIT MTR and CIT rate on dividends distributed to individuals.</a:t>
            </a:r>
          </a:p>
        </p:txBody>
      </p:sp>
      <p:sp>
        <p:nvSpPr>
          <p:cNvPr id="24580" name="Slide Number Placeholder 1">
            <a:extLst>
              <a:ext uri="{FF2B5EF4-FFF2-40B4-BE49-F238E27FC236}">
                <a16:creationId xmlns:a16="http://schemas.microsoft.com/office/drawing/2014/main" id="{469CB409-68EA-D36C-09B7-7DC05B4A48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70439C9E-11B6-471F-A134-A740481AB4E1}" type="slidenum">
              <a:rPr lang="en-US" altLang="en-US" sz="1400">
                <a:latin typeface="Times New Roman" panose="02020603050405020304" pitchFamily="18" charset="0"/>
              </a:rPr>
              <a:pPr>
                <a:spcBef>
                  <a:spcPct val="0"/>
                </a:spcBef>
                <a:buFontTx/>
                <a:buNone/>
              </a:pPr>
              <a:t>25</a:t>
            </a:fld>
            <a:endParaRPr lang="en-US" altLang="en-US" sz="140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
            <a:extLst>
              <a:ext uri="{FF2B5EF4-FFF2-40B4-BE49-F238E27FC236}">
                <a16:creationId xmlns:a16="http://schemas.microsoft.com/office/drawing/2014/main" id="{6A9ACFC5-531D-B3CA-288F-D8A548ABA8D4}"/>
              </a:ext>
            </a:extLst>
          </p:cNvPr>
          <p:cNvSpPr txBox="1">
            <a:spLocks noChangeArrowheads="1"/>
          </p:cNvSpPr>
          <p:nvPr/>
        </p:nvSpPr>
        <p:spPr bwMode="auto">
          <a:xfrm>
            <a:off x="204634" y="6103938"/>
            <a:ext cx="8810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latin typeface="Times New Roman" panose="02020603050405020304" pitchFamily="18" charset="0"/>
              </a:rPr>
              <a:t>Average statutory rates in High Income countries  dropped from 28% in 2003 to 20% in 2021</a:t>
            </a:r>
          </a:p>
        </p:txBody>
      </p:sp>
      <p:sp>
        <p:nvSpPr>
          <p:cNvPr id="25603" name="AutoShape 2">
            <a:extLst>
              <a:ext uri="{FF2B5EF4-FFF2-40B4-BE49-F238E27FC236}">
                <a16:creationId xmlns:a16="http://schemas.microsoft.com/office/drawing/2014/main" id="{4283EB2C-BFF0-DEAF-6FAC-1D7B7F56AE07}"/>
              </a:ext>
            </a:extLst>
          </p:cNvPr>
          <p:cNvSpPr>
            <a:spLocks noChangeAspect="1" noChangeArrowheads="1"/>
          </p:cNvSpPr>
          <p:nvPr/>
        </p:nvSpPr>
        <p:spPr bwMode="auto">
          <a:xfrm>
            <a:off x="284163" y="0"/>
            <a:ext cx="8682037" cy="630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5604" name="AutoShape 254">
            <a:extLst>
              <a:ext uri="{FF2B5EF4-FFF2-40B4-BE49-F238E27FC236}">
                <a16:creationId xmlns:a16="http://schemas.microsoft.com/office/drawing/2014/main" id="{B55AC025-B9F8-179E-5F27-4982207198C1}"/>
              </a:ext>
            </a:extLst>
          </p:cNvPr>
          <p:cNvSpPr>
            <a:spLocks noChangeAspect="1" noChangeArrowheads="1"/>
          </p:cNvSpPr>
          <p:nvPr/>
        </p:nvSpPr>
        <p:spPr bwMode="auto">
          <a:xfrm>
            <a:off x="284163" y="0"/>
            <a:ext cx="8682037" cy="630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Times New Roman" panose="02020603050405020304" pitchFamily="18" charset="0"/>
            </a:endParaRPr>
          </a:p>
        </p:txBody>
      </p:sp>
      <p:sp>
        <p:nvSpPr>
          <p:cNvPr id="25606" name="TextBox 7">
            <a:extLst>
              <a:ext uri="{FF2B5EF4-FFF2-40B4-BE49-F238E27FC236}">
                <a16:creationId xmlns:a16="http://schemas.microsoft.com/office/drawing/2014/main" id="{AC960C3B-6147-BBCC-4EF1-2786C28CF895}"/>
              </a:ext>
            </a:extLst>
          </p:cNvPr>
          <p:cNvSpPr txBox="1">
            <a:spLocks noChangeArrowheads="1"/>
          </p:cNvSpPr>
          <p:nvPr/>
        </p:nvSpPr>
        <p:spPr bwMode="auto">
          <a:xfrm>
            <a:off x="347663" y="6400800"/>
            <a:ext cx="834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i="1" dirty="0">
                <a:latin typeface="Times New Roman" panose="02020603050405020304" pitchFamily="18" charset="0"/>
              </a:rPr>
              <a:t>Plus “Tax havens” – no tax, but no production; and special treaty treatments </a:t>
            </a:r>
          </a:p>
        </p:txBody>
      </p:sp>
      <p:sp>
        <p:nvSpPr>
          <p:cNvPr id="25607" name="Slide Number Placeholder 1">
            <a:extLst>
              <a:ext uri="{FF2B5EF4-FFF2-40B4-BE49-F238E27FC236}">
                <a16:creationId xmlns:a16="http://schemas.microsoft.com/office/drawing/2014/main" id="{BB47BA23-DAAC-47C9-3641-B8B39157F0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spcBef>
                <a:spcPct val="0"/>
              </a:spcBef>
              <a:buFontTx/>
              <a:buNone/>
            </a:pPr>
            <a:fld id="{CF8E477C-076B-452F-ADDF-688232F06413}" type="slidenum">
              <a:rPr lang="en-US" altLang="en-US" sz="1400">
                <a:latin typeface="Times New Roman" panose="02020603050405020304" pitchFamily="18" charset="0"/>
              </a:rPr>
              <a:pPr>
                <a:spcBef>
                  <a:spcPct val="0"/>
                </a:spcBef>
                <a:buFontTx/>
                <a:buNone/>
              </a:pPr>
              <a:t>26</a:t>
            </a:fld>
            <a:endParaRPr lang="en-US" altLang="en-US" sz="1400">
              <a:latin typeface="Times New Roman" panose="02020603050405020304" pitchFamily="18" charset="0"/>
            </a:endParaRPr>
          </a:p>
        </p:txBody>
      </p:sp>
      <p:graphicFrame>
        <p:nvGraphicFramePr>
          <p:cNvPr id="2" name="Chart 1">
            <a:extLst>
              <a:ext uri="{FF2B5EF4-FFF2-40B4-BE49-F238E27FC236}">
                <a16:creationId xmlns:a16="http://schemas.microsoft.com/office/drawing/2014/main" id="{130BCB69-12EC-7C62-1C1D-6B4B56D2AD28}"/>
              </a:ext>
            </a:extLst>
          </p:cNvPr>
          <p:cNvGraphicFramePr>
            <a:graphicFrameLocks/>
          </p:cNvGraphicFramePr>
          <p:nvPr>
            <p:extLst>
              <p:ext uri="{D42A27DB-BD31-4B8C-83A1-F6EECF244321}">
                <p14:modId xmlns:p14="http://schemas.microsoft.com/office/powerpoint/2010/main" val="2472599446"/>
              </p:ext>
            </p:extLst>
          </p:nvPr>
        </p:nvGraphicFramePr>
        <p:xfrm>
          <a:off x="457200" y="554037"/>
          <a:ext cx="8077200" cy="5348289"/>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0C8539-6DD9-4018-F722-3296B170A572}"/>
              </a:ext>
            </a:extLst>
          </p:cNvPr>
          <p:cNvSpPr>
            <a:spLocks noGrp="1"/>
          </p:cNvSpPr>
          <p:nvPr>
            <p:ph type="sldNum" sz="quarter" idx="12"/>
          </p:nvPr>
        </p:nvSpPr>
        <p:spPr>
          <a:xfrm>
            <a:off x="6457950" y="6356350"/>
            <a:ext cx="2057400" cy="365125"/>
          </a:xfrm>
        </p:spPr>
        <p:txBody>
          <a:bodyPr>
            <a:normAutofit/>
          </a:bodyPr>
          <a:lstStyle/>
          <a:p>
            <a:pPr>
              <a:spcAft>
                <a:spcPts val="600"/>
              </a:spcAft>
            </a:pPr>
            <a:fld id="{68C725F6-AE5E-45D4-A21C-70FE20AB9D71}" type="slidenum">
              <a:rPr lang="en-US" altLang="en-US" smtClean="0"/>
              <a:pPr>
                <a:spcAft>
                  <a:spcPts val="600"/>
                </a:spcAft>
              </a:pPr>
              <a:t>27</a:t>
            </a:fld>
            <a:endParaRPr lang="en-US" altLang="en-US"/>
          </a:p>
        </p:txBody>
      </p:sp>
      <p:graphicFrame>
        <p:nvGraphicFramePr>
          <p:cNvPr id="3" name="Chart 2">
            <a:extLst>
              <a:ext uri="{FF2B5EF4-FFF2-40B4-BE49-F238E27FC236}">
                <a16:creationId xmlns:a16="http://schemas.microsoft.com/office/drawing/2014/main" id="{3E6AD8A6-9F5D-A019-B7A5-C2C71566E9DF}"/>
              </a:ext>
            </a:extLst>
          </p:cNvPr>
          <p:cNvGraphicFramePr>
            <a:graphicFrameLocks/>
          </p:cNvGraphicFramePr>
          <p:nvPr>
            <p:extLst>
              <p:ext uri="{D42A27DB-BD31-4B8C-83A1-F6EECF244321}">
                <p14:modId xmlns:p14="http://schemas.microsoft.com/office/powerpoint/2010/main" val="1140169308"/>
              </p:ext>
            </p:extLst>
          </p:nvPr>
        </p:nvGraphicFramePr>
        <p:xfrm>
          <a:off x="482600" y="390832"/>
          <a:ext cx="8178799" cy="583353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2">
            <a:extLst>
              <a:ext uri="{FF2B5EF4-FFF2-40B4-BE49-F238E27FC236}">
                <a16:creationId xmlns:a16="http://schemas.microsoft.com/office/drawing/2014/main" id="{385BC56E-7079-D402-8806-FED6F4F1187A}"/>
              </a:ext>
            </a:extLst>
          </p:cNvPr>
          <p:cNvSpPr txBox="1">
            <a:spLocks noChangeArrowheads="1"/>
          </p:cNvSpPr>
          <p:nvPr/>
        </p:nvSpPr>
        <p:spPr bwMode="auto">
          <a:xfrm>
            <a:off x="67241" y="6224365"/>
            <a:ext cx="90792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dirty="0">
                <a:latin typeface="Times New Roman" panose="02020603050405020304" pitchFamily="18" charset="0"/>
              </a:rPr>
              <a:t>Average statutory rates in Eastern Europe has dropped to nearly 15% on the back of the Flat Tax</a:t>
            </a:r>
          </a:p>
          <a:p>
            <a:pPr eaLnBrk="1" hangingPunct="1">
              <a:spcBef>
                <a:spcPct val="0"/>
              </a:spcBef>
              <a:buFontTx/>
              <a:buNone/>
            </a:pPr>
            <a:r>
              <a:rPr lang="en-US" altLang="en-US" sz="1800" dirty="0">
                <a:latin typeface="Times New Roman" panose="02020603050405020304" pitchFamily="18" charset="0"/>
              </a:rPr>
              <a:t>Sub-Saharan Africa remained nearly steady.</a:t>
            </a:r>
          </a:p>
        </p:txBody>
      </p:sp>
    </p:spTree>
    <p:extLst>
      <p:ext uri="{BB962C8B-B14F-4D97-AF65-F5344CB8AC3E}">
        <p14:creationId xmlns:p14="http://schemas.microsoft.com/office/powerpoint/2010/main" val="387913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C420AB10-797D-A026-EE16-9198B68E97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0DCE44B-2441-476C-AB1F-8F589A02F20C}" type="slidenum">
              <a:rPr lang="en-US" altLang="en-US" sz="1400"/>
              <a:pPr>
                <a:spcBef>
                  <a:spcPct val="0"/>
                </a:spcBef>
                <a:buFontTx/>
                <a:buNone/>
              </a:pPr>
              <a:t>28</a:t>
            </a:fld>
            <a:endParaRPr lang="en-US" altLang="en-US" sz="1400"/>
          </a:p>
        </p:txBody>
      </p:sp>
      <p:sp>
        <p:nvSpPr>
          <p:cNvPr id="18435" name="Rectangle 2">
            <a:extLst>
              <a:ext uri="{FF2B5EF4-FFF2-40B4-BE49-F238E27FC236}">
                <a16:creationId xmlns:a16="http://schemas.microsoft.com/office/drawing/2014/main" id="{980E80B3-8D6F-4CC0-F4D1-2C0BAA7512AE}"/>
              </a:ext>
            </a:extLst>
          </p:cNvPr>
          <p:cNvSpPr>
            <a:spLocks noGrp="1" noChangeArrowheads="1"/>
          </p:cNvSpPr>
          <p:nvPr>
            <p:ph type="title"/>
          </p:nvPr>
        </p:nvSpPr>
        <p:spPr>
          <a:xfrm>
            <a:off x="685800" y="457200"/>
            <a:ext cx="7772400" cy="609600"/>
          </a:xfrm>
        </p:spPr>
        <p:txBody>
          <a:bodyPr/>
          <a:lstStyle/>
          <a:p>
            <a:pPr eaLnBrk="1" hangingPunct="1"/>
            <a:r>
              <a:rPr lang="en-US" altLang="en-US" sz="4000" b="1">
                <a:solidFill>
                  <a:schemeClr val="accent2"/>
                </a:solidFill>
              </a:rPr>
              <a:t>Cost of goods sold(1)</a:t>
            </a:r>
          </a:p>
        </p:txBody>
      </p:sp>
      <p:sp>
        <p:nvSpPr>
          <p:cNvPr id="18436" name="Rectangle 3">
            <a:extLst>
              <a:ext uri="{FF2B5EF4-FFF2-40B4-BE49-F238E27FC236}">
                <a16:creationId xmlns:a16="http://schemas.microsoft.com/office/drawing/2014/main" id="{548A2195-F724-9C55-78F1-4690B6365B41}"/>
              </a:ext>
            </a:extLst>
          </p:cNvPr>
          <p:cNvSpPr>
            <a:spLocks noGrp="1" noChangeArrowheads="1"/>
          </p:cNvSpPr>
          <p:nvPr>
            <p:ph type="body" idx="1"/>
          </p:nvPr>
        </p:nvSpPr>
        <p:spPr>
          <a:xfrm>
            <a:off x="457200" y="1219200"/>
            <a:ext cx="7848600" cy="5181600"/>
          </a:xfrm>
        </p:spPr>
        <p:txBody>
          <a:bodyPr/>
          <a:lstStyle/>
          <a:p>
            <a:pPr eaLnBrk="1" hangingPunct="1">
              <a:lnSpc>
                <a:spcPct val="90000"/>
              </a:lnSpc>
              <a:buFontTx/>
              <a:buNone/>
            </a:pPr>
            <a:r>
              <a:rPr lang="en-US" altLang="en-US" sz="2600">
                <a:cs typeface="Times New Roman" panose="02020603050405020304" pitchFamily="18" charset="0"/>
              </a:rPr>
              <a:t>    (</a:t>
            </a:r>
            <a:r>
              <a:rPr lang="en-US" altLang="en-US" sz="2400">
                <a:cs typeface="Times New Roman" panose="02020603050405020304" pitchFamily="18" charset="0"/>
              </a:rPr>
              <a:t>a)  </a:t>
            </a:r>
            <a:r>
              <a:rPr lang="en-US" altLang="en-US" sz="2800" b="1">
                <a:cs typeface="Times New Roman" panose="02020603050405020304" pitchFamily="18" charset="0"/>
              </a:rPr>
              <a:t>Cost of goods sold (COGS):</a:t>
            </a:r>
            <a:r>
              <a:rPr lang="en-US" altLang="en-US" sz="2400">
                <a:cs typeface="Times New Roman" panose="02020603050405020304" pitchFamily="18" charset="0"/>
              </a:rPr>
              <a:t> Issue of inventory valuation: If prices are changing with time (real or inflationary), method of calculating COGS needs to be specific and well defined in order to define costs of items withdrawn from inventory used in making sale. </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cs typeface="Times New Roman" panose="02020603050405020304" pitchFamily="18" charset="0"/>
              </a:rPr>
              <a:t>     (b)  </a:t>
            </a:r>
            <a:r>
              <a:rPr lang="en-US" altLang="en-US" sz="2800" b="1">
                <a:cs typeface="Times New Roman" panose="02020603050405020304" pitchFamily="18" charset="0"/>
              </a:rPr>
              <a:t>Methods </a:t>
            </a:r>
            <a:r>
              <a:rPr lang="en-US" altLang="en-US" sz="2400">
                <a:cs typeface="Times New Roman" panose="02020603050405020304" pitchFamily="18" charset="0"/>
              </a:rPr>
              <a:t>normally used:</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cs typeface="Times New Roman" panose="02020603050405020304" pitchFamily="18" charset="0"/>
              </a:rPr>
              <a:t>      -  </a:t>
            </a:r>
            <a:r>
              <a:rPr lang="en-US" altLang="en-US" sz="2800" b="1" u="sng">
                <a:cs typeface="Times New Roman" panose="02020603050405020304" pitchFamily="18" charset="0"/>
              </a:rPr>
              <a:t>First In First Out</a:t>
            </a:r>
            <a:r>
              <a:rPr lang="en-US" altLang="en-US" sz="2800" u="sng">
                <a:cs typeface="Times New Roman" panose="02020603050405020304" pitchFamily="18" charset="0"/>
              </a:rPr>
              <a:t> </a:t>
            </a:r>
            <a:r>
              <a:rPr lang="en-US" altLang="en-US" sz="2800" b="1" u="sng">
                <a:cs typeface="Times New Roman" panose="02020603050405020304" pitchFamily="18" charset="0"/>
              </a:rPr>
              <a:t>or FIFO method</a:t>
            </a:r>
            <a:r>
              <a:rPr lang="en-US" altLang="en-US" sz="2400" u="sng">
                <a:cs typeface="Times New Roman" panose="02020603050405020304" pitchFamily="18" charset="0"/>
              </a:rPr>
              <a:t>:</a:t>
            </a:r>
            <a:r>
              <a:rPr lang="en-US" altLang="en-US" sz="2400">
                <a:cs typeface="Times New Roman" panose="02020603050405020304" pitchFamily="18" charset="0"/>
              </a:rPr>
              <a:t>   the oldest    inventories taken as the COGS. </a:t>
            </a:r>
          </a:p>
          <a:p>
            <a:pPr eaLnBrk="1" hangingPunct="1">
              <a:lnSpc>
                <a:spcPct val="90000"/>
              </a:lnSpc>
              <a:buFontTx/>
              <a:buNone/>
            </a:pPr>
            <a:r>
              <a:rPr lang="en-US" altLang="en-US" sz="2400">
                <a:cs typeface="Times New Roman" panose="02020603050405020304" pitchFamily="18" charset="0"/>
              </a:rPr>
              <a:t>      -  </a:t>
            </a:r>
            <a:r>
              <a:rPr lang="en-US" altLang="en-US" sz="2800" b="1" u="sng">
                <a:cs typeface="Times New Roman" panose="02020603050405020304" pitchFamily="18" charset="0"/>
              </a:rPr>
              <a:t>Last In First Out or LIFO method</a:t>
            </a:r>
            <a:r>
              <a:rPr lang="en-US" altLang="en-US" sz="2400" u="sng">
                <a:cs typeface="Times New Roman" panose="02020603050405020304" pitchFamily="18" charset="0"/>
              </a:rPr>
              <a:t>:</a:t>
            </a:r>
            <a:r>
              <a:rPr lang="en-US" altLang="en-US" sz="2400">
                <a:cs typeface="Times New Roman" panose="02020603050405020304" pitchFamily="18" charset="0"/>
              </a:rPr>
              <a:t>  the cost of raw materials purchased last is the COGS. </a:t>
            </a:r>
          </a:p>
          <a:p>
            <a:pPr lvl="1" eaLnBrk="1" hangingPunct="1">
              <a:lnSpc>
                <a:spcPct val="90000"/>
              </a:lnSpc>
              <a:buFontTx/>
              <a:buChar char="-"/>
            </a:pPr>
            <a:r>
              <a:rPr lang="en-US" altLang="en-US" b="1" u="sng">
                <a:cs typeface="Courier New" panose="02070309020205020404" pitchFamily="49" charset="0"/>
              </a:rPr>
              <a:t>Average cost</a:t>
            </a:r>
          </a:p>
          <a:p>
            <a:pPr eaLnBrk="1" hangingPunct="1">
              <a:lnSpc>
                <a:spcPct val="90000"/>
              </a:lnSpc>
              <a:buFontTx/>
              <a:buNone/>
            </a:pPr>
            <a:r>
              <a:rPr lang="en-US" altLang="en-US" sz="2400" i="1">
                <a:cs typeface="Times New Roman" panose="02020603050405020304" pitchFamily="18" charset="0"/>
              </a:rPr>
              <a:t>    </a:t>
            </a:r>
            <a:r>
              <a:rPr lang="en-US" altLang="en-US" sz="2400" b="1" i="1">
                <a:cs typeface="Times New Roman" panose="02020603050405020304" pitchFamily="18" charset="0"/>
              </a:rPr>
              <a:t>Illustrations:</a:t>
            </a:r>
            <a:r>
              <a:rPr lang="en-US" altLang="en-US" sz="2400">
                <a:cs typeface="Times New Roman" panose="02020603050405020304" pitchFamily="18" charset="0"/>
              </a:rPr>
              <a:t>  Assume price increase of 10% each period and a corporate tax of 40%.</a:t>
            </a:r>
            <a:endParaRPr lang="en-US" alt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BF122871-DA74-8B0D-3441-E3D3D3587F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7FBB732-EF69-4931-AC14-CE9624DEB556}" type="slidenum">
              <a:rPr lang="en-US" altLang="en-US" sz="1400"/>
              <a:pPr>
                <a:spcBef>
                  <a:spcPct val="0"/>
                </a:spcBef>
                <a:buFontTx/>
                <a:buNone/>
              </a:pPr>
              <a:t>29</a:t>
            </a:fld>
            <a:endParaRPr lang="en-US" altLang="en-US" sz="1400"/>
          </a:p>
        </p:txBody>
      </p:sp>
      <p:sp>
        <p:nvSpPr>
          <p:cNvPr id="20483" name="Rectangle 2">
            <a:extLst>
              <a:ext uri="{FF2B5EF4-FFF2-40B4-BE49-F238E27FC236}">
                <a16:creationId xmlns:a16="http://schemas.microsoft.com/office/drawing/2014/main" id="{3FDE0C23-EB88-65D6-F961-6B0BDC781C04}"/>
              </a:ext>
            </a:extLst>
          </p:cNvPr>
          <p:cNvSpPr>
            <a:spLocks noGrp="1" noChangeArrowheads="1"/>
          </p:cNvSpPr>
          <p:nvPr>
            <p:ph type="title"/>
          </p:nvPr>
        </p:nvSpPr>
        <p:spPr>
          <a:xfrm>
            <a:off x="685800" y="990600"/>
            <a:ext cx="7772400" cy="76200"/>
          </a:xfrm>
        </p:spPr>
        <p:txBody>
          <a:bodyPr/>
          <a:lstStyle/>
          <a:p>
            <a:pPr eaLnBrk="1" hangingPunct="1"/>
            <a:r>
              <a:rPr lang="en-US" altLang="en-US" sz="4000" b="1">
                <a:solidFill>
                  <a:schemeClr val="accent2"/>
                </a:solidFill>
              </a:rPr>
              <a:t>COGS (FIFO)</a:t>
            </a:r>
            <a:br>
              <a:rPr lang="en-US" altLang="en-US" sz="4000" b="1">
                <a:solidFill>
                  <a:schemeClr val="accent2"/>
                </a:solidFill>
              </a:rPr>
            </a:br>
            <a:endParaRPr lang="en-US" altLang="en-US" sz="4000" b="1">
              <a:solidFill>
                <a:schemeClr val="accent2"/>
              </a:solidFill>
            </a:endParaRPr>
          </a:p>
        </p:txBody>
      </p:sp>
      <p:sp>
        <p:nvSpPr>
          <p:cNvPr id="20484" name="Rectangle 3">
            <a:extLst>
              <a:ext uri="{FF2B5EF4-FFF2-40B4-BE49-F238E27FC236}">
                <a16:creationId xmlns:a16="http://schemas.microsoft.com/office/drawing/2014/main" id="{E8AD7D95-AE04-25BC-4A3D-975A551E79CA}"/>
              </a:ext>
            </a:extLst>
          </p:cNvPr>
          <p:cNvSpPr>
            <a:spLocks noGrp="1" noChangeArrowheads="1"/>
          </p:cNvSpPr>
          <p:nvPr>
            <p:ph type="body" idx="1"/>
          </p:nvPr>
        </p:nvSpPr>
        <p:spPr>
          <a:xfrm>
            <a:off x="762000" y="1295400"/>
            <a:ext cx="8077200" cy="4876800"/>
          </a:xfrm>
        </p:spPr>
        <p:txBody>
          <a:bodyPr/>
          <a:lstStyle/>
          <a:p>
            <a:pPr algn="just" eaLnBrk="1" hangingPunct="1">
              <a:lnSpc>
                <a:spcPct val="90000"/>
              </a:lnSpc>
              <a:buFontTx/>
              <a:buNone/>
            </a:pPr>
            <a:r>
              <a:rPr lang="en-US" altLang="en-US" sz="2600" b="1" u="sng">
                <a:cs typeface="Times New Roman" panose="02020603050405020304" pitchFamily="18" charset="0"/>
              </a:rPr>
              <a:t>FIFO </a:t>
            </a:r>
          </a:p>
          <a:p>
            <a:pPr algn="just" eaLnBrk="1" hangingPunct="1">
              <a:lnSpc>
                <a:spcPct val="90000"/>
              </a:lnSpc>
              <a:buFontTx/>
              <a:buNone/>
            </a:pPr>
            <a:r>
              <a:rPr lang="en-US" altLang="en-US" sz="2600">
                <a:cs typeface="Times New Roman" panose="02020603050405020304" pitchFamily="18" charset="0"/>
              </a:rPr>
              <a:t>Years			     	 1 	2 	3 	4</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Sales       				200	220 	242</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Purchases 		  	</a:t>
            </a:r>
            <a:r>
              <a:rPr lang="en-US" altLang="en-US" sz="2600" b="1">
                <a:solidFill>
                  <a:srgbClr val="FF0000"/>
                </a:solidFill>
                <a:cs typeface="Times New Roman" panose="02020603050405020304" pitchFamily="18" charset="0"/>
              </a:rPr>
              <a:t>100 	110  	121</a:t>
            </a:r>
            <a:endParaRPr lang="en-US" altLang="en-US" sz="2600" b="1">
              <a:solidFill>
                <a:srgbClr val="FF0000"/>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COGS       				</a:t>
            </a:r>
            <a:r>
              <a:rPr lang="en-US" altLang="en-US" sz="2600" b="1">
                <a:solidFill>
                  <a:srgbClr val="FF0000"/>
                </a:solidFill>
                <a:cs typeface="Times New Roman" panose="02020603050405020304" pitchFamily="18" charset="0"/>
              </a:rPr>
              <a:t>100 	110	121</a:t>
            </a:r>
            <a:endParaRPr lang="en-US" altLang="en-US" sz="2600" b="1">
              <a:solidFill>
                <a:srgbClr val="FF0000"/>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Taxable Income   			</a:t>
            </a:r>
            <a:r>
              <a:rPr lang="en-US" altLang="en-US" sz="2600" b="1">
                <a:solidFill>
                  <a:srgbClr val="339933"/>
                </a:solidFill>
                <a:cs typeface="Times New Roman" panose="02020603050405020304" pitchFamily="18" charset="0"/>
              </a:rPr>
              <a:t>100 	110 	121</a:t>
            </a:r>
            <a:endParaRPr lang="en-US" altLang="en-US" sz="2600" b="1">
              <a:solidFill>
                <a:srgbClr val="339933"/>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Tax liability (nominal) 		40	44  	48.4</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Tax liability (real)       		36.36 	36.36 	36.36</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PV of tax </a:t>
            </a:r>
          </a:p>
          <a:p>
            <a:pPr algn="just" eaLnBrk="1" hangingPunct="1">
              <a:lnSpc>
                <a:spcPct val="90000"/>
              </a:lnSpc>
              <a:buFontTx/>
              <a:buNone/>
            </a:pPr>
            <a:r>
              <a:rPr lang="en-US" altLang="en-US" sz="2600">
                <a:cs typeface="Times New Roman" panose="02020603050405020304" pitchFamily="18" charset="0"/>
              </a:rPr>
              <a:t>(@ 8% discount rate) 		33.67 	31.18 	28.87</a:t>
            </a:r>
            <a:endParaRPr lang="en-US" altLang="en-US" sz="26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600">
                <a:cs typeface="Times New Roman" panose="02020603050405020304" pitchFamily="18" charset="0"/>
              </a:rPr>
              <a:t>PV of total tax liability  	93.72</a:t>
            </a:r>
            <a:r>
              <a:rPr lang="en-US" altLang="en-US" sz="260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F8B65C2F-3DD0-C987-59D1-02C2C2B5E4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A10A1AB-363E-4E05-8544-9C1956FA2BC3}" type="slidenum">
              <a:rPr lang="en-US" altLang="en-US" sz="1400"/>
              <a:pPr>
                <a:spcBef>
                  <a:spcPct val="0"/>
                </a:spcBef>
                <a:buFontTx/>
                <a:buNone/>
              </a:pPr>
              <a:t>30</a:t>
            </a:fld>
            <a:endParaRPr lang="en-US" altLang="en-US" sz="1400"/>
          </a:p>
        </p:txBody>
      </p:sp>
      <p:sp>
        <p:nvSpPr>
          <p:cNvPr id="22531" name="Rectangle 2">
            <a:extLst>
              <a:ext uri="{FF2B5EF4-FFF2-40B4-BE49-F238E27FC236}">
                <a16:creationId xmlns:a16="http://schemas.microsoft.com/office/drawing/2014/main" id="{E2FD6B12-A397-3381-2DB7-437AD8BE64A3}"/>
              </a:ext>
            </a:extLst>
          </p:cNvPr>
          <p:cNvSpPr>
            <a:spLocks noGrp="1" noChangeArrowheads="1"/>
          </p:cNvSpPr>
          <p:nvPr>
            <p:ph type="title"/>
          </p:nvPr>
        </p:nvSpPr>
        <p:spPr>
          <a:xfrm>
            <a:off x="685800" y="381000"/>
            <a:ext cx="7772400" cy="685800"/>
          </a:xfrm>
        </p:spPr>
        <p:txBody>
          <a:bodyPr/>
          <a:lstStyle/>
          <a:p>
            <a:pPr eaLnBrk="1" hangingPunct="1"/>
            <a:r>
              <a:rPr lang="en-US" altLang="en-US" sz="4000" b="1">
                <a:solidFill>
                  <a:schemeClr val="accent2"/>
                </a:solidFill>
              </a:rPr>
              <a:t>COGS (LIFO)</a:t>
            </a:r>
          </a:p>
        </p:txBody>
      </p:sp>
      <p:sp>
        <p:nvSpPr>
          <p:cNvPr id="22532" name="Rectangle 3">
            <a:extLst>
              <a:ext uri="{FF2B5EF4-FFF2-40B4-BE49-F238E27FC236}">
                <a16:creationId xmlns:a16="http://schemas.microsoft.com/office/drawing/2014/main" id="{98946738-B2B8-6947-5BD3-AF5D572FFC1C}"/>
              </a:ext>
            </a:extLst>
          </p:cNvPr>
          <p:cNvSpPr>
            <a:spLocks noGrp="1" noChangeArrowheads="1"/>
          </p:cNvSpPr>
          <p:nvPr>
            <p:ph type="body" idx="1"/>
          </p:nvPr>
        </p:nvSpPr>
        <p:spPr>
          <a:xfrm>
            <a:off x="533400" y="1219200"/>
            <a:ext cx="8077200" cy="4876800"/>
          </a:xfrm>
        </p:spPr>
        <p:txBody>
          <a:bodyPr/>
          <a:lstStyle/>
          <a:p>
            <a:pPr algn="just" eaLnBrk="1" hangingPunct="1">
              <a:lnSpc>
                <a:spcPct val="90000"/>
              </a:lnSpc>
              <a:buFontTx/>
              <a:buNone/>
            </a:pPr>
            <a:r>
              <a:rPr lang="en-US" altLang="en-US" sz="2600" b="1" u="sng">
                <a:cs typeface="Times New Roman" panose="02020603050405020304" pitchFamily="18" charset="0"/>
              </a:rPr>
              <a:t>LIFO</a:t>
            </a:r>
          </a:p>
          <a:p>
            <a:pPr algn="just" eaLnBrk="1" hangingPunct="1">
              <a:lnSpc>
                <a:spcPct val="90000"/>
              </a:lnSpc>
              <a:buFontTx/>
              <a:buNone/>
            </a:pPr>
            <a:r>
              <a:rPr lang="en-US" altLang="en-US" sz="2600">
                <a:cs typeface="Times New Roman" panose="02020603050405020304" pitchFamily="18" charset="0"/>
              </a:rPr>
              <a:t>Sales           	                        	200 	220 	242</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Purchases          		</a:t>
            </a:r>
            <a:r>
              <a:rPr lang="en-US" altLang="en-US" sz="2600" b="1" i="1">
                <a:solidFill>
                  <a:srgbClr val="FF0000"/>
                </a:solidFill>
                <a:cs typeface="Times New Roman" panose="02020603050405020304" pitchFamily="18" charset="0"/>
              </a:rPr>
              <a:t>100</a:t>
            </a:r>
            <a:r>
              <a:rPr lang="en-US" altLang="en-US" sz="2600" b="1">
                <a:solidFill>
                  <a:srgbClr val="FF0000"/>
                </a:solidFill>
                <a:cs typeface="Times New Roman" panose="02020603050405020304" pitchFamily="18" charset="0"/>
              </a:rPr>
              <a:t>     110 	121</a:t>
            </a:r>
            <a:endParaRPr lang="en-US" altLang="en-US" sz="2600" b="1">
              <a:solidFill>
                <a:srgbClr val="FF0000"/>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COGS         				</a:t>
            </a:r>
            <a:r>
              <a:rPr lang="en-US" altLang="en-US" sz="2600" b="1">
                <a:solidFill>
                  <a:srgbClr val="FF0000"/>
                </a:solidFill>
                <a:cs typeface="Times New Roman" panose="02020603050405020304" pitchFamily="18" charset="0"/>
              </a:rPr>
              <a:t>110  	121 	</a:t>
            </a:r>
            <a:r>
              <a:rPr lang="en-US" altLang="en-US" sz="2600" b="1" i="1">
                <a:solidFill>
                  <a:srgbClr val="FF0000"/>
                </a:solidFill>
                <a:cs typeface="Times New Roman" panose="02020603050405020304" pitchFamily="18" charset="0"/>
              </a:rPr>
              <a:t>100</a:t>
            </a:r>
            <a:endParaRPr lang="en-US" altLang="en-US" sz="2600" b="1" i="1">
              <a:solidFill>
                <a:srgbClr val="FF0000"/>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Taxable Income			</a:t>
            </a:r>
            <a:r>
              <a:rPr lang="en-US" altLang="en-US" sz="2600" b="1">
                <a:solidFill>
                  <a:srgbClr val="339933"/>
                </a:solidFill>
                <a:cs typeface="Times New Roman" panose="02020603050405020304" pitchFamily="18" charset="0"/>
              </a:rPr>
              <a:t>90  	99  	</a:t>
            </a:r>
            <a:r>
              <a:rPr lang="en-US" altLang="en-US" sz="2600" b="1" i="1">
                <a:solidFill>
                  <a:srgbClr val="339933"/>
                </a:solidFill>
                <a:cs typeface="Times New Roman" panose="02020603050405020304" pitchFamily="18" charset="0"/>
              </a:rPr>
              <a:t>142</a:t>
            </a:r>
            <a:endParaRPr lang="en-US" altLang="en-US" sz="2600" b="1" i="1">
              <a:solidFill>
                <a:srgbClr val="339933"/>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Tax liability (nominal)      		36  	39.6  	56.8 </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Tax liability (real)  			32.73	32.73  	42.67</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PV of tax </a:t>
            </a:r>
          </a:p>
          <a:p>
            <a:pPr algn="just" eaLnBrk="1" hangingPunct="1">
              <a:lnSpc>
                <a:spcPct val="90000"/>
              </a:lnSpc>
              <a:buFontTx/>
              <a:buNone/>
            </a:pPr>
            <a:r>
              <a:rPr lang="en-US" altLang="en-US" sz="2600">
                <a:cs typeface="Times New Roman" panose="02020603050405020304" pitchFamily="18" charset="0"/>
              </a:rPr>
              <a:t>(@ 8% discount rate)		30.31  	28.06	33.87</a:t>
            </a:r>
            <a:endParaRPr lang="en-US" altLang="en-US" sz="26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600">
                <a:cs typeface="Times New Roman" panose="02020603050405020304" pitchFamily="18" charset="0"/>
              </a:rPr>
              <a:t> PV of total tax liability      92.24  </a:t>
            </a:r>
          </a:p>
          <a:p>
            <a:pPr algn="just" eaLnBrk="1" hangingPunct="1">
              <a:lnSpc>
                <a:spcPct val="90000"/>
              </a:lnSpc>
              <a:buFontTx/>
              <a:buNone/>
            </a:pPr>
            <a:r>
              <a:rPr lang="en-US" altLang="en-US" sz="2600">
                <a:cs typeface="Times New Roman" panose="02020603050405020304" pitchFamily="18" charset="0"/>
              </a:rPr>
              <a:t>	(</a:t>
            </a:r>
            <a:r>
              <a:rPr lang="en-US" altLang="en-US" sz="2400">
                <a:cs typeface="Times New Roman" panose="02020603050405020304" pitchFamily="18" charset="0"/>
              </a:rPr>
              <a:t>normally even lower if inventory liquidation deferred for longer</a:t>
            </a:r>
            <a:r>
              <a:rPr lang="en-US" altLang="en-US" sz="2600">
                <a:cs typeface="Times New Roman" panose="02020603050405020304" pitchFamily="18" charset="0"/>
              </a:rPr>
              <a:t>)</a:t>
            </a:r>
            <a:endParaRPr lang="en-US" altLang="en-US" sz="2600">
              <a:latin typeface="Courier New" panose="02070309020205020404" pitchFamily="49" charset="0"/>
              <a:cs typeface="Courier New" panose="02070309020205020404" pitchFamily="49" charset="0"/>
            </a:endParaRPr>
          </a:p>
          <a:p>
            <a:pPr eaLnBrk="1" hangingPunct="1">
              <a:lnSpc>
                <a:spcPct val="90000"/>
              </a:lnSpc>
              <a:buFontTx/>
              <a:buNone/>
            </a:pPr>
            <a:endParaRPr lang="en-US" altLang="en-US" sz="2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F1A1148F-AD51-292C-CBBE-BEE3F84239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FA4DA0A-3FD6-43E0-AC36-7EAF409473B2}" type="slidenum">
              <a:rPr lang="en-US" altLang="en-US" sz="1400"/>
              <a:pPr>
                <a:spcBef>
                  <a:spcPct val="0"/>
                </a:spcBef>
                <a:buFontTx/>
                <a:buNone/>
              </a:pPr>
              <a:t>31</a:t>
            </a:fld>
            <a:endParaRPr lang="en-US" altLang="en-US" sz="1400"/>
          </a:p>
        </p:txBody>
      </p:sp>
      <p:sp>
        <p:nvSpPr>
          <p:cNvPr id="24579" name="Rectangle 2">
            <a:extLst>
              <a:ext uri="{FF2B5EF4-FFF2-40B4-BE49-F238E27FC236}">
                <a16:creationId xmlns:a16="http://schemas.microsoft.com/office/drawing/2014/main" id="{669944F9-BEBF-92C5-DAA9-C29F81B79D45}"/>
              </a:ext>
            </a:extLst>
          </p:cNvPr>
          <p:cNvSpPr>
            <a:spLocks noGrp="1" noChangeArrowheads="1"/>
          </p:cNvSpPr>
          <p:nvPr>
            <p:ph type="title"/>
          </p:nvPr>
        </p:nvSpPr>
        <p:spPr>
          <a:xfrm>
            <a:off x="685800" y="990600"/>
            <a:ext cx="7772400" cy="76200"/>
          </a:xfrm>
        </p:spPr>
        <p:txBody>
          <a:bodyPr/>
          <a:lstStyle/>
          <a:p>
            <a:pPr eaLnBrk="1" hangingPunct="1"/>
            <a:r>
              <a:rPr lang="en-US" altLang="en-US" sz="4000" b="1">
                <a:solidFill>
                  <a:schemeClr val="accent2"/>
                </a:solidFill>
              </a:rPr>
              <a:t>COGS: LIFO vs FIFO</a:t>
            </a:r>
            <a:br>
              <a:rPr lang="en-US" altLang="en-US" sz="4000" b="1">
                <a:solidFill>
                  <a:schemeClr val="accent2"/>
                </a:solidFill>
              </a:rPr>
            </a:br>
            <a:endParaRPr lang="en-US" altLang="en-US" sz="4000" b="1">
              <a:solidFill>
                <a:schemeClr val="accent2"/>
              </a:solidFill>
            </a:endParaRPr>
          </a:p>
        </p:txBody>
      </p:sp>
      <p:sp>
        <p:nvSpPr>
          <p:cNvPr id="24580" name="Rectangle 3">
            <a:extLst>
              <a:ext uri="{FF2B5EF4-FFF2-40B4-BE49-F238E27FC236}">
                <a16:creationId xmlns:a16="http://schemas.microsoft.com/office/drawing/2014/main" id="{98D6C383-608E-3A5B-16FF-0395B69814B8}"/>
              </a:ext>
            </a:extLst>
          </p:cNvPr>
          <p:cNvSpPr>
            <a:spLocks noGrp="1" noChangeArrowheads="1"/>
          </p:cNvSpPr>
          <p:nvPr>
            <p:ph type="body" idx="1"/>
          </p:nvPr>
        </p:nvSpPr>
        <p:spPr>
          <a:xfrm>
            <a:off x="457200" y="1219200"/>
            <a:ext cx="8305800" cy="4876800"/>
          </a:xfrm>
        </p:spPr>
        <p:txBody>
          <a:bodyPr/>
          <a:lstStyle/>
          <a:p>
            <a:pPr algn="just" eaLnBrk="1" hangingPunct="1">
              <a:lnSpc>
                <a:spcPct val="90000"/>
              </a:lnSpc>
              <a:buFontTx/>
              <a:buNone/>
            </a:pPr>
            <a:r>
              <a:rPr lang="en-US" altLang="en-US" sz="2800" b="1" i="1">
                <a:cs typeface="Times New Roman" panose="02020603050405020304" pitchFamily="18" charset="0"/>
              </a:rPr>
              <a:t>Conclusions:</a:t>
            </a:r>
            <a:r>
              <a:rPr lang="en-US" altLang="en-US" sz="2800">
                <a:cs typeface="Times New Roman" panose="02020603050405020304" pitchFamily="18" charset="0"/>
              </a:rPr>
              <a:t> </a:t>
            </a:r>
            <a:endParaRPr lang="en-US" altLang="en-US" sz="28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cs typeface="Times New Roman" panose="02020603050405020304" pitchFamily="18" charset="0"/>
              </a:rPr>
              <a:t>    a) With FIFO, company pays more taxes as it uses old prices in costs. Timing of payment is important.</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cs typeface="Times New Roman" panose="02020603050405020304" pitchFamily="18" charset="0"/>
              </a:rPr>
              <a:t>    b) In LIFO, tax liability low in initial years. Tax liability high in the last year, when the company may be closing down because of bad times or poor business operations.  LIFO accentuates cycles – taxes relatively higher in downturns when draw down inventories.</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latin typeface="Symbol" panose="05050102010706020507" pitchFamily="18" charset="2"/>
                <a:cs typeface="Courier New" panose="02070309020205020404" pitchFamily="49" charset="0"/>
              </a:rPr>
              <a:t>    ·</a:t>
            </a:r>
            <a:r>
              <a:rPr lang="en-US" altLang="en-US" sz="2400">
                <a:cs typeface="Times New Roman" panose="02020603050405020304" pitchFamily="18" charset="0"/>
              </a:rPr>
              <a:t> In most countries, a corporation allowed to choose either FIFO or LIFO; some restrict to FIFO.  LIFO is desirable in high inflation economies;  FIFO in low inflation economies, also to avoid high taxes in cyclical downturns</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latin typeface="Symbol" panose="05050102010706020507" pitchFamily="18" charset="2"/>
                <a:cs typeface="Courier New" panose="02070309020205020404" pitchFamily="49" charset="0"/>
              </a:rPr>
              <a:t>    ·</a:t>
            </a:r>
            <a:r>
              <a:rPr lang="en-US" altLang="en-US" sz="2400">
                <a:cs typeface="Times New Roman" panose="02020603050405020304" pitchFamily="18" charset="0"/>
              </a:rPr>
              <a:t>  Sometimes a mixture may be used – average cost method.</a:t>
            </a:r>
            <a:endParaRPr lang="en-US" alt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F733C257-5BDB-6F1B-9D32-B0179C2157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506CF95-6ED9-4AA0-B5CE-40874E97D29D}" type="slidenum">
              <a:rPr lang="en-US" altLang="en-US" sz="1400"/>
              <a:pPr>
                <a:spcBef>
                  <a:spcPct val="0"/>
                </a:spcBef>
                <a:buFontTx/>
                <a:buNone/>
              </a:pPr>
              <a:t>32</a:t>
            </a:fld>
            <a:endParaRPr lang="en-US" altLang="en-US" sz="1400"/>
          </a:p>
        </p:txBody>
      </p:sp>
      <p:sp>
        <p:nvSpPr>
          <p:cNvPr id="26627" name="Rectangle 2">
            <a:extLst>
              <a:ext uri="{FF2B5EF4-FFF2-40B4-BE49-F238E27FC236}">
                <a16:creationId xmlns:a16="http://schemas.microsoft.com/office/drawing/2014/main" id="{07BECC39-39B1-1C24-B69C-40EDA2793021}"/>
              </a:ext>
            </a:extLst>
          </p:cNvPr>
          <p:cNvSpPr>
            <a:spLocks noGrp="1" noChangeArrowheads="1"/>
          </p:cNvSpPr>
          <p:nvPr>
            <p:ph type="title"/>
          </p:nvPr>
        </p:nvSpPr>
        <p:spPr>
          <a:xfrm>
            <a:off x="685800" y="304800"/>
            <a:ext cx="7772400" cy="685800"/>
          </a:xfrm>
        </p:spPr>
        <p:txBody>
          <a:bodyPr/>
          <a:lstStyle/>
          <a:p>
            <a:pPr eaLnBrk="1" hangingPunct="1"/>
            <a:r>
              <a:rPr lang="en-US" altLang="en-US" sz="4000" b="1">
                <a:solidFill>
                  <a:schemeClr val="accent2"/>
                </a:solidFill>
              </a:rPr>
              <a:t>Depreciation allowance</a:t>
            </a:r>
          </a:p>
        </p:txBody>
      </p:sp>
      <p:sp>
        <p:nvSpPr>
          <p:cNvPr id="26628" name="Rectangle 3">
            <a:extLst>
              <a:ext uri="{FF2B5EF4-FFF2-40B4-BE49-F238E27FC236}">
                <a16:creationId xmlns:a16="http://schemas.microsoft.com/office/drawing/2014/main" id="{D24C6614-2EFB-E8D6-F32A-9E9C92304EDF}"/>
              </a:ext>
            </a:extLst>
          </p:cNvPr>
          <p:cNvSpPr>
            <a:spLocks noGrp="1" noChangeArrowheads="1"/>
          </p:cNvSpPr>
          <p:nvPr>
            <p:ph type="body" idx="1"/>
          </p:nvPr>
        </p:nvSpPr>
        <p:spPr>
          <a:xfrm>
            <a:off x="609600" y="1143000"/>
            <a:ext cx="8153400" cy="5334000"/>
          </a:xfrm>
        </p:spPr>
        <p:txBody>
          <a:bodyPr/>
          <a:lstStyle/>
          <a:p>
            <a:pPr algn="just" eaLnBrk="1" hangingPunct="1">
              <a:lnSpc>
                <a:spcPct val="90000"/>
              </a:lnSpc>
              <a:buFontTx/>
              <a:buNone/>
            </a:pPr>
            <a:r>
              <a:rPr lang="en-US" altLang="en-US" sz="2800" b="1">
                <a:cs typeface="Times New Roman" panose="02020603050405020304" pitchFamily="18" charset="0"/>
              </a:rPr>
              <a:t>Depreciation (Capital Consumption) Allowance</a:t>
            </a:r>
            <a:r>
              <a:rPr lang="en-US" altLang="en-US" sz="2600">
                <a:cs typeface="Times New Roman" panose="02020603050405020304" pitchFamily="18" charset="0"/>
              </a:rPr>
              <a:t>:</a:t>
            </a:r>
            <a:endParaRPr lang="en-US" altLang="en-US" sz="26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600">
                <a:cs typeface="Times New Roman" panose="02020603050405020304" pitchFamily="18" charset="0"/>
              </a:rPr>
              <a:t>    </a:t>
            </a:r>
            <a:r>
              <a:rPr lang="en-US" altLang="en-US" sz="2400">
                <a:cs typeface="Times New Roman" panose="02020603050405020304" pitchFamily="18" charset="0"/>
              </a:rPr>
              <a:t>Reflects the </a:t>
            </a:r>
            <a:r>
              <a:rPr lang="en-US" altLang="en-US" sz="2400" b="1">
                <a:cs typeface="Times New Roman" panose="02020603050405020304" pitchFamily="18" charset="0"/>
              </a:rPr>
              <a:t>wear and tear of capital</a:t>
            </a:r>
            <a:r>
              <a:rPr lang="en-US" altLang="en-US" sz="2400">
                <a:cs typeface="Times New Roman" panose="02020603050405020304" pitchFamily="18" charset="0"/>
              </a:rPr>
              <a:t> (plant, machinery, building) during production process and is therefore a  cost of earning income.  (Unexpected changes in future profitability of use of asset lead to capital gains and losses)</a:t>
            </a:r>
          </a:p>
          <a:p>
            <a:pPr eaLnBrk="1" hangingPunct="1">
              <a:lnSpc>
                <a:spcPct val="90000"/>
              </a:lnSpc>
              <a:buFontTx/>
              <a:buNone/>
            </a:pPr>
            <a:r>
              <a:rPr lang="en-US" altLang="en-US" sz="2400">
                <a:latin typeface="Symbol" panose="05050102010706020507" pitchFamily="18" charset="2"/>
                <a:cs typeface="Courier New" panose="02070309020205020404" pitchFamily="49" charset="0"/>
              </a:rPr>
              <a:t> ·</a:t>
            </a:r>
            <a:r>
              <a:rPr lang="en-US" altLang="en-US" sz="2400">
                <a:cs typeface="Times New Roman" panose="02020603050405020304" pitchFamily="18" charset="0"/>
              </a:rPr>
              <a:t> Ideally, should use </a:t>
            </a:r>
            <a:r>
              <a:rPr lang="en-US" altLang="en-US" sz="2400" b="1">
                <a:cs typeface="Times New Roman" panose="02020603050405020304" pitchFamily="18" charset="0"/>
              </a:rPr>
              <a:t>economic depreciation</a:t>
            </a:r>
            <a:r>
              <a:rPr lang="en-US" altLang="en-US" sz="2400">
                <a:cs typeface="Times New Roman" panose="02020603050405020304" pitchFamily="18" charset="0"/>
              </a:rPr>
              <a:t>. Difficult to  determine, especially if company uses a large number of machines and equipment. Also requires price adjustments to current level rather than historical cost base.</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latin typeface="Symbol" panose="05050102010706020507" pitchFamily="18" charset="2"/>
                <a:cs typeface="Courier New" panose="02070309020205020404" pitchFamily="49" charset="0"/>
              </a:rPr>
              <a:t> ·</a:t>
            </a:r>
            <a:r>
              <a:rPr lang="en-US" altLang="en-US" sz="2400">
                <a:cs typeface="Times New Roman" panose="02020603050405020304" pitchFamily="18" charset="0"/>
              </a:rPr>
              <a:t> Following four </a:t>
            </a:r>
            <a:r>
              <a:rPr lang="en-US" altLang="en-US" sz="2400" b="1">
                <a:cs typeface="Times New Roman" panose="02020603050405020304" pitchFamily="18" charset="0"/>
              </a:rPr>
              <a:t>methods</a:t>
            </a:r>
            <a:r>
              <a:rPr lang="en-US" altLang="en-US" sz="2400">
                <a:cs typeface="Times New Roman" panose="02020603050405020304" pitchFamily="18" charset="0"/>
              </a:rPr>
              <a:t> often used: </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cs typeface="Times New Roman" panose="02020603050405020304" pitchFamily="18" charset="0"/>
              </a:rPr>
              <a:t>       (i)  Straight line depreciation</a:t>
            </a:r>
          </a:p>
          <a:p>
            <a:pPr eaLnBrk="1" hangingPunct="1">
              <a:lnSpc>
                <a:spcPct val="90000"/>
              </a:lnSpc>
              <a:buFontTx/>
              <a:buNone/>
            </a:pPr>
            <a:r>
              <a:rPr lang="en-US" altLang="en-US" sz="2400">
                <a:cs typeface="Times New Roman" panose="02020603050405020304" pitchFamily="18" charset="0"/>
              </a:rPr>
              <a:t>       (ii)  Declining balance   (also “sum of digits”)         </a:t>
            </a:r>
          </a:p>
          <a:p>
            <a:pPr eaLnBrk="1" hangingPunct="1">
              <a:lnSpc>
                <a:spcPct val="90000"/>
              </a:lnSpc>
              <a:buFontTx/>
              <a:buNone/>
            </a:pPr>
            <a:r>
              <a:rPr lang="en-US" altLang="en-US" sz="2400">
                <a:cs typeface="Times New Roman" panose="02020603050405020304" pitchFamily="18" charset="0"/>
              </a:rPr>
              <a:t>       (iii)  Immediate expensing</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a:cs typeface="Times New Roman" panose="02020603050405020304" pitchFamily="18" charset="0"/>
              </a:rPr>
              <a:t>       (iv) At loss or realization</a:t>
            </a:r>
            <a:endParaRPr lang="en-US" altLang="en-US" sz="2400">
              <a:latin typeface="Courier New" panose="02070309020205020404" pitchFamily="49" charset="0"/>
              <a:cs typeface="Courier New" panose="02070309020205020404" pitchFamily="49" charset="0"/>
            </a:endParaRPr>
          </a:p>
          <a:p>
            <a:pPr algn="just" eaLnBrk="1" hangingPunct="1">
              <a:lnSpc>
                <a:spcPct val="90000"/>
              </a:lnSpc>
              <a:buFontTx/>
              <a:buNone/>
            </a:pPr>
            <a:endParaRPr lang="en-US"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9B38A9C-58B6-A866-3B33-E5F31286EF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0BB0782-95BF-49BD-8716-A75AE0A5F100}" type="slidenum">
              <a:rPr lang="en-US" altLang="en-US" sz="1400"/>
              <a:pPr>
                <a:spcBef>
                  <a:spcPct val="0"/>
                </a:spcBef>
                <a:buFontTx/>
                <a:buNone/>
              </a:pPr>
              <a:t>33</a:t>
            </a:fld>
            <a:endParaRPr lang="en-US" altLang="en-US" sz="1400"/>
          </a:p>
        </p:txBody>
      </p:sp>
      <p:sp>
        <p:nvSpPr>
          <p:cNvPr id="28675" name="Rectangle 2">
            <a:extLst>
              <a:ext uri="{FF2B5EF4-FFF2-40B4-BE49-F238E27FC236}">
                <a16:creationId xmlns:a16="http://schemas.microsoft.com/office/drawing/2014/main" id="{12B4AF27-804A-B13D-083B-C34F6F4193BF}"/>
              </a:ext>
            </a:extLst>
          </p:cNvPr>
          <p:cNvSpPr>
            <a:spLocks noGrp="1" noChangeArrowheads="1"/>
          </p:cNvSpPr>
          <p:nvPr>
            <p:ph type="title"/>
          </p:nvPr>
        </p:nvSpPr>
        <p:spPr>
          <a:xfrm>
            <a:off x="685800" y="304800"/>
            <a:ext cx="7772400" cy="685800"/>
          </a:xfrm>
        </p:spPr>
        <p:txBody>
          <a:bodyPr/>
          <a:lstStyle/>
          <a:p>
            <a:pPr eaLnBrk="1" hangingPunct="1"/>
            <a:r>
              <a:rPr lang="en-US" altLang="en-US" sz="4000" b="1">
                <a:solidFill>
                  <a:schemeClr val="accent2"/>
                </a:solidFill>
              </a:rPr>
              <a:t>Depreciation methods (1)</a:t>
            </a:r>
          </a:p>
        </p:txBody>
      </p:sp>
      <p:sp>
        <p:nvSpPr>
          <p:cNvPr id="28676" name="Rectangle 3">
            <a:extLst>
              <a:ext uri="{FF2B5EF4-FFF2-40B4-BE49-F238E27FC236}">
                <a16:creationId xmlns:a16="http://schemas.microsoft.com/office/drawing/2014/main" id="{C49ADB3B-B9AA-3A13-738F-381EA912B0DD}"/>
              </a:ext>
            </a:extLst>
          </p:cNvPr>
          <p:cNvSpPr>
            <a:spLocks noGrp="1" noChangeArrowheads="1"/>
          </p:cNvSpPr>
          <p:nvPr>
            <p:ph type="body" idx="1"/>
          </p:nvPr>
        </p:nvSpPr>
        <p:spPr>
          <a:xfrm>
            <a:off x="609600" y="1143000"/>
            <a:ext cx="7635875" cy="5410200"/>
          </a:xfrm>
        </p:spPr>
        <p:txBody>
          <a:bodyPr/>
          <a:lstStyle/>
          <a:p>
            <a:pPr eaLnBrk="1" hangingPunct="1">
              <a:buFontTx/>
              <a:buNone/>
            </a:pPr>
            <a:r>
              <a:rPr lang="en-US" altLang="en-US" sz="2600" dirty="0">
                <a:cs typeface="Times New Roman" panose="02020603050405020304" pitchFamily="18" charset="0"/>
              </a:rPr>
              <a:t>    (</a:t>
            </a:r>
            <a:r>
              <a:rPr lang="en-US" altLang="en-US" sz="2600" dirty="0" err="1">
                <a:cs typeface="Times New Roman" panose="02020603050405020304" pitchFamily="18" charset="0"/>
              </a:rPr>
              <a:t>i</a:t>
            </a:r>
            <a:r>
              <a:rPr lang="en-US" altLang="en-US" sz="2600" dirty="0">
                <a:cs typeface="Times New Roman" panose="02020603050405020304" pitchFamily="18" charset="0"/>
              </a:rPr>
              <a:t>) </a:t>
            </a:r>
            <a:r>
              <a:rPr lang="en-US" altLang="en-US" sz="2800" b="1" dirty="0">
                <a:cs typeface="Times New Roman" panose="02020603050405020304" pitchFamily="18" charset="0"/>
              </a:rPr>
              <a:t>Straight line method:</a:t>
            </a:r>
            <a:r>
              <a:rPr lang="en-US" altLang="en-US" sz="2400" dirty="0">
                <a:cs typeface="Times New Roman" panose="02020603050405020304" pitchFamily="18" charset="0"/>
              </a:rPr>
              <a:t> Based on the historical cost of the machine, life of the asset, and the estimated salvage value at the end of life, a uniform rate of depreciation calculated.</a:t>
            </a:r>
            <a:endParaRPr lang="en-US" altLang="en-US" sz="2400" dirty="0">
              <a:latin typeface="Courier New" panose="02070309020205020404" pitchFamily="49" charset="0"/>
              <a:cs typeface="Courier New" panose="02070309020205020404" pitchFamily="49" charset="0"/>
            </a:endParaRPr>
          </a:p>
          <a:p>
            <a:pPr algn="just" eaLnBrk="1" hangingPunct="1">
              <a:buFontTx/>
              <a:buNone/>
            </a:pPr>
            <a:r>
              <a:rPr lang="en-US" altLang="en-US" sz="1200" dirty="0">
                <a:cs typeface="Times New Roman" panose="02020603050405020304" pitchFamily="18" charset="0"/>
              </a:rPr>
              <a:t> </a:t>
            </a:r>
            <a:endParaRPr lang="en-US" altLang="en-US" sz="1200" dirty="0">
              <a:latin typeface="Courier New" panose="02070309020205020404" pitchFamily="49" charset="0"/>
              <a:cs typeface="Courier New" panose="02070309020205020404" pitchFamily="49" charset="0"/>
            </a:endParaRPr>
          </a:p>
          <a:p>
            <a:pPr eaLnBrk="1" hangingPunct="1">
              <a:buFontTx/>
              <a:buNone/>
            </a:pPr>
            <a:r>
              <a:rPr lang="en-US" altLang="en-US" sz="2400" dirty="0">
                <a:cs typeface="Times New Roman" panose="02020603050405020304" pitchFamily="18" charset="0"/>
              </a:rPr>
              <a:t>    C = historical cost  </a:t>
            </a:r>
          </a:p>
          <a:p>
            <a:pPr eaLnBrk="1" hangingPunct="1">
              <a:buFontTx/>
              <a:buNone/>
            </a:pPr>
            <a:r>
              <a:rPr lang="en-US" altLang="en-US" sz="2400" dirty="0">
                <a:cs typeface="Times New Roman" panose="02020603050405020304" pitchFamily="18" charset="0"/>
              </a:rPr>
              <a:t>    SV = Salvage value (often assumed to be zero)</a:t>
            </a:r>
          </a:p>
          <a:p>
            <a:pPr eaLnBrk="1" hangingPunct="1">
              <a:buFontTx/>
              <a:buNone/>
            </a:pPr>
            <a:r>
              <a:rPr lang="en-US" altLang="en-US" sz="2400" dirty="0">
                <a:cs typeface="Times New Roman" panose="02020603050405020304" pitchFamily="18" charset="0"/>
              </a:rPr>
              <a:t>    n = life of asset (tables for different  machinery/ equipment usually provided)</a:t>
            </a:r>
            <a:endParaRPr lang="en-US" altLang="en-US" sz="2400" dirty="0">
              <a:latin typeface="Courier New" panose="02070309020205020404" pitchFamily="49" charset="0"/>
              <a:cs typeface="Courier New" panose="02070309020205020404" pitchFamily="49" charset="0"/>
            </a:endParaRPr>
          </a:p>
          <a:p>
            <a:pPr algn="just" eaLnBrk="1" hangingPunct="1">
              <a:buFontTx/>
              <a:buNone/>
            </a:pPr>
            <a:r>
              <a:rPr lang="en-US" altLang="en-US" sz="2400" dirty="0">
                <a:cs typeface="Times New Roman" panose="02020603050405020304" pitchFamily="18" charset="0"/>
              </a:rPr>
              <a:t>    </a:t>
            </a:r>
            <a:r>
              <a:rPr lang="en-US" altLang="en-US" sz="2800" b="1" dirty="0">
                <a:cs typeface="Times New Roman" panose="02020603050405020304" pitchFamily="18" charset="0"/>
              </a:rPr>
              <a:t>D = annual depreciation = (C - SV) / n</a:t>
            </a:r>
          </a:p>
          <a:p>
            <a:pPr eaLnBrk="1" hangingPunct="1">
              <a:buFontTx/>
              <a:buNone/>
            </a:pPr>
            <a:r>
              <a:rPr lang="en-US" altLang="en-US" sz="2800" dirty="0">
                <a:latin typeface="Symbol" panose="05050102010706020507" pitchFamily="18" charset="2"/>
                <a:cs typeface="Courier New" panose="02070309020205020404" pitchFamily="49" charset="0"/>
              </a:rPr>
              <a:t> ·</a:t>
            </a:r>
            <a:r>
              <a:rPr lang="en-US" altLang="en-US" sz="2800" dirty="0">
                <a:cs typeface="Times New Roman" panose="02020603050405020304" pitchFamily="18" charset="0"/>
              </a:rPr>
              <a:t> </a:t>
            </a:r>
            <a:r>
              <a:rPr lang="en-US" altLang="en-US" sz="2800" b="1" dirty="0">
                <a:cs typeface="Times New Roman" panose="02020603050405020304" pitchFamily="18" charset="0"/>
              </a:rPr>
              <a:t> </a:t>
            </a:r>
            <a:r>
              <a:rPr lang="en-US" altLang="en-US" sz="2400" dirty="0">
                <a:cs typeface="Times New Roman" panose="02020603050405020304" pitchFamily="18" charset="0"/>
              </a:rPr>
              <a:t>Requires </a:t>
            </a:r>
            <a:r>
              <a:rPr lang="en-US" altLang="en-US" sz="2400" b="1" dirty="0">
                <a:solidFill>
                  <a:srgbClr val="FF0000"/>
                </a:solidFill>
                <a:cs typeface="Times New Roman" panose="02020603050405020304" pitchFamily="18" charset="0"/>
              </a:rPr>
              <a:t>asset-by-asset depreciation accounts</a:t>
            </a:r>
            <a:r>
              <a:rPr lang="en-US" altLang="en-US" sz="2800" b="1" dirty="0">
                <a:cs typeface="Times New Roman" panose="02020603050405020304" pitchFamily="18" charset="0"/>
              </a:rPr>
              <a:t> </a:t>
            </a:r>
          </a:p>
          <a:p>
            <a:pPr eaLnBrk="1" hangingPunct="1">
              <a:buFontTx/>
              <a:buNone/>
            </a:pPr>
            <a:r>
              <a:rPr lang="en-US" altLang="en-US" sz="2800" dirty="0">
                <a:latin typeface="Symbol" panose="05050102010706020507" pitchFamily="18" charset="2"/>
                <a:cs typeface="Courier New" panose="02070309020205020404" pitchFamily="49" charset="0"/>
              </a:rPr>
              <a:t> ·</a:t>
            </a:r>
            <a:r>
              <a:rPr lang="en-US" altLang="en-US" sz="2800" dirty="0">
                <a:cs typeface="Times New Roman" panose="02020603050405020304" pitchFamily="18" charset="0"/>
              </a:rPr>
              <a:t>  </a:t>
            </a:r>
            <a:r>
              <a:rPr lang="en-US" altLang="en-US" sz="2400" dirty="0">
                <a:cs typeface="Times New Roman" panose="02020603050405020304" pitchFamily="18" charset="0"/>
              </a:rPr>
              <a:t>Often used for large long-lived assets such as buildings</a:t>
            </a:r>
            <a:endParaRPr lang="en-US" altLang="en-US" sz="2400" b="1" dirty="0">
              <a:latin typeface="Courier New" panose="02070309020205020404" pitchFamily="49" charset="0"/>
              <a:cs typeface="Courier New" panose="02070309020205020404" pitchFamily="49" charset="0"/>
            </a:endParaRPr>
          </a:p>
          <a:p>
            <a:pPr algn="just" eaLnBrk="1" hangingPunct="1">
              <a:buFontTx/>
              <a:buNone/>
            </a:pPr>
            <a:endParaRPr lang="en-US" altLang="en-US" sz="24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AAC70B76-26E1-2B88-11B1-274A31C03F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9C75D08-EDD3-4E93-995B-2D7CB687BE16}" type="slidenum">
              <a:rPr lang="en-US" altLang="en-US" sz="1400"/>
              <a:pPr>
                <a:spcBef>
                  <a:spcPct val="0"/>
                </a:spcBef>
                <a:buFontTx/>
                <a:buNone/>
              </a:pPr>
              <a:t>34</a:t>
            </a:fld>
            <a:endParaRPr lang="en-US" altLang="en-US" sz="1400"/>
          </a:p>
        </p:txBody>
      </p:sp>
      <p:sp>
        <p:nvSpPr>
          <p:cNvPr id="30723" name="Rectangle 2">
            <a:extLst>
              <a:ext uri="{FF2B5EF4-FFF2-40B4-BE49-F238E27FC236}">
                <a16:creationId xmlns:a16="http://schemas.microsoft.com/office/drawing/2014/main" id="{E91DC150-DB06-BC8B-9AB3-4161F7A0C1BD}"/>
              </a:ext>
            </a:extLst>
          </p:cNvPr>
          <p:cNvSpPr>
            <a:spLocks noGrp="1" noChangeArrowheads="1"/>
          </p:cNvSpPr>
          <p:nvPr>
            <p:ph type="title"/>
          </p:nvPr>
        </p:nvSpPr>
        <p:spPr>
          <a:xfrm>
            <a:off x="685800" y="228600"/>
            <a:ext cx="7772400" cy="762000"/>
          </a:xfrm>
        </p:spPr>
        <p:txBody>
          <a:bodyPr/>
          <a:lstStyle/>
          <a:p>
            <a:pPr eaLnBrk="1" hangingPunct="1"/>
            <a:r>
              <a:rPr lang="en-US" altLang="en-US" sz="4000" b="1">
                <a:solidFill>
                  <a:schemeClr val="accent2"/>
                </a:solidFill>
              </a:rPr>
              <a:t>Depreciation methods (2)</a:t>
            </a:r>
          </a:p>
        </p:txBody>
      </p:sp>
      <p:sp>
        <p:nvSpPr>
          <p:cNvPr id="30724" name="Rectangle 3">
            <a:extLst>
              <a:ext uri="{FF2B5EF4-FFF2-40B4-BE49-F238E27FC236}">
                <a16:creationId xmlns:a16="http://schemas.microsoft.com/office/drawing/2014/main" id="{9C6AFCCA-1A26-7AB5-29FB-850E832DCCCB}"/>
              </a:ext>
            </a:extLst>
          </p:cNvPr>
          <p:cNvSpPr>
            <a:spLocks noGrp="1" noChangeArrowheads="1"/>
          </p:cNvSpPr>
          <p:nvPr>
            <p:ph type="body" idx="1"/>
          </p:nvPr>
        </p:nvSpPr>
        <p:spPr>
          <a:xfrm>
            <a:off x="304800" y="990600"/>
            <a:ext cx="8610600" cy="5562600"/>
          </a:xfrm>
        </p:spPr>
        <p:txBody>
          <a:bodyPr/>
          <a:lstStyle/>
          <a:p>
            <a:pPr marL="0" indent="0" eaLnBrk="1" hangingPunct="1">
              <a:lnSpc>
                <a:spcPct val="80000"/>
              </a:lnSpc>
              <a:buFontTx/>
              <a:buNone/>
            </a:pPr>
            <a:r>
              <a:rPr lang="en-US" altLang="en-US" sz="2800" b="1"/>
              <a:t>(ii) Declining balance</a:t>
            </a:r>
            <a:r>
              <a:rPr lang="en-US" altLang="en-US" sz="2400" b="1"/>
              <a:t>:  </a:t>
            </a:r>
            <a:r>
              <a:rPr lang="en-US" altLang="en-US" sz="2400">
                <a:cs typeface="Times New Roman" panose="02020603050405020304" pitchFamily="18" charset="0"/>
              </a:rPr>
              <a:t>Provides an allowance equal to constant proportion of outstanding undepreciated balance of assets.</a:t>
            </a:r>
            <a:endParaRPr lang="en-US" altLang="en-US" sz="2400">
              <a:latin typeface="Courier New" panose="02070309020205020404" pitchFamily="49" charset="0"/>
              <a:cs typeface="Courier New" panose="02070309020205020404" pitchFamily="49" charset="0"/>
            </a:endParaRPr>
          </a:p>
          <a:p>
            <a:pPr marL="0" indent="0" eaLnBrk="1" hangingPunct="1">
              <a:lnSpc>
                <a:spcPct val="80000"/>
              </a:lnSpc>
              <a:buFontTx/>
              <a:buNone/>
            </a:pPr>
            <a:r>
              <a:rPr lang="en-US" altLang="en-US" sz="2400">
                <a:cs typeface="Times New Roman" panose="02020603050405020304" pitchFamily="18" charset="0"/>
              </a:rPr>
              <a:t>	C = historical cost; </a:t>
            </a:r>
          </a:p>
          <a:p>
            <a:pPr marL="0" indent="0" eaLnBrk="1" hangingPunct="1">
              <a:lnSpc>
                <a:spcPct val="80000"/>
              </a:lnSpc>
              <a:buFontTx/>
              <a:buNone/>
            </a:pPr>
            <a:r>
              <a:rPr lang="en-US" altLang="en-US" sz="2400">
                <a:cs typeface="Times New Roman" panose="02020603050405020304" pitchFamily="18" charset="0"/>
              </a:rPr>
              <a:t>	d = depreciation rate; </a:t>
            </a:r>
          </a:p>
          <a:p>
            <a:pPr marL="0" indent="0" eaLnBrk="1" hangingPunct="1">
              <a:lnSpc>
                <a:spcPct val="80000"/>
              </a:lnSpc>
              <a:buFontTx/>
              <a:buNone/>
            </a:pPr>
            <a:r>
              <a:rPr lang="en-US" altLang="en-US" sz="2400">
                <a:cs typeface="Times New Roman" panose="02020603050405020304" pitchFamily="18" charset="0"/>
              </a:rPr>
              <a:t>	Annual depreciation allowance =</a:t>
            </a:r>
            <a:r>
              <a:rPr lang="en-US" altLang="en-US" sz="2400" b="1">
                <a:cs typeface="Times New Roman" panose="02020603050405020304" pitchFamily="18" charset="0"/>
              </a:rPr>
              <a:t>C*d,</a:t>
            </a:r>
            <a:r>
              <a:rPr lang="en-US" altLang="en-US" sz="2400">
                <a:cs typeface="Times New Roman" panose="02020603050405020304" pitchFamily="18" charset="0"/>
              </a:rPr>
              <a:t> in first year,</a:t>
            </a:r>
          </a:p>
          <a:p>
            <a:pPr marL="0" indent="0" eaLnBrk="1" hangingPunct="1">
              <a:lnSpc>
                <a:spcPct val="80000"/>
              </a:lnSpc>
              <a:buFontTx/>
              <a:buNone/>
            </a:pPr>
            <a:r>
              <a:rPr lang="en-US" altLang="en-US" sz="2400">
                <a:cs typeface="Times New Roman" panose="02020603050405020304" pitchFamily="18" charset="0"/>
              </a:rPr>
              <a:t>					   =</a:t>
            </a:r>
            <a:r>
              <a:rPr lang="en-US" altLang="en-US" sz="2400" b="1">
                <a:cs typeface="Times New Roman" panose="02020603050405020304" pitchFamily="18" charset="0"/>
              </a:rPr>
              <a:t>C*(1-d)*d</a:t>
            </a:r>
            <a:r>
              <a:rPr lang="en-US" altLang="en-US" sz="2400">
                <a:cs typeface="Times New Roman" panose="02020603050405020304" pitchFamily="18" charset="0"/>
              </a:rPr>
              <a:t> in second year, </a:t>
            </a:r>
          </a:p>
          <a:p>
            <a:pPr marL="0" indent="0" eaLnBrk="1" hangingPunct="1">
              <a:lnSpc>
                <a:spcPct val="80000"/>
              </a:lnSpc>
              <a:buFontTx/>
              <a:buNone/>
            </a:pPr>
            <a:r>
              <a:rPr lang="en-US" altLang="en-US" sz="2400">
                <a:cs typeface="Times New Roman" panose="02020603050405020304" pitchFamily="18" charset="0"/>
              </a:rPr>
              <a:t>					=</a:t>
            </a:r>
            <a:r>
              <a:rPr lang="en-US" altLang="en-US" sz="2400" b="1">
                <a:cs typeface="Times New Roman" panose="02020603050405020304" pitchFamily="18" charset="0"/>
              </a:rPr>
              <a:t>C*(1-d)</a:t>
            </a:r>
            <a:r>
              <a:rPr lang="en-US" altLang="en-US" sz="2400" b="1" baseline="30000">
                <a:cs typeface="Times New Roman" panose="02020603050405020304" pitchFamily="18" charset="0"/>
              </a:rPr>
              <a:t>2</a:t>
            </a:r>
            <a:r>
              <a:rPr lang="en-US" altLang="en-US" sz="2400" b="1">
                <a:cs typeface="Times New Roman" panose="02020603050405020304" pitchFamily="18" charset="0"/>
              </a:rPr>
              <a:t>*d</a:t>
            </a:r>
            <a:r>
              <a:rPr lang="en-US" altLang="en-US" sz="2400">
                <a:cs typeface="Times New Roman" panose="02020603050405020304" pitchFamily="18" charset="0"/>
              </a:rPr>
              <a:t>, in third year, etc. </a:t>
            </a:r>
          </a:p>
          <a:p>
            <a:pPr marL="0" indent="0" eaLnBrk="1" hangingPunct="1">
              <a:lnSpc>
                <a:spcPct val="80000"/>
              </a:lnSpc>
              <a:buFontTx/>
              <a:buNone/>
            </a:pPr>
            <a:r>
              <a:rPr lang="en-US" altLang="en-US" sz="2400">
                <a:latin typeface="Symbol" panose="05050102010706020507" pitchFamily="18" charset="2"/>
                <a:cs typeface="Courier New" panose="02070309020205020404" pitchFamily="49" charset="0"/>
              </a:rPr>
              <a:t>·</a:t>
            </a:r>
            <a:r>
              <a:rPr lang="en-US" altLang="en-US" sz="2400">
                <a:cs typeface="Times New Roman" panose="02020603050405020304" pitchFamily="18" charset="0"/>
              </a:rPr>
              <a:t>   For </a:t>
            </a:r>
            <a:r>
              <a:rPr lang="en-US" altLang="en-US" sz="2400" b="1">
                <a:cs typeface="Times New Roman" panose="02020603050405020304" pitchFamily="18" charset="0"/>
              </a:rPr>
              <a:t>economic life of asset of n years</a:t>
            </a:r>
            <a:r>
              <a:rPr lang="en-US" altLang="en-US" sz="2400">
                <a:cs typeface="Times New Roman" panose="02020603050405020304" pitchFamily="18" charset="0"/>
              </a:rPr>
              <a:t>, set </a:t>
            </a:r>
            <a:r>
              <a:rPr lang="en-US" altLang="en-US" sz="2400" b="1">
                <a:cs typeface="Times New Roman" panose="02020603050405020304" pitchFamily="18" charset="0"/>
              </a:rPr>
              <a:t>d=2/n </a:t>
            </a:r>
            <a:r>
              <a:rPr lang="en-US" altLang="en-US" sz="2400">
                <a:cs typeface="Times New Roman" panose="02020603050405020304" pitchFamily="18" charset="0"/>
              </a:rPr>
              <a:t>(“double declining balance” method) then present value of straight line and declining balance tax reductions are approximately equal</a:t>
            </a:r>
          </a:p>
          <a:p>
            <a:pPr marL="0" indent="0" eaLnBrk="1" hangingPunct="1">
              <a:lnSpc>
                <a:spcPct val="80000"/>
              </a:lnSpc>
              <a:buFontTx/>
              <a:buNone/>
            </a:pPr>
            <a:r>
              <a:rPr lang="en-US" altLang="en-US" sz="2400">
                <a:latin typeface="Symbol" panose="05050102010706020507" pitchFamily="18" charset="2"/>
                <a:cs typeface="Courier New" panose="02070309020205020404" pitchFamily="49" charset="0"/>
              </a:rPr>
              <a:t>·</a:t>
            </a:r>
            <a:r>
              <a:rPr lang="en-US" altLang="en-US" sz="2400">
                <a:cs typeface="Times New Roman" panose="02020603050405020304" pitchFamily="18" charset="0"/>
              </a:rPr>
              <a:t>   Studies show economic depreciation follows declining balance</a:t>
            </a:r>
          </a:p>
          <a:p>
            <a:pPr marL="0" indent="0" eaLnBrk="1" hangingPunct="1">
              <a:lnSpc>
                <a:spcPct val="80000"/>
              </a:lnSpc>
              <a:buFontTx/>
              <a:buNone/>
            </a:pPr>
            <a:r>
              <a:rPr lang="en-US" altLang="en-US" sz="2400">
                <a:latin typeface="Symbol" panose="05050102010706020507" pitchFamily="18" charset="2"/>
                <a:cs typeface="Courier New" panose="02070309020205020404" pitchFamily="49" charset="0"/>
              </a:rPr>
              <a:t>·</a:t>
            </a:r>
            <a:r>
              <a:rPr lang="en-US" altLang="en-US" sz="2400">
                <a:cs typeface="Times New Roman" panose="02020603050405020304" pitchFamily="18" charset="0"/>
              </a:rPr>
              <a:t>   Can allow </a:t>
            </a:r>
            <a:r>
              <a:rPr lang="en-US" altLang="en-US" sz="2400" b="1">
                <a:solidFill>
                  <a:srgbClr val="FF0000"/>
                </a:solidFill>
                <a:cs typeface="Times New Roman" panose="02020603050405020304" pitchFamily="18" charset="0"/>
              </a:rPr>
              <a:t>pooling of all assets in same depreciation rate class rather than asset by asset depreciation accounts</a:t>
            </a:r>
            <a:r>
              <a:rPr lang="en-US" altLang="en-US" sz="2400">
                <a:cs typeface="Times New Roman" panose="02020603050405020304" pitchFamily="18" charset="0"/>
              </a:rPr>
              <a:t>.   New purchases in asset class added to pool, sales of assets subtracted from pool.  Depreciation rate for class of assets applied to pool.  Simplification makes pooled declining balance popular tax reform measure.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6D8C0059-16B6-97B4-7DC6-84E84FA72C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1E28D3D-AE5A-40ED-9DC6-8B5FB4767C44}" type="slidenum">
              <a:rPr lang="en-US" altLang="en-US" sz="1400"/>
              <a:pPr>
                <a:spcBef>
                  <a:spcPct val="0"/>
                </a:spcBef>
                <a:buFontTx/>
                <a:buNone/>
              </a:pPr>
              <a:t>35</a:t>
            </a:fld>
            <a:endParaRPr lang="en-US" altLang="en-US" sz="1400"/>
          </a:p>
        </p:txBody>
      </p:sp>
      <p:sp>
        <p:nvSpPr>
          <p:cNvPr id="32771" name="Rectangle 2">
            <a:extLst>
              <a:ext uri="{FF2B5EF4-FFF2-40B4-BE49-F238E27FC236}">
                <a16:creationId xmlns:a16="http://schemas.microsoft.com/office/drawing/2014/main" id="{59680110-6C9B-4613-068E-07A4E7801D3E}"/>
              </a:ext>
            </a:extLst>
          </p:cNvPr>
          <p:cNvSpPr>
            <a:spLocks noGrp="1" noChangeArrowheads="1"/>
          </p:cNvSpPr>
          <p:nvPr>
            <p:ph type="title"/>
          </p:nvPr>
        </p:nvSpPr>
        <p:spPr>
          <a:xfrm>
            <a:off x="685800" y="304800"/>
            <a:ext cx="7772400" cy="609600"/>
          </a:xfrm>
        </p:spPr>
        <p:txBody>
          <a:bodyPr/>
          <a:lstStyle/>
          <a:p>
            <a:pPr eaLnBrk="1" hangingPunct="1"/>
            <a:r>
              <a:rPr lang="en-US" altLang="en-US" sz="4000" b="1">
                <a:solidFill>
                  <a:schemeClr val="accent2"/>
                </a:solidFill>
              </a:rPr>
              <a:t>Depreciation methods (3)</a:t>
            </a:r>
          </a:p>
        </p:txBody>
      </p:sp>
      <p:sp>
        <p:nvSpPr>
          <p:cNvPr id="32772" name="Rectangle 4">
            <a:extLst>
              <a:ext uri="{FF2B5EF4-FFF2-40B4-BE49-F238E27FC236}">
                <a16:creationId xmlns:a16="http://schemas.microsoft.com/office/drawing/2014/main" id="{EDB81E24-50FA-E0CB-3735-0C929BA9D33E}"/>
              </a:ext>
            </a:extLst>
          </p:cNvPr>
          <p:cNvSpPr>
            <a:spLocks noGrp="1" noChangeArrowheads="1"/>
          </p:cNvSpPr>
          <p:nvPr>
            <p:ph type="body" idx="1"/>
          </p:nvPr>
        </p:nvSpPr>
        <p:spPr>
          <a:xfrm>
            <a:off x="381000" y="1219200"/>
            <a:ext cx="8382000" cy="4876800"/>
          </a:xfrm>
        </p:spPr>
        <p:txBody>
          <a:bodyPr/>
          <a:lstStyle/>
          <a:p>
            <a:pPr eaLnBrk="1" hangingPunct="1">
              <a:lnSpc>
                <a:spcPct val="80000"/>
              </a:lnSpc>
              <a:buFontTx/>
              <a:buNone/>
            </a:pPr>
            <a:r>
              <a:rPr lang="en-US" altLang="en-US" sz="2800" b="1">
                <a:cs typeface="Times New Roman" panose="02020603050405020304" pitchFamily="18" charset="0"/>
              </a:rPr>
              <a:t>(iii) Immediate expensing:</a:t>
            </a:r>
            <a:r>
              <a:rPr lang="en-US" altLang="en-US" sz="2600">
                <a:cs typeface="Times New Roman" panose="02020603050405020304" pitchFamily="18" charset="0"/>
              </a:rPr>
              <a:t> The whole of the capital cost depreciated in the first year. Equivalent to declining balance with d = 100%. Form of accelerated depreciation used as investment incentive </a:t>
            </a:r>
            <a:r>
              <a:rPr lang="en-US" altLang="en-US" sz="2400">
                <a:cs typeface="Times New Roman" panose="02020603050405020304" pitchFamily="18" charset="0"/>
              </a:rPr>
              <a:t>(more later under investment incentives.)</a:t>
            </a:r>
            <a:endParaRPr lang="en-US" altLang="en-US" sz="2400">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600">
                <a:cs typeface="Times New Roman" panose="02020603050405020304" pitchFamily="18" charset="0"/>
              </a:rPr>
              <a:t> </a:t>
            </a:r>
            <a:endParaRPr lang="en-US" altLang="en-US" sz="2600">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800" b="1">
                <a:cs typeface="Times New Roman" panose="02020603050405020304" pitchFamily="18" charset="0"/>
              </a:rPr>
              <a:t>(iv) At realization or loss:</a:t>
            </a:r>
            <a:r>
              <a:rPr lang="en-US" altLang="en-US" sz="2600">
                <a:cs typeface="Times New Roman" panose="02020603050405020304" pitchFamily="18" charset="0"/>
              </a:rPr>
              <a:t>  All depreciation allowances allowed at the time of realization (asset sale) or loss.</a:t>
            </a:r>
            <a:endParaRPr lang="en-US" altLang="en-US" sz="2600">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600" i="1">
                <a:cs typeface="Times New Roman" panose="02020603050405020304" pitchFamily="18" charset="0"/>
              </a:rPr>
              <a:t> </a:t>
            </a:r>
            <a:endParaRPr lang="en-US" altLang="en-US" sz="2600">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600" b="1" i="1">
                <a:cs typeface="Times New Roman" panose="02020603050405020304" pitchFamily="18" charset="0"/>
              </a:rPr>
              <a:t>    </a:t>
            </a:r>
            <a:r>
              <a:rPr lang="en-US" altLang="en-US" sz="2800" b="1" i="1">
                <a:cs typeface="Times New Roman" panose="02020603050405020304" pitchFamily="18" charset="0"/>
              </a:rPr>
              <a:t>Illustrations</a:t>
            </a:r>
            <a:r>
              <a:rPr lang="en-US" altLang="en-US" sz="2800" b="1">
                <a:cs typeface="Times New Roman" panose="02020603050405020304" pitchFamily="18" charset="0"/>
              </a:rPr>
              <a:t> </a:t>
            </a:r>
            <a:endParaRPr lang="en-US" altLang="en-US" sz="2800" b="1">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600">
                <a:cs typeface="Times New Roman" panose="02020603050405020304" pitchFamily="18" charset="0"/>
              </a:rPr>
              <a:t>    </a:t>
            </a:r>
            <a:r>
              <a:rPr lang="en-US" altLang="en-US" sz="2400">
                <a:cs typeface="Times New Roman" panose="02020603050405020304" pitchFamily="18" charset="0"/>
              </a:rPr>
              <a:t>Taxable income before depreciation $100, and cost of asset purchased in year 1 for $90 (historical cost) with three years of life.</a:t>
            </a:r>
            <a:endParaRPr lang="en-US" altLang="en-US"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72D81479-87C5-793E-3A43-22639A3A98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50176E1-154B-4893-AAF4-2698414AFB73}" type="slidenum">
              <a:rPr lang="en-US" altLang="en-US" sz="1400"/>
              <a:pPr>
                <a:spcBef>
                  <a:spcPct val="0"/>
                </a:spcBef>
                <a:buFontTx/>
                <a:buNone/>
              </a:pPr>
              <a:t>36</a:t>
            </a:fld>
            <a:endParaRPr lang="en-US" altLang="en-US" sz="1400"/>
          </a:p>
        </p:txBody>
      </p:sp>
      <p:sp>
        <p:nvSpPr>
          <p:cNvPr id="34819" name="Rectangle 2">
            <a:extLst>
              <a:ext uri="{FF2B5EF4-FFF2-40B4-BE49-F238E27FC236}">
                <a16:creationId xmlns:a16="http://schemas.microsoft.com/office/drawing/2014/main" id="{2B7FDBC8-3E84-E6C5-05C5-4B0E826567D3}"/>
              </a:ext>
            </a:extLst>
          </p:cNvPr>
          <p:cNvSpPr>
            <a:spLocks noGrp="1" noChangeArrowheads="1"/>
          </p:cNvSpPr>
          <p:nvPr>
            <p:ph type="title"/>
          </p:nvPr>
        </p:nvSpPr>
        <p:spPr>
          <a:xfrm>
            <a:off x="685800" y="381000"/>
            <a:ext cx="7772400" cy="685800"/>
          </a:xfrm>
        </p:spPr>
        <p:txBody>
          <a:bodyPr/>
          <a:lstStyle/>
          <a:p>
            <a:pPr eaLnBrk="1" hangingPunct="1"/>
            <a:r>
              <a:rPr lang="en-US" altLang="en-US" sz="4000" b="1">
                <a:solidFill>
                  <a:schemeClr val="accent2"/>
                </a:solidFill>
              </a:rPr>
              <a:t>Straight line method</a:t>
            </a:r>
          </a:p>
        </p:txBody>
      </p:sp>
      <p:sp>
        <p:nvSpPr>
          <p:cNvPr id="34820" name="Rectangle 4">
            <a:extLst>
              <a:ext uri="{FF2B5EF4-FFF2-40B4-BE49-F238E27FC236}">
                <a16:creationId xmlns:a16="http://schemas.microsoft.com/office/drawing/2014/main" id="{B69762C7-1009-111C-1DA3-47242DDA13B1}"/>
              </a:ext>
            </a:extLst>
          </p:cNvPr>
          <p:cNvSpPr>
            <a:spLocks noGrp="1" noChangeArrowheads="1"/>
          </p:cNvSpPr>
          <p:nvPr>
            <p:ph type="body" idx="1"/>
          </p:nvPr>
        </p:nvSpPr>
        <p:spPr>
          <a:xfrm>
            <a:off x="762000" y="1371600"/>
            <a:ext cx="7772400" cy="4648200"/>
          </a:xfrm>
        </p:spPr>
        <p:txBody>
          <a:bodyPr/>
          <a:lstStyle/>
          <a:p>
            <a:pPr lvl="4" algn="just" eaLnBrk="1" hangingPunct="1">
              <a:lnSpc>
                <a:spcPct val="90000"/>
              </a:lnSpc>
              <a:buFontTx/>
              <a:buNone/>
            </a:pPr>
            <a:r>
              <a:rPr lang="en-US" altLang="en-US" sz="2800" b="1">
                <a:cs typeface="Times New Roman" panose="02020603050405020304" pitchFamily="18" charset="0"/>
              </a:rPr>
              <a:t>Years	</a:t>
            </a:r>
            <a:r>
              <a:rPr lang="en-US" altLang="en-US" sz="1700" b="1">
                <a:cs typeface="Times New Roman" panose="02020603050405020304" pitchFamily="18" charset="0"/>
              </a:rPr>
              <a:t>		</a:t>
            </a:r>
            <a:r>
              <a:rPr lang="en-US" altLang="en-US" sz="2400" b="1">
                <a:cs typeface="Times New Roman" panose="02020603050405020304" pitchFamily="18" charset="0"/>
              </a:rPr>
              <a:t>1	2	3	</a:t>
            </a:r>
            <a:r>
              <a:rPr lang="en-US" altLang="en-US" sz="1700" b="1">
                <a:cs typeface="Times New Roman" panose="02020603050405020304" pitchFamily="18" charset="0"/>
              </a:rPr>
              <a:t>	</a:t>
            </a:r>
          </a:p>
          <a:p>
            <a:pPr algn="just" eaLnBrk="1" hangingPunct="1">
              <a:lnSpc>
                <a:spcPct val="90000"/>
              </a:lnSpc>
              <a:buFontTx/>
              <a:buNone/>
            </a:pPr>
            <a:r>
              <a:rPr lang="en-US" altLang="en-US" sz="2800" b="1" u="sng">
                <a:cs typeface="Times New Roman" panose="02020603050405020304" pitchFamily="18" charset="0"/>
              </a:rPr>
              <a:t>(i) Straight line method</a:t>
            </a:r>
            <a:endParaRPr lang="en-US" altLang="en-US" sz="2800" b="1">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Taxable income before</a:t>
            </a:r>
            <a:endParaRPr lang="en-US" altLang="en-US" sz="24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depreciation allowance        		100 	100    	100</a:t>
            </a:r>
            <a:endParaRPr lang="en-US" altLang="en-US" sz="24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Depreciation 	                    		</a:t>
            </a:r>
            <a:r>
              <a:rPr lang="en-US" altLang="en-US" sz="2400" b="1">
                <a:solidFill>
                  <a:srgbClr val="FF0000"/>
                </a:solidFill>
                <a:cs typeface="Times New Roman" panose="02020603050405020304" pitchFamily="18" charset="0"/>
              </a:rPr>
              <a:t>30 	30   	30</a:t>
            </a:r>
            <a:endParaRPr lang="en-US" altLang="en-US" sz="2400" b="1">
              <a:solidFill>
                <a:srgbClr val="FF0000"/>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Taxable income 	                	</a:t>
            </a:r>
            <a:r>
              <a:rPr lang="en-US" altLang="en-US" sz="2400" b="1">
                <a:solidFill>
                  <a:srgbClr val="339933"/>
                </a:solidFill>
                <a:cs typeface="Times New Roman" panose="02020603050405020304" pitchFamily="18" charset="0"/>
              </a:rPr>
              <a:t>70  	70 	70</a:t>
            </a:r>
            <a:endParaRPr lang="en-US" altLang="en-US" sz="2400" b="1">
              <a:solidFill>
                <a:srgbClr val="339933"/>
              </a:solidFill>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Tax liability 	                   		28 	28 	28</a:t>
            </a:r>
            <a:endParaRPr lang="en-US" altLang="en-US" sz="24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PV of tax                   			25.5  	23.1 	21.0</a:t>
            </a:r>
            <a:endParaRPr lang="en-US" altLang="en-US" sz="24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 10% discount rate)</a:t>
            </a:r>
            <a:endParaRPr lang="en-US" altLang="en-US" sz="2400">
              <a:latin typeface="Courier New" panose="02070309020205020404" pitchFamily="49" charset="0"/>
              <a:cs typeface="Courier New" panose="02070309020205020404" pitchFamily="49" charset="0"/>
            </a:endParaRPr>
          </a:p>
          <a:p>
            <a:pPr algn="just" eaLnBrk="1" hangingPunct="1">
              <a:lnSpc>
                <a:spcPct val="90000"/>
              </a:lnSpc>
              <a:buFontTx/>
              <a:buNone/>
            </a:pPr>
            <a:r>
              <a:rPr lang="en-US" altLang="en-US" sz="2400">
                <a:cs typeface="Times New Roman" panose="02020603050405020304" pitchFamily="18" charset="0"/>
              </a:rPr>
              <a:t>PV of total tax liability           	69.64</a:t>
            </a:r>
            <a:endParaRPr lang="en-US" altLang="en-US" sz="2400">
              <a:latin typeface="Courier New" panose="02070309020205020404" pitchFamily="49" charset="0"/>
              <a:cs typeface="Courier New" panose="02070309020205020404" pitchFamily="49" charset="0"/>
            </a:endParaRPr>
          </a:p>
          <a:p>
            <a:pPr eaLnBrk="1" hangingPunct="1">
              <a:lnSpc>
                <a:spcPct val="90000"/>
              </a:lnSpc>
              <a:buFontTx/>
              <a:buNone/>
            </a:pPr>
            <a:endParaRPr lang="en-US" alt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3FFFAC44-09CA-CC51-AE1F-A5007D9D51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D195CB7-01CD-4568-92B7-5251E4DD6643}" type="slidenum">
              <a:rPr lang="en-US" altLang="en-US" sz="1400"/>
              <a:pPr>
                <a:spcBef>
                  <a:spcPct val="0"/>
                </a:spcBef>
                <a:buFontTx/>
                <a:buNone/>
              </a:pPr>
              <a:t>37</a:t>
            </a:fld>
            <a:endParaRPr lang="en-US" altLang="en-US" sz="1400"/>
          </a:p>
        </p:txBody>
      </p:sp>
      <p:sp>
        <p:nvSpPr>
          <p:cNvPr id="36867" name="Rectangle 2">
            <a:extLst>
              <a:ext uri="{FF2B5EF4-FFF2-40B4-BE49-F238E27FC236}">
                <a16:creationId xmlns:a16="http://schemas.microsoft.com/office/drawing/2014/main" id="{14BCEFC6-FB29-B568-8B90-A9DAEDAB941C}"/>
              </a:ext>
            </a:extLst>
          </p:cNvPr>
          <p:cNvSpPr>
            <a:spLocks noGrp="1" noChangeArrowheads="1"/>
          </p:cNvSpPr>
          <p:nvPr>
            <p:ph type="title"/>
          </p:nvPr>
        </p:nvSpPr>
        <p:spPr/>
        <p:txBody>
          <a:bodyPr/>
          <a:lstStyle/>
          <a:p>
            <a:pPr eaLnBrk="1" hangingPunct="1"/>
            <a:r>
              <a:rPr lang="en-US" altLang="en-US" sz="4000" b="1">
                <a:solidFill>
                  <a:schemeClr val="accent2"/>
                </a:solidFill>
              </a:rPr>
              <a:t>Declining balance</a:t>
            </a:r>
          </a:p>
        </p:txBody>
      </p:sp>
      <p:sp>
        <p:nvSpPr>
          <p:cNvPr id="36868" name="Rectangle 3">
            <a:extLst>
              <a:ext uri="{FF2B5EF4-FFF2-40B4-BE49-F238E27FC236}">
                <a16:creationId xmlns:a16="http://schemas.microsoft.com/office/drawing/2014/main" id="{ABEB9FC5-E2DC-550D-92FA-CF924561EAD8}"/>
              </a:ext>
            </a:extLst>
          </p:cNvPr>
          <p:cNvSpPr>
            <a:spLocks noGrp="1" noChangeArrowheads="1"/>
          </p:cNvSpPr>
          <p:nvPr>
            <p:ph type="body" idx="1"/>
          </p:nvPr>
        </p:nvSpPr>
        <p:spPr>
          <a:xfrm>
            <a:off x="457200" y="1981200"/>
            <a:ext cx="8001000" cy="4114800"/>
          </a:xfrm>
        </p:spPr>
        <p:txBody>
          <a:bodyPr/>
          <a:lstStyle/>
          <a:p>
            <a:pPr algn="just" eaLnBrk="1" hangingPunct="1">
              <a:buFontTx/>
              <a:buNone/>
            </a:pPr>
            <a:r>
              <a:rPr lang="en-US" altLang="en-US" sz="2800" b="1" u="sng">
                <a:cs typeface="Times New Roman" panose="02020603050405020304" pitchFamily="18" charset="0"/>
              </a:rPr>
              <a:t>(ii) Declining balance method</a:t>
            </a:r>
            <a:endParaRPr lang="en-US" altLang="en-US" sz="2800">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Taxable income before</a:t>
            </a:r>
            <a:endParaRPr lang="en-US" altLang="en-US" sz="2400">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depreciation allowance     		100 	100 	100</a:t>
            </a:r>
            <a:endParaRPr lang="en-US" altLang="en-US" sz="2400">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Depreciation   (d=2/3)	    		 </a:t>
            </a:r>
            <a:r>
              <a:rPr lang="en-US" altLang="en-US" sz="2400" b="1">
                <a:solidFill>
                  <a:srgbClr val="FF0000"/>
                </a:solidFill>
                <a:cs typeface="Times New Roman" panose="02020603050405020304" pitchFamily="18" charset="0"/>
              </a:rPr>
              <a:t>60   	  20   	 6.7</a:t>
            </a:r>
            <a:endParaRPr lang="en-US" altLang="en-US" sz="2400" b="1">
              <a:solidFill>
                <a:srgbClr val="FF0000"/>
              </a:solidFill>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Taxable income                  		 </a:t>
            </a:r>
            <a:r>
              <a:rPr lang="en-US" altLang="en-US" sz="2400" b="1">
                <a:solidFill>
                  <a:srgbClr val="339933"/>
                </a:solidFill>
                <a:cs typeface="Times New Roman" panose="02020603050405020304" pitchFamily="18" charset="0"/>
              </a:rPr>
              <a:t>40  	  80  	93.3</a:t>
            </a:r>
            <a:endParaRPr lang="en-US" altLang="en-US" sz="2400" b="1">
              <a:solidFill>
                <a:srgbClr val="339933"/>
              </a:solidFill>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Tax liability                    		 16 	  32 	37.3</a:t>
            </a:r>
            <a:endParaRPr lang="en-US" altLang="en-US" sz="2400">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PV of tax (@ 10% discount) 	 	14.5  	  26.4 	28.0</a:t>
            </a:r>
            <a:endParaRPr lang="en-US" altLang="en-US" sz="2400">
              <a:latin typeface="Courier New" panose="02070309020205020404" pitchFamily="49" charset="0"/>
              <a:cs typeface="Courier New" panose="02070309020205020404" pitchFamily="49" charset="0"/>
            </a:endParaRPr>
          </a:p>
          <a:p>
            <a:pPr algn="just" eaLnBrk="1" hangingPunct="1">
              <a:buFontTx/>
              <a:buNone/>
            </a:pPr>
            <a:r>
              <a:rPr lang="en-US" altLang="en-US" sz="2400">
                <a:cs typeface="Times New Roman" panose="02020603050405020304" pitchFamily="18" charset="0"/>
              </a:rPr>
              <a:t>PV of total tax liability            69.0</a:t>
            </a:r>
            <a:endParaRPr lang="en-US" altLang="en-US" sz="2400">
              <a:latin typeface="Courier New" panose="02070309020205020404" pitchFamily="49" charset="0"/>
              <a:cs typeface="Courier New" panose="02070309020205020404" pitchFamily="49" charset="0"/>
            </a:endParaRPr>
          </a:p>
          <a:p>
            <a:pPr eaLnBrk="1" hangingPunct="1"/>
            <a:endParaRPr lang="en-US"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F15C6BD3-DC86-7B34-D968-D896B59E98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A780F39-3FDC-4F82-851E-E95779352948}" type="slidenum">
              <a:rPr lang="en-US" altLang="en-US" sz="1400"/>
              <a:pPr>
                <a:spcBef>
                  <a:spcPct val="0"/>
                </a:spcBef>
                <a:buFontTx/>
                <a:buNone/>
              </a:pPr>
              <a:t>38</a:t>
            </a:fld>
            <a:endParaRPr lang="en-US" altLang="en-US" sz="1400"/>
          </a:p>
        </p:txBody>
      </p:sp>
      <p:sp>
        <p:nvSpPr>
          <p:cNvPr id="38915" name="Rectangle 2">
            <a:extLst>
              <a:ext uri="{FF2B5EF4-FFF2-40B4-BE49-F238E27FC236}">
                <a16:creationId xmlns:a16="http://schemas.microsoft.com/office/drawing/2014/main" id="{BA701F02-696C-7D66-B7CB-0493D09D14BE}"/>
              </a:ext>
            </a:extLst>
          </p:cNvPr>
          <p:cNvSpPr>
            <a:spLocks noGrp="1" noChangeArrowheads="1"/>
          </p:cNvSpPr>
          <p:nvPr>
            <p:ph type="title"/>
          </p:nvPr>
        </p:nvSpPr>
        <p:spPr>
          <a:xfrm>
            <a:off x="685800" y="381000"/>
            <a:ext cx="7772400" cy="685800"/>
          </a:xfrm>
        </p:spPr>
        <p:txBody>
          <a:bodyPr/>
          <a:lstStyle/>
          <a:p>
            <a:pPr eaLnBrk="1" hangingPunct="1"/>
            <a:r>
              <a:rPr lang="en-US" altLang="en-US" sz="4000" b="1">
                <a:solidFill>
                  <a:schemeClr val="accent2"/>
                </a:solidFill>
              </a:rPr>
              <a:t>Immediate expensing</a:t>
            </a:r>
          </a:p>
        </p:txBody>
      </p:sp>
      <p:sp>
        <p:nvSpPr>
          <p:cNvPr id="38916" name="Rectangle 3">
            <a:extLst>
              <a:ext uri="{FF2B5EF4-FFF2-40B4-BE49-F238E27FC236}">
                <a16:creationId xmlns:a16="http://schemas.microsoft.com/office/drawing/2014/main" id="{A832ABD8-E1C2-FDB2-E3E1-AC1F07A89D45}"/>
              </a:ext>
            </a:extLst>
          </p:cNvPr>
          <p:cNvSpPr>
            <a:spLocks noGrp="1" noChangeArrowheads="1"/>
          </p:cNvSpPr>
          <p:nvPr>
            <p:ph type="body" idx="1"/>
          </p:nvPr>
        </p:nvSpPr>
        <p:spPr>
          <a:xfrm>
            <a:off x="609600" y="1524000"/>
            <a:ext cx="8153400" cy="4267200"/>
          </a:xfrm>
        </p:spPr>
        <p:txBody>
          <a:bodyPr/>
          <a:lstStyle/>
          <a:p>
            <a:pPr algn="just" eaLnBrk="1" hangingPunct="1">
              <a:buFontTx/>
              <a:buNone/>
            </a:pPr>
            <a:r>
              <a:rPr lang="en-US" altLang="en-US" sz="2800" b="1" u="sng">
                <a:cs typeface="Times New Roman" panose="02020603050405020304" pitchFamily="18" charset="0"/>
              </a:rPr>
              <a:t>(iii) Immediate expensing method</a:t>
            </a:r>
            <a:endParaRPr lang="en-US" altLang="en-US" sz="2800" b="1">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Taxable income before</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depreciation allowance    		100  	100 	100</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Depreciation                  		</a:t>
            </a:r>
            <a:r>
              <a:rPr lang="en-US" altLang="en-US" sz="2400" b="1">
                <a:solidFill>
                  <a:srgbClr val="FF0000"/>
                </a:solidFill>
                <a:cs typeface="Times New Roman" panose="02020603050405020304" pitchFamily="18" charset="0"/>
              </a:rPr>
              <a:t>90  </a:t>
            </a:r>
            <a:r>
              <a:rPr lang="en-US" altLang="en-US" sz="2400">
                <a:cs typeface="Times New Roman" panose="02020603050405020304" pitchFamily="18" charset="0"/>
              </a:rPr>
              <a:t>                  </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Taxable income               		</a:t>
            </a:r>
            <a:r>
              <a:rPr lang="en-US" altLang="en-US" sz="2400" b="1">
                <a:solidFill>
                  <a:srgbClr val="339933"/>
                </a:solidFill>
                <a:cs typeface="Times New Roman" panose="02020603050405020304" pitchFamily="18" charset="0"/>
              </a:rPr>
              <a:t>10  	100 	100</a:t>
            </a:r>
            <a:endParaRPr lang="en-US" altLang="en-US" sz="2400" b="1">
              <a:solidFill>
                <a:srgbClr val="339933"/>
              </a:solidFill>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 liability 	               		4  	40  	40</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tax                 			3.64	33.1    	30.0</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 10% discount rate)</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total tax liability     	66.75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52A56D1C-1E7E-B7F7-BD09-10BCB66B2B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A6D636-13D0-47C4-A727-AA4B7070F5A4}" type="slidenum">
              <a:rPr lang="en-US" altLang="en-US" sz="1400"/>
              <a:pPr>
                <a:spcBef>
                  <a:spcPct val="0"/>
                </a:spcBef>
                <a:buFontTx/>
                <a:buNone/>
              </a:pPr>
              <a:t>39</a:t>
            </a:fld>
            <a:endParaRPr lang="en-US" altLang="en-US" sz="1400"/>
          </a:p>
        </p:txBody>
      </p:sp>
      <p:sp>
        <p:nvSpPr>
          <p:cNvPr id="40963" name="Rectangle 2">
            <a:extLst>
              <a:ext uri="{FF2B5EF4-FFF2-40B4-BE49-F238E27FC236}">
                <a16:creationId xmlns:a16="http://schemas.microsoft.com/office/drawing/2014/main" id="{DD0FA4B4-1B25-667D-CB79-750F81778231}"/>
              </a:ext>
            </a:extLst>
          </p:cNvPr>
          <p:cNvSpPr>
            <a:spLocks noGrp="1" noChangeArrowheads="1"/>
          </p:cNvSpPr>
          <p:nvPr>
            <p:ph type="title"/>
          </p:nvPr>
        </p:nvSpPr>
        <p:spPr>
          <a:xfrm>
            <a:off x="685800" y="457200"/>
            <a:ext cx="7772400" cy="609600"/>
          </a:xfrm>
        </p:spPr>
        <p:txBody>
          <a:bodyPr/>
          <a:lstStyle/>
          <a:p>
            <a:pPr eaLnBrk="1" hangingPunct="1"/>
            <a:r>
              <a:rPr lang="en-US" altLang="en-US" sz="4000" b="1">
                <a:solidFill>
                  <a:schemeClr val="accent2"/>
                </a:solidFill>
              </a:rPr>
              <a:t>At realization</a:t>
            </a:r>
          </a:p>
        </p:txBody>
      </p:sp>
      <p:sp>
        <p:nvSpPr>
          <p:cNvPr id="40964" name="Rectangle 3">
            <a:extLst>
              <a:ext uri="{FF2B5EF4-FFF2-40B4-BE49-F238E27FC236}">
                <a16:creationId xmlns:a16="http://schemas.microsoft.com/office/drawing/2014/main" id="{558BD4F2-1BF4-E625-4042-8B244AD1E5D9}"/>
              </a:ext>
            </a:extLst>
          </p:cNvPr>
          <p:cNvSpPr>
            <a:spLocks noGrp="1" noChangeArrowheads="1"/>
          </p:cNvSpPr>
          <p:nvPr>
            <p:ph type="body" idx="1"/>
          </p:nvPr>
        </p:nvSpPr>
        <p:spPr>
          <a:xfrm>
            <a:off x="609600" y="1219200"/>
            <a:ext cx="8153400" cy="5334000"/>
          </a:xfrm>
        </p:spPr>
        <p:txBody>
          <a:bodyPr/>
          <a:lstStyle/>
          <a:p>
            <a:pPr algn="just" eaLnBrk="1" hangingPunct="1">
              <a:buFontTx/>
              <a:buNone/>
            </a:pPr>
            <a:r>
              <a:rPr lang="en-US" altLang="en-US" sz="2800" b="1" u="sng">
                <a:cs typeface="Times New Roman" panose="02020603050405020304" pitchFamily="18" charset="0"/>
              </a:rPr>
              <a:t>(iv) At loss or realization method</a:t>
            </a:r>
            <a:endParaRPr lang="en-US" altLang="en-US" sz="2800" b="1">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Taxable income before</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depreciation allowance      	 	100 	100 	100</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Depreciation                  		0  	0 	 </a:t>
            </a:r>
            <a:r>
              <a:rPr lang="en-US" altLang="en-US" sz="2400" b="1">
                <a:solidFill>
                  <a:srgbClr val="FF0000"/>
                </a:solidFill>
                <a:cs typeface="Times New Roman" panose="02020603050405020304" pitchFamily="18" charset="0"/>
              </a:rPr>
              <a:t>90</a:t>
            </a:r>
            <a:endParaRPr lang="en-US" altLang="en-US" sz="2400" b="1">
              <a:solidFill>
                <a:srgbClr val="FF0000"/>
              </a:solidFill>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Taxable income                		</a:t>
            </a:r>
            <a:r>
              <a:rPr lang="en-US" altLang="en-US" sz="2400" b="1">
                <a:solidFill>
                  <a:srgbClr val="339933"/>
                </a:solidFill>
                <a:cs typeface="Times New Roman" panose="02020603050405020304" pitchFamily="18" charset="0"/>
              </a:rPr>
              <a:t>100 	100  	 10</a:t>
            </a:r>
            <a:endParaRPr lang="en-US" altLang="en-US" sz="2400" b="1">
              <a:solidFill>
                <a:srgbClr val="339933"/>
              </a:solidFill>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 liability	                		 40 	 40  	  4</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tax  	                		36.36 	33.06  	3.01</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 10% discount rate)</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total tax liability 	           72.43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1DB528C7-E7E2-55B4-2F14-9714204160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C45B3EA-8578-4154-AA9B-2684391341CA}" type="slidenum">
              <a:rPr lang="en-US" altLang="en-US" sz="1400"/>
              <a:pPr>
                <a:spcBef>
                  <a:spcPct val="0"/>
                </a:spcBef>
                <a:buFontTx/>
                <a:buNone/>
              </a:pPr>
              <a:t>40</a:t>
            </a:fld>
            <a:endParaRPr lang="en-US" altLang="en-US" sz="1400"/>
          </a:p>
        </p:txBody>
      </p:sp>
      <p:sp>
        <p:nvSpPr>
          <p:cNvPr id="43011" name="Rectangle 2">
            <a:extLst>
              <a:ext uri="{FF2B5EF4-FFF2-40B4-BE49-F238E27FC236}">
                <a16:creationId xmlns:a16="http://schemas.microsoft.com/office/drawing/2014/main" id="{50ED1E3A-2E5A-20AA-2430-6A98C39703B6}"/>
              </a:ext>
            </a:extLst>
          </p:cNvPr>
          <p:cNvSpPr>
            <a:spLocks noGrp="1" noChangeArrowheads="1"/>
          </p:cNvSpPr>
          <p:nvPr>
            <p:ph type="title"/>
          </p:nvPr>
        </p:nvSpPr>
        <p:spPr>
          <a:xfrm>
            <a:off x="0" y="381000"/>
            <a:ext cx="9144000" cy="533400"/>
          </a:xfrm>
        </p:spPr>
        <p:txBody>
          <a:bodyPr/>
          <a:lstStyle/>
          <a:p>
            <a:pPr eaLnBrk="1" hangingPunct="1"/>
            <a:r>
              <a:rPr lang="en-US" altLang="en-US" sz="4000" b="1">
                <a:solidFill>
                  <a:schemeClr val="accent2"/>
                </a:solidFill>
              </a:rPr>
              <a:t>Comparison of methods</a:t>
            </a:r>
          </a:p>
        </p:txBody>
      </p:sp>
      <p:sp>
        <p:nvSpPr>
          <p:cNvPr id="43012" name="Rectangle 3">
            <a:extLst>
              <a:ext uri="{FF2B5EF4-FFF2-40B4-BE49-F238E27FC236}">
                <a16:creationId xmlns:a16="http://schemas.microsoft.com/office/drawing/2014/main" id="{9193355E-5A94-1A87-33AB-99E12091990E}"/>
              </a:ext>
            </a:extLst>
          </p:cNvPr>
          <p:cNvSpPr>
            <a:spLocks noGrp="1" noChangeArrowheads="1"/>
          </p:cNvSpPr>
          <p:nvPr>
            <p:ph type="body" idx="1"/>
          </p:nvPr>
        </p:nvSpPr>
        <p:spPr>
          <a:xfrm>
            <a:off x="304800" y="1143000"/>
            <a:ext cx="8153400" cy="5334000"/>
          </a:xfrm>
        </p:spPr>
        <p:txBody>
          <a:bodyPr/>
          <a:lstStyle/>
          <a:p>
            <a:pPr marL="0" indent="0" algn="just" eaLnBrk="1" hangingPunct="1">
              <a:buFont typeface="Symbol" panose="05050102010706020507" pitchFamily="18" charset="2"/>
              <a:buNone/>
            </a:pP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a:t>
            </a:r>
            <a:r>
              <a:rPr lang="en-US" altLang="en-US" sz="2400" b="1">
                <a:cs typeface="Times New Roman" panose="02020603050405020304" pitchFamily="18" charset="0"/>
              </a:rPr>
              <a:t>Total deduction</a:t>
            </a:r>
            <a:r>
              <a:rPr lang="en-US" altLang="en-US" sz="2400">
                <a:cs typeface="Times New Roman" panose="02020603050405020304" pitchFamily="18" charset="0"/>
              </a:rPr>
              <a:t> is the same in each cases (except declining balance requires more than 3 years to get full deduction), but the </a:t>
            </a:r>
            <a:r>
              <a:rPr lang="en-US" altLang="en-US" sz="2400" b="1">
                <a:cs typeface="Times New Roman" panose="02020603050405020304" pitchFamily="18" charset="0"/>
              </a:rPr>
              <a:t>difference is in timing</a:t>
            </a:r>
            <a:r>
              <a:rPr lang="en-US" altLang="en-US" sz="2400">
                <a:cs typeface="Times New Roman" panose="02020603050405020304" pitchFamily="18" charset="0"/>
              </a:rPr>
              <a:t>. </a:t>
            </a:r>
          </a:p>
          <a:p>
            <a:pPr marL="0" indent="0" algn="just" eaLnBrk="1" hangingPunct="1">
              <a:buFont typeface="Symbol" panose="05050102010706020507" pitchFamily="18" charset="2"/>
              <a:buChar char=" "/>
            </a:pP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a:t>
            </a:r>
            <a:r>
              <a:rPr lang="en-US" altLang="en-US" sz="2400">
                <a:cs typeface="Times New Roman" panose="02020603050405020304" pitchFamily="18" charset="0"/>
              </a:rPr>
              <a:t>The </a:t>
            </a:r>
            <a:r>
              <a:rPr lang="en-US" altLang="en-US" sz="2400" b="1">
                <a:cs typeface="Times New Roman" panose="02020603050405020304" pitchFamily="18" charset="0"/>
              </a:rPr>
              <a:t>present value of taxes paid from lowest to highest</a:t>
            </a:r>
          </a:p>
          <a:p>
            <a:pPr marL="0" indent="0" algn="just" eaLnBrk="1" hangingPunct="1">
              <a:buFont typeface="Symbol" panose="05050102010706020507" pitchFamily="18" charset="2"/>
              <a:buChar char=" "/>
            </a:pPr>
            <a:r>
              <a:rPr lang="en-US" altLang="en-US" sz="2400">
                <a:cs typeface="Times New Roman" panose="02020603050405020304" pitchFamily="18" charset="0"/>
              </a:rPr>
              <a:t> 	i.  immediate expensing</a:t>
            </a:r>
          </a:p>
          <a:p>
            <a:pPr marL="808038" lvl="2" indent="0" algn="just" eaLnBrk="1" hangingPunct="1">
              <a:buFont typeface="Symbol" panose="05050102010706020507" pitchFamily="18" charset="2"/>
              <a:buNone/>
            </a:pPr>
            <a:r>
              <a:rPr lang="en-US" altLang="en-US">
                <a:cs typeface="Times New Roman" panose="02020603050405020304" pitchFamily="18" charset="0"/>
              </a:rPr>
              <a:t>ii.  declining balance </a:t>
            </a:r>
            <a:r>
              <a:rPr lang="en-US" altLang="en-US" i="1">
                <a:cs typeface="Times New Roman" panose="02020603050405020304" pitchFamily="18" charset="0"/>
              </a:rPr>
              <a:t>(depending on rate)</a:t>
            </a:r>
          </a:p>
          <a:p>
            <a:pPr marL="808038" lvl="2" indent="0" algn="just" eaLnBrk="1" hangingPunct="1">
              <a:buFont typeface="Symbol" panose="05050102010706020507" pitchFamily="18" charset="2"/>
              <a:buNone/>
            </a:pPr>
            <a:r>
              <a:rPr lang="en-US" altLang="en-US">
                <a:cs typeface="Times New Roman" panose="02020603050405020304" pitchFamily="18" charset="0"/>
              </a:rPr>
              <a:t>iii.  straight line method </a:t>
            </a:r>
          </a:p>
          <a:p>
            <a:pPr marL="808038" lvl="2" indent="0" algn="just" eaLnBrk="1" hangingPunct="1">
              <a:buFont typeface="Symbol" panose="05050102010706020507" pitchFamily="18" charset="2"/>
              <a:buAutoNum type="romanLcPeriod" startAt="4"/>
            </a:pPr>
            <a:r>
              <a:rPr lang="en-US" altLang="en-US">
                <a:cs typeface="Times New Roman" panose="02020603050405020304" pitchFamily="18" charset="0"/>
              </a:rPr>
              <a:t>  at realization or loss method.</a:t>
            </a:r>
            <a:r>
              <a:rPr lang="en-US" altLang="en-US">
                <a:latin typeface="Courier New" panose="02070309020205020404" pitchFamily="49" charset="0"/>
                <a:cs typeface="Times New Roman" panose="02020603050405020304" pitchFamily="18" charset="0"/>
              </a:rPr>
              <a:t>	</a:t>
            </a:r>
          </a:p>
          <a:p>
            <a:pPr marL="0" indent="0" algn="just" eaLnBrk="1" hangingPunct="1">
              <a:buFontTx/>
              <a:buNone/>
            </a:pPr>
            <a:r>
              <a:rPr lang="en-US" altLang="en-US" sz="2200">
                <a:latin typeface="Courier New" panose="02070309020205020404" pitchFamily="49" charset="0"/>
                <a:cs typeface="Times New Roman" panose="02020603050405020304" pitchFamily="18" charset="0"/>
              </a:rPr>
              <a:t> </a:t>
            </a: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a:t>
            </a:r>
            <a:r>
              <a:rPr lang="en-US" altLang="en-US" sz="2400">
                <a:cs typeface="Times New Roman" panose="02020603050405020304" pitchFamily="18" charset="0"/>
              </a:rPr>
              <a:t>Depreciation typically based on the </a:t>
            </a:r>
            <a:r>
              <a:rPr lang="en-US" altLang="en-US" sz="2400" b="1">
                <a:cs typeface="Times New Roman" panose="02020603050405020304" pitchFamily="18" charset="0"/>
              </a:rPr>
              <a:t>historical cost of capital</a:t>
            </a:r>
            <a:r>
              <a:rPr lang="en-US" altLang="en-US" sz="2400">
                <a:cs typeface="Times New Roman" panose="02020603050405020304" pitchFamily="18" charset="0"/>
              </a:rPr>
              <a:t> and not on the replacement cost or current value of asset. Value of asset generally not adjusted for changes in price in subsequent years.  Some countries allow for inflation adjustments (more later). </a:t>
            </a:r>
            <a:r>
              <a:rPr lang="en-US" altLang="en-US" sz="2200">
                <a:cs typeface="Times New Roman" panose="02020603050405020304" pitchFamily="18" charset="0"/>
              </a:rPr>
              <a:t> </a:t>
            </a:r>
            <a:r>
              <a:rPr lang="en-US" altLang="en-US" sz="2400">
                <a:cs typeface="Times New Roman" panose="02020603050405020304" pitchFamily="18" charset="0"/>
              </a:rPr>
              <a:t>Important to distinguish between capital/gains losses and depreciation.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E6DF16BF-5BB2-24C8-589E-35781226DE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FC3392D-9E2F-47D5-A76A-413D74A87B35}" type="slidenum">
              <a:rPr lang="en-US" altLang="en-US" sz="1400"/>
              <a:pPr>
                <a:spcBef>
                  <a:spcPct val="0"/>
                </a:spcBef>
                <a:buFontTx/>
                <a:buNone/>
              </a:pPr>
              <a:t>41</a:t>
            </a:fld>
            <a:endParaRPr lang="en-US" altLang="en-US" sz="1400"/>
          </a:p>
        </p:txBody>
      </p:sp>
      <p:sp>
        <p:nvSpPr>
          <p:cNvPr id="45059" name="Rectangle 2">
            <a:extLst>
              <a:ext uri="{FF2B5EF4-FFF2-40B4-BE49-F238E27FC236}">
                <a16:creationId xmlns:a16="http://schemas.microsoft.com/office/drawing/2014/main" id="{B20386E3-4F03-87E7-350F-CAEDF2C82AE4}"/>
              </a:ext>
            </a:extLst>
          </p:cNvPr>
          <p:cNvSpPr>
            <a:spLocks noGrp="1" noChangeArrowheads="1"/>
          </p:cNvSpPr>
          <p:nvPr>
            <p:ph type="title"/>
          </p:nvPr>
        </p:nvSpPr>
        <p:spPr>
          <a:xfrm>
            <a:off x="609600" y="0"/>
            <a:ext cx="7848600" cy="1143000"/>
          </a:xfrm>
        </p:spPr>
        <p:txBody>
          <a:bodyPr/>
          <a:lstStyle/>
          <a:p>
            <a:pPr eaLnBrk="1" hangingPunct="1"/>
            <a:r>
              <a:rPr lang="en-US" altLang="en-US" sz="4000" b="1">
                <a:solidFill>
                  <a:schemeClr val="accent2"/>
                </a:solidFill>
              </a:rPr>
              <a:t>Financing costs (1)</a:t>
            </a:r>
            <a:endParaRPr lang="en-US" altLang="en-US">
              <a:solidFill>
                <a:schemeClr val="accent2"/>
              </a:solidFill>
            </a:endParaRPr>
          </a:p>
        </p:txBody>
      </p:sp>
      <p:sp>
        <p:nvSpPr>
          <p:cNvPr id="45060" name="Rectangle 3">
            <a:extLst>
              <a:ext uri="{FF2B5EF4-FFF2-40B4-BE49-F238E27FC236}">
                <a16:creationId xmlns:a16="http://schemas.microsoft.com/office/drawing/2014/main" id="{971B9F8F-D2AB-DC40-736B-DB50406C1CA1}"/>
              </a:ext>
            </a:extLst>
          </p:cNvPr>
          <p:cNvSpPr>
            <a:spLocks noGrp="1" noChangeArrowheads="1"/>
          </p:cNvSpPr>
          <p:nvPr>
            <p:ph type="body" idx="1"/>
          </p:nvPr>
        </p:nvSpPr>
        <p:spPr>
          <a:xfrm>
            <a:off x="495300" y="1143000"/>
            <a:ext cx="8077200" cy="5562600"/>
          </a:xfrm>
        </p:spPr>
        <p:txBody>
          <a:bodyPr/>
          <a:lstStyle/>
          <a:p>
            <a:pPr marL="0" indent="0" algn="just" eaLnBrk="1" hangingPunct="1">
              <a:lnSpc>
                <a:spcPct val="90000"/>
              </a:lnSpc>
              <a:buFontTx/>
              <a:buNone/>
            </a:pPr>
            <a:r>
              <a:rPr lang="en-US" altLang="en-US" sz="2800" b="1">
                <a:cs typeface="Times New Roman" panose="02020603050405020304" pitchFamily="18" charset="0"/>
              </a:rPr>
              <a:t>Financing costs:</a:t>
            </a:r>
            <a:r>
              <a:rPr lang="en-US" altLang="en-US" sz="2200">
                <a:cs typeface="Times New Roman" panose="02020603050405020304" pitchFamily="18" charset="0"/>
              </a:rPr>
              <a:t> </a:t>
            </a:r>
            <a:endParaRPr lang="en-US" altLang="en-US" sz="2200">
              <a:latin typeface="Courier New" panose="02070309020205020404" pitchFamily="49" charset="0"/>
              <a:cs typeface="Courier New" panose="02070309020205020404" pitchFamily="49" charset="0"/>
            </a:endParaRPr>
          </a:p>
          <a:p>
            <a:pPr marL="455613" lvl="1" indent="1588" eaLnBrk="1" hangingPunct="1">
              <a:lnSpc>
                <a:spcPct val="90000"/>
              </a:lnSpc>
              <a:buFontTx/>
              <a:buNone/>
            </a:pPr>
            <a:r>
              <a:rPr lang="en-US" altLang="en-US" sz="2400" b="1">
                <a:cs typeface="Times New Roman" panose="02020603050405020304" pitchFamily="18" charset="0"/>
              </a:rPr>
              <a:t>Interest expenses</a:t>
            </a:r>
            <a:r>
              <a:rPr lang="en-US" altLang="en-US" sz="2400">
                <a:cs typeface="Times New Roman" panose="02020603050405020304" pitchFamily="18" charset="0"/>
              </a:rPr>
              <a:t> on loans used to purchase assets (including working capital) used for earning income deducted as only taxing return to equity holders. </a:t>
            </a:r>
          </a:p>
          <a:p>
            <a:pPr marL="455613" lvl="1" indent="1588" eaLnBrk="1" hangingPunct="1">
              <a:lnSpc>
                <a:spcPct val="90000"/>
              </a:lnSpc>
              <a:buFontTx/>
              <a:buNone/>
            </a:pPr>
            <a:r>
              <a:rPr lang="en-US" altLang="en-US" sz="2400">
                <a:cs typeface="Times New Roman" panose="02020603050405020304" pitchFamily="18" charset="0"/>
              </a:rPr>
              <a:t>Interest should include accrued cost of discounts on corporate bonds (add </a:t>
            </a:r>
            <a:r>
              <a:rPr lang="en-US" altLang="en-US" sz="2400" b="1">
                <a:cs typeface="Times New Roman" panose="02020603050405020304" pitchFamily="18" charset="0"/>
              </a:rPr>
              <a:t>original issue discounts </a:t>
            </a:r>
            <a:r>
              <a:rPr lang="en-US" altLang="en-US" sz="2400">
                <a:cs typeface="Times New Roman" panose="02020603050405020304" pitchFamily="18" charset="0"/>
              </a:rPr>
              <a:t>and subtract </a:t>
            </a:r>
            <a:r>
              <a:rPr lang="en-US" altLang="en-US" sz="2400" b="1">
                <a:cs typeface="Times New Roman" panose="02020603050405020304" pitchFamily="18" charset="0"/>
              </a:rPr>
              <a:t>original issue premiums</a:t>
            </a:r>
            <a:r>
              <a:rPr lang="en-US" altLang="en-US" sz="2400">
                <a:cs typeface="Times New Roman" panose="02020603050405020304" pitchFamily="18" charset="0"/>
              </a:rPr>
              <a:t>).  </a:t>
            </a:r>
          </a:p>
          <a:p>
            <a:pPr marL="455613" lvl="1" indent="1588" eaLnBrk="1" hangingPunct="1">
              <a:lnSpc>
                <a:spcPct val="90000"/>
              </a:lnSpc>
              <a:buFontTx/>
              <a:buNone/>
            </a:pPr>
            <a:r>
              <a:rPr lang="en-US" altLang="en-US" sz="2400">
                <a:cs typeface="Times New Roman" panose="02020603050405020304" pitchFamily="18" charset="0"/>
              </a:rPr>
              <a:t>Realized or accrued </a:t>
            </a:r>
            <a:r>
              <a:rPr lang="en-US" altLang="en-US" sz="2400" b="1">
                <a:cs typeface="Times New Roman" panose="02020603050405020304" pitchFamily="18" charset="0"/>
              </a:rPr>
              <a:t>foreign exchange losses on repayment of principal</a:t>
            </a:r>
            <a:r>
              <a:rPr lang="en-US" altLang="en-US" sz="2400">
                <a:cs typeface="Times New Roman" panose="02020603050405020304" pitchFamily="18" charset="0"/>
              </a:rPr>
              <a:t> may be allowed on foreign currency debts.</a:t>
            </a:r>
            <a:endParaRPr lang="en-US" altLang="en-US" sz="2400">
              <a:latin typeface="Courier New" panose="02070309020205020404" pitchFamily="49" charset="0"/>
              <a:cs typeface="Courier New" panose="02070309020205020404" pitchFamily="49" charset="0"/>
            </a:endParaRPr>
          </a:p>
          <a:p>
            <a:pPr marL="455613" lvl="1" indent="1588" eaLnBrk="1" hangingPunct="1">
              <a:lnSpc>
                <a:spcPct val="90000"/>
              </a:lnSpc>
              <a:buFontTx/>
              <a:buNone/>
            </a:pPr>
            <a:r>
              <a:rPr lang="en-US" altLang="en-US" sz="2400">
                <a:cs typeface="Times New Roman" panose="02020603050405020304" pitchFamily="18" charset="0"/>
              </a:rPr>
              <a:t>With a higher debt (thinner capitalization), tax liability of corporation lower</a:t>
            </a:r>
            <a:r>
              <a:rPr lang="en-US" altLang="en-US" sz="2200">
                <a:cs typeface="Times New Roman" panose="02020603050405020304" pitchFamily="18" charset="0"/>
              </a:rPr>
              <a:t>.  </a:t>
            </a:r>
          </a:p>
          <a:p>
            <a:pPr marL="0" indent="0" eaLnBrk="1" hangingPunct="1">
              <a:lnSpc>
                <a:spcPct val="90000"/>
              </a:lnSpc>
              <a:buFontTx/>
              <a:buNone/>
            </a:pPr>
            <a:endParaRPr lang="en-US" altLang="en-US" sz="1200"/>
          </a:p>
          <a:p>
            <a:pPr marL="0" indent="0" algn="just" eaLnBrk="1" hangingPunct="1">
              <a:lnSpc>
                <a:spcPct val="90000"/>
              </a:lnSpc>
              <a:buFontTx/>
              <a:buNone/>
            </a:pPr>
            <a:r>
              <a:rPr lang="en-US" altLang="en-US" sz="2200" i="1">
                <a:cs typeface="Times New Roman" panose="02020603050405020304" pitchFamily="18" charset="0"/>
              </a:rPr>
              <a:t>    </a:t>
            </a:r>
            <a:r>
              <a:rPr lang="en-US" altLang="en-US" sz="2800" b="1" i="1">
                <a:cs typeface="Times New Roman" panose="02020603050405020304" pitchFamily="18" charset="0"/>
              </a:rPr>
              <a:t>Illustration</a:t>
            </a:r>
            <a:r>
              <a:rPr lang="en-US" altLang="en-US" sz="2800" b="1">
                <a:cs typeface="Times New Roman" panose="02020603050405020304" pitchFamily="18" charset="0"/>
              </a:rPr>
              <a:t> </a:t>
            </a:r>
          </a:p>
          <a:p>
            <a:pPr marL="0" indent="0" algn="just" eaLnBrk="1" hangingPunct="1">
              <a:lnSpc>
                <a:spcPct val="90000"/>
              </a:lnSpc>
              <a:buFontTx/>
              <a:buNone/>
            </a:pPr>
            <a:r>
              <a:rPr lang="en-US" altLang="en-US" sz="2000">
                <a:cs typeface="Times New Roman" panose="02020603050405020304" pitchFamily="18" charset="0"/>
              </a:rPr>
              <a:t>For a corporation with 100% equity financing of $200, three years of life and a corporate tax rate of 50%, tax liability is as follows:</a:t>
            </a:r>
            <a:endParaRPr lang="en-US" altLang="en-US" sz="2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4F648363-3104-5DA5-0EF4-69661756CD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BD548AC-082E-4D12-8417-76217F2CF04D}" type="slidenum">
              <a:rPr lang="en-US" altLang="en-US" sz="1400"/>
              <a:pPr>
                <a:spcBef>
                  <a:spcPct val="0"/>
                </a:spcBef>
                <a:buFontTx/>
                <a:buNone/>
              </a:pPr>
              <a:t>42</a:t>
            </a:fld>
            <a:endParaRPr lang="en-US" altLang="en-US" sz="1400"/>
          </a:p>
        </p:txBody>
      </p:sp>
      <p:sp>
        <p:nvSpPr>
          <p:cNvPr id="47107" name="Rectangle 2">
            <a:extLst>
              <a:ext uri="{FF2B5EF4-FFF2-40B4-BE49-F238E27FC236}">
                <a16:creationId xmlns:a16="http://schemas.microsoft.com/office/drawing/2014/main" id="{A2B12ED4-0228-388F-9482-1F1D90217BF9}"/>
              </a:ext>
            </a:extLst>
          </p:cNvPr>
          <p:cNvSpPr>
            <a:spLocks noGrp="1" noChangeArrowheads="1"/>
          </p:cNvSpPr>
          <p:nvPr>
            <p:ph type="title"/>
          </p:nvPr>
        </p:nvSpPr>
        <p:spPr>
          <a:xfrm>
            <a:off x="685800" y="381000"/>
            <a:ext cx="7772400" cy="685800"/>
          </a:xfrm>
        </p:spPr>
        <p:txBody>
          <a:bodyPr/>
          <a:lstStyle/>
          <a:p>
            <a:pPr eaLnBrk="1" hangingPunct="1"/>
            <a:r>
              <a:rPr lang="en-US" altLang="en-US" sz="4000" b="1">
                <a:solidFill>
                  <a:schemeClr val="accent2"/>
                </a:solidFill>
              </a:rPr>
              <a:t>Financing costs (2)</a:t>
            </a:r>
          </a:p>
        </p:txBody>
      </p:sp>
      <p:sp>
        <p:nvSpPr>
          <p:cNvPr id="47108" name="Rectangle 3">
            <a:extLst>
              <a:ext uri="{FF2B5EF4-FFF2-40B4-BE49-F238E27FC236}">
                <a16:creationId xmlns:a16="http://schemas.microsoft.com/office/drawing/2014/main" id="{AB328D27-86A4-4E7B-CB80-5E7412AE1D3A}"/>
              </a:ext>
            </a:extLst>
          </p:cNvPr>
          <p:cNvSpPr>
            <a:spLocks noGrp="1" noChangeArrowheads="1"/>
          </p:cNvSpPr>
          <p:nvPr>
            <p:ph type="body" idx="1"/>
          </p:nvPr>
        </p:nvSpPr>
        <p:spPr>
          <a:xfrm>
            <a:off x="990600" y="1524000"/>
            <a:ext cx="7162800" cy="3733800"/>
          </a:xfrm>
        </p:spPr>
        <p:txBody>
          <a:bodyPr/>
          <a:lstStyle/>
          <a:p>
            <a:pPr algn="just" eaLnBrk="1" hangingPunct="1">
              <a:buFontTx/>
              <a:buNone/>
            </a:pPr>
            <a:r>
              <a:rPr lang="en-US" altLang="en-US" sz="2800" b="1" u="sng">
                <a:cs typeface="Times New Roman" panose="02020603050405020304" pitchFamily="18" charset="0"/>
              </a:rPr>
              <a:t>100 % equity</a:t>
            </a:r>
            <a:endParaRPr lang="en-US" altLang="en-US" sz="2800" b="1">
              <a:latin typeface="Courier New" panose="02070309020205020404" pitchFamily="49" charset="0"/>
              <a:cs typeface="Times New Roman" panose="02020603050405020304" pitchFamily="18" charset="0"/>
            </a:endParaRPr>
          </a:p>
          <a:p>
            <a:pPr algn="just" eaLnBrk="1" hangingPunct="1">
              <a:buFontTx/>
              <a:buNone/>
            </a:pPr>
            <a:r>
              <a:rPr lang="en-US" altLang="en-US" sz="2400" b="1">
                <a:cs typeface="Times New Roman" panose="02020603050405020304" pitchFamily="18" charset="0"/>
              </a:rPr>
              <a:t>Years              			1  	2  	3</a:t>
            </a:r>
          </a:p>
          <a:p>
            <a:pPr algn="just" eaLnBrk="1" hangingPunct="1">
              <a:buFontTx/>
              <a:buNone/>
            </a:pPr>
            <a:r>
              <a:rPr lang="en-US" altLang="en-US" sz="2400">
                <a:cs typeface="Times New Roman" panose="02020603050405020304" pitchFamily="18" charset="0"/>
              </a:rPr>
              <a:t>Taxable income           		</a:t>
            </a:r>
            <a:r>
              <a:rPr lang="en-US" altLang="en-US" sz="2400" b="1">
                <a:solidFill>
                  <a:srgbClr val="339933"/>
                </a:solidFill>
                <a:cs typeface="Times New Roman" panose="02020603050405020304" pitchFamily="18" charset="0"/>
              </a:rPr>
              <a:t>50 	50 	50</a:t>
            </a:r>
            <a:endParaRPr lang="en-US" altLang="en-US" sz="2400" b="1">
              <a:solidFill>
                <a:srgbClr val="339933"/>
              </a:solidFill>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 liability                			25 	25  	25</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tax                 			23.1 	21.4	19.8</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 8% discount rate)</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total tax liability  	 64.42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5D1FAA12-870A-0C28-401B-A6C29035EE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8B37A1F-D190-4C45-9B44-C302D7283B17}" type="slidenum">
              <a:rPr lang="en-US" altLang="en-US" sz="1400"/>
              <a:pPr>
                <a:spcBef>
                  <a:spcPct val="0"/>
                </a:spcBef>
                <a:buFontTx/>
                <a:buNone/>
              </a:pPr>
              <a:t>43</a:t>
            </a:fld>
            <a:endParaRPr lang="en-US" altLang="en-US" sz="1400"/>
          </a:p>
        </p:txBody>
      </p:sp>
      <p:sp>
        <p:nvSpPr>
          <p:cNvPr id="49155" name="Rectangle 2">
            <a:extLst>
              <a:ext uri="{FF2B5EF4-FFF2-40B4-BE49-F238E27FC236}">
                <a16:creationId xmlns:a16="http://schemas.microsoft.com/office/drawing/2014/main" id="{C65361B4-D964-AEF9-1B04-66A822E27788}"/>
              </a:ext>
            </a:extLst>
          </p:cNvPr>
          <p:cNvSpPr>
            <a:spLocks noGrp="1" noChangeArrowheads="1"/>
          </p:cNvSpPr>
          <p:nvPr>
            <p:ph type="title"/>
          </p:nvPr>
        </p:nvSpPr>
        <p:spPr>
          <a:xfrm>
            <a:off x="685800" y="304800"/>
            <a:ext cx="7772400" cy="762000"/>
          </a:xfrm>
        </p:spPr>
        <p:txBody>
          <a:bodyPr/>
          <a:lstStyle/>
          <a:p>
            <a:pPr eaLnBrk="1" hangingPunct="1"/>
            <a:r>
              <a:rPr lang="en-US" altLang="en-US" b="1">
                <a:solidFill>
                  <a:schemeClr val="accent2"/>
                </a:solidFill>
              </a:rPr>
              <a:t>Financing costs </a:t>
            </a:r>
            <a:r>
              <a:rPr lang="en-US" altLang="en-US">
                <a:solidFill>
                  <a:schemeClr val="accent2"/>
                </a:solidFill>
              </a:rPr>
              <a:t>(3)</a:t>
            </a:r>
          </a:p>
        </p:txBody>
      </p:sp>
      <p:sp>
        <p:nvSpPr>
          <p:cNvPr id="49156" name="Rectangle 3">
            <a:extLst>
              <a:ext uri="{FF2B5EF4-FFF2-40B4-BE49-F238E27FC236}">
                <a16:creationId xmlns:a16="http://schemas.microsoft.com/office/drawing/2014/main" id="{05FE95A3-0BB6-726B-55CD-62599A71D4D6}"/>
              </a:ext>
            </a:extLst>
          </p:cNvPr>
          <p:cNvSpPr>
            <a:spLocks noGrp="1" noChangeArrowheads="1"/>
          </p:cNvSpPr>
          <p:nvPr>
            <p:ph type="body" idx="1"/>
          </p:nvPr>
        </p:nvSpPr>
        <p:spPr>
          <a:xfrm>
            <a:off x="990600" y="1524000"/>
            <a:ext cx="7772400" cy="4419600"/>
          </a:xfrm>
        </p:spPr>
        <p:txBody>
          <a:bodyPr/>
          <a:lstStyle/>
          <a:p>
            <a:pPr algn="just" eaLnBrk="1" hangingPunct="1">
              <a:buFontTx/>
              <a:buNone/>
            </a:pPr>
            <a:r>
              <a:rPr lang="en-US" altLang="en-US" sz="3000">
                <a:cs typeface="Times New Roman" panose="02020603050405020304" pitchFamily="18" charset="0"/>
              </a:rPr>
              <a:t>Alternatively, with a 50% loan of 100 at 10%</a:t>
            </a:r>
            <a:endParaRPr lang="en-US" altLang="en-US" sz="3000">
              <a:latin typeface="Courier New" panose="02070309020205020404" pitchFamily="49" charset="0"/>
              <a:cs typeface="Times New Roman" panose="02020603050405020304" pitchFamily="18" charset="0"/>
            </a:endParaRPr>
          </a:p>
          <a:p>
            <a:pPr algn="just" eaLnBrk="1" hangingPunct="1">
              <a:buFontTx/>
              <a:buNone/>
            </a:pPr>
            <a:r>
              <a:rPr lang="en-US" altLang="en-US" sz="2800" b="1" u="sng">
                <a:cs typeface="Times New Roman" panose="02020603050405020304" pitchFamily="18" charset="0"/>
              </a:rPr>
              <a:t>50 % equity and 50% debt</a:t>
            </a:r>
            <a:endParaRPr lang="en-US" altLang="en-US" sz="2800" b="1">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Taxable income                   		50 	50 	50</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Interest expense (10%)          		</a:t>
            </a:r>
            <a:r>
              <a:rPr lang="en-US" altLang="en-US" sz="2400" b="1">
                <a:solidFill>
                  <a:srgbClr val="FF0000"/>
                </a:solidFill>
                <a:cs typeface="Times New Roman" panose="02020603050405020304" pitchFamily="18" charset="0"/>
              </a:rPr>
              <a:t>10	10 	10</a:t>
            </a:r>
            <a:endParaRPr lang="en-US" altLang="en-US" sz="2400" b="1">
              <a:solidFill>
                <a:srgbClr val="FF0000"/>
              </a:solidFill>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Taxable income                    		</a:t>
            </a:r>
            <a:r>
              <a:rPr lang="en-US" altLang="en-US" sz="2400" b="1">
                <a:solidFill>
                  <a:srgbClr val="339933"/>
                </a:solidFill>
                <a:cs typeface="Times New Roman" panose="02020603050405020304" pitchFamily="18" charset="0"/>
              </a:rPr>
              <a:t>40    	40 	40</a:t>
            </a:r>
            <a:endParaRPr lang="en-US" altLang="en-US" sz="2400" b="1">
              <a:solidFill>
                <a:srgbClr val="339933"/>
              </a:solidFill>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Tax liability                     		20  	20 	20</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tax                     	          18.51 	17.15   15.88</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 8% discount rate)</a:t>
            </a:r>
            <a:endParaRPr lang="en-US" altLang="en-US" sz="2400">
              <a:latin typeface="Courier New" panose="02070309020205020404" pitchFamily="49" charset="0"/>
              <a:cs typeface="Times New Roman" panose="02020603050405020304" pitchFamily="18" charset="0"/>
            </a:endParaRPr>
          </a:p>
          <a:p>
            <a:pPr algn="just" eaLnBrk="1" hangingPunct="1">
              <a:buFontTx/>
              <a:buNone/>
            </a:pPr>
            <a:r>
              <a:rPr lang="en-US" altLang="en-US" sz="2400">
                <a:cs typeface="Times New Roman" panose="02020603050405020304" pitchFamily="18" charset="0"/>
              </a:rPr>
              <a:t>PV of total tax liability       	51.53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D8E62127-FFFE-D570-E3C2-3E4EC93C9F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695DDA2-C7CE-481C-A9B4-0A7D293DA8BC}" type="slidenum">
              <a:rPr lang="en-US" altLang="en-US" sz="1400"/>
              <a:pPr>
                <a:spcBef>
                  <a:spcPct val="0"/>
                </a:spcBef>
                <a:buFontTx/>
                <a:buNone/>
              </a:pPr>
              <a:t>44</a:t>
            </a:fld>
            <a:endParaRPr lang="en-US" altLang="en-US" sz="1400"/>
          </a:p>
        </p:txBody>
      </p:sp>
      <p:sp>
        <p:nvSpPr>
          <p:cNvPr id="51203" name="Rectangle 2">
            <a:extLst>
              <a:ext uri="{FF2B5EF4-FFF2-40B4-BE49-F238E27FC236}">
                <a16:creationId xmlns:a16="http://schemas.microsoft.com/office/drawing/2014/main" id="{514517EA-FC31-2832-46EA-A03573B94871}"/>
              </a:ext>
            </a:extLst>
          </p:cNvPr>
          <p:cNvSpPr>
            <a:spLocks noGrp="1" noChangeArrowheads="1"/>
          </p:cNvSpPr>
          <p:nvPr>
            <p:ph type="title"/>
          </p:nvPr>
        </p:nvSpPr>
        <p:spPr>
          <a:xfrm>
            <a:off x="685800" y="228600"/>
            <a:ext cx="7772400" cy="685800"/>
          </a:xfrm>
        </p:spPr>
        <p:txBody>
          <a:bodyPr/>
          <a:lstStyle/>
          <a:p>
            <a:pPr eaLnBrk="1" hangingPunct="1"/>
            <a:r>
              <a:rPr lang="en-US" altLang="en-US" sz="4000" b="1">
                <a:solidFill>
                  <a:schemeClr val="accent2"/>
                </a:solidFill>
              </a:rPr>
              <a:t>Overheads</a:t>
            </a:r>
          </a:p>
        </p:txBody>
      </p:sp>
      <p:sp>
        <p:nvSpPr>
          <p:cNvPr id="51204" name="Rectangle 3">
            <a:extLst>
              <a:ext uri="{FF2B5EF4-FFF2-40B4-BE49-F238E27FC236}">
                <a16:creationId xmlns:a16="http://schemas.microsoft.com/office/drawing/2014/main" id="{A278BC0D-F5B0-AFAE-0A46-A136A2F15E8F}"/>
              </a:ext>
            </a:extLst>
          </p:cNvPr>
          <p:cNvSpPr>
            <a:spLocks noGrp="1" noChangeArrowheads="1"/>
          </p:cNvSpPr>
          <p:nvPr>
            <p:ph type="body" idx="1"/>
          </p:nvPr>
        </p:nvSpPr>
        <p:spPr>
          <a:xfrm>
            <a:off x="533400" y="1057275"/>
            <a:ext cx="8305800" cy="5410200"/>
          </a:xfrm>
        </p:spPr>
        <p:txBody>
          <a:bodyPr/>
          <a:lstStyle/>
          <a:p>
            <a:pPr marL="228600" lvl="2" indent="0" algn="just" eaLnBrk="1" hangingPunct="1">
              <a:buFontTx/>
              <a:buNone/>
            </a:pPr>
            <a:r>
              <a:rPr lang="en-US" altLang="en-US" sz="2800" b="1" u="sng">
                <a:cs typeface="Times New Roman" panose="02020603050405020304" pitchFamily="18" charset="0"/>
              </a:rPr>
              <a:t>Overheads:</a:t>
            </a:r>
            <a:r>
              <a:rPr lang="en-US" altLang="en-US" sz="2800" b="1">
                <a:cs typeface="Times New Roman" panose="02020603050405020304" pitchFamily="18" charset="0"/>
              </a:rPr>
              <a:t> 	</a:t>
            </a:r>
            <a:endParaRPr lang="en-US" altLang="en-US" sz="2800" b="1">
              <a:latin typeface="Courier New" panose="02070309020205020404" pitchFamily="49" charset="0"/>
              <a:cs typeface="Times New Roman" panose="02020603050405020304" pitchFamily="18" charset="0"/>
            </a:endParaRPr>
          </a:p>
          <a:p>
            <a:pPr marL="0" indent="0" eaLnBrk="1" hangingPunct="1">
              <a:buFontTx/>
              <a:buNone/>
            </a:pPr>
            <a:r>
              <a:rPr lang="en-US" altLang="en-US" sz="2600">
                <a:cs typeface="Times New Roman" panose="02020603050405020304" pitchFamily="18" charset="0"/>
              </a:rPr>
              <a:t>Expenses on general administration (legal, accounting, etc.), advertising, public relations business, promotion activities, or business research, planning and development not directly attributable to specific sales</a:t>
            </a:r>
          </a:p>
          <a:p>
            <a:pPr marL="0" indent="0" eaLnBrk="1" hangingPunct="1">
              <a:buFontTx/>
              <a:buNone/>
            </a:pPr>
            <a:endParaRPr lang="en-US" altLang="en-US" sz="1100">
              <a:cs typeface="Times New Roman" panose="02020603050405020304" pitchFamily="18" charset="0"/>
            </a:endParaRPr>
          </a:p>
          <a:p>
            <a:pPr marL="0" indent="0" eaLnBrk="1" hangingPunct="1">
              <a:buFontTx/>
              <a:buNone/>
            </a:pPr>
            <a:r>
              <a:rPr lang="en-US" altLang="en-US" sz="2600" b="1">
                <a:cs typeface="Times New Roman" panose="02020603050405020304" pitchFamily="18" charset="0"/>
              </a:rPr>
              <a:t>Amortization of soft costs</a:t>
            </a:r>
            <a:r>
              <a:rPr lang="en-US" altLang="en-US" sz="2600">
                <a:cs typeface="Times New Roman" panose="02020603050405020304" pitchFamily="18" charset="0"/>
              </a:rPr>
              <a:t>: Examples: exploration and development costs in mining, marketing cost for life insurance policy</a:t>
            </a:r>
            <a:endParaRPr lang="en-US" altLang="en-US" sz="1200">
              <a:cs typeface="Times New Roman" panose="02020603050405020304" pitchFamily="18" charset="0"/>
            </a:endParaRPr>
          </a:p>
          <a:p>
            <a:pPr marL="0" indent="0" eaLnBrk="1" hangingPunct="1">
              <a:buFontTx/>
              <a:buNone/>
            </a:pPr>
            <a:r>
              <a:rPr lang="en-US" altLang="en-US" sz="1200">
                <a:cs typeface="Times New Roman" panose="02020603050405020304" pitchFamily="18" charset="0"/>
              </a:rPr>
              <a:t> </a:t>
            </a:r>
          </a:p>
          <a:p>
            <a:pPr marL="0" indent="0" eaLnBrk="1" hangingPunct="1">
              <a:buFontTx/>
              <a:buNone/>
            </a:pPr>
            <a:r>
              <a:rPr lang="en-US" altLang="en-US" sz="2600">
                <a:latin typeface="Symbol" panose="05050102010706020507" pitchFamily="18" charset="2"/>
                <a:cs typeface="Times New Roman" panose="02020603050405020304" pitchFamily="18" charset="0"/>
              </a:rPr>
              <a:t>·</a:t>
            </a:r>
            <a:r>
              <a:rPr lang="en-US" altLang="en-US" sz="2600">
                <a:cs typeface="Times New Roman" panose="02020603050405020304" pitchFamily="18" charset="0"/>
              </a:rPr>
              <a:t> </a:t>
            </a:r>
            <a:r>
              <a:rPr lang="en-US" altLang="en-US" sz="2400">
                <a:cs typeface="Times New Roman" panose="02020603050405020304" pitchFamily="18" charset="0"/>
              </a:rPr>
              <a:t>A deduction not justified as a cost of doing business is a subsidy given by society to a taxpayer given that the taxpayer or employee is then typically the beneficiary of the expenditure and value should be taxable as employee fringe benefit.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6B280444-B271-AA7D-A3BC-2604804015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72E59B-1968-46F9-8948-7FF0CF34BD85}" type="slidenum">
              <a:rPr lang="en-US" altLang="en-US" sz="1400"/>
              <a:pPr>
                <a:spcBef>
                  <a:spcPct val="0"/>
                </a:spcBef>
                <a:buFontTx/>
                <a:buNone/>
              </a:pPr>
              <a:t>45</a:t>
            </a:fld>
            <a:endParaRPr lang="en-US" altLang="en-US" sz="1400"/>
          </a:p>
        </p:txBody>
      </p:sp>
      <p:sp>
        <p:nvSpPr>
          <p:cNvPr id="53251" name="Rectangle 2">
            <a:extLst>
              <a:ext uri="{FF2B5EF4-FFF2-40B4-BE49-F238E27FC236}">
                <a16:creationId xmlns:a16="http://schemas.microsoft.com/office/drawing/2014/main" id="{8AC771BE-8A89-65B6-1F31-E1040F55A376}"/>
              </a:ext>
            </a:extLst>
          </p:cNvPr>
          <p:cNvSpPr>
            <a:spLocks noGrp="1" noChangeArrowheads="1"/>
          </p:cNvSpPr>
          <p:nvPr>
            <p:ph type="title"/>
          </p:nvPr>
        </p:nvSpPr>
        <p:spPr>
          <a:xfrm>
            <a:off x="685800" y="152400"/>
            <a:ext cx="7772400" cy="762000"/>
          </a:xfrm>
        </p:spPr>
        <p:txBody>
          <a:bodyPr/>
          <a:lstStyle/>
          <a:p>
            <a:pPr eaLnBrk="1" hangingPunct="1"/>
            <a:r>
              <a:rPr lang="en-US" altLang="en-US" sz="4000" b="1">
                <a:solidFill>
                  <a:schemeClr val="accent2"/>
                </a:solidFill>
              </a:rPr>
              <a:t>Treatment of losses</a:t>
            </a:r>
          </a:p>
        </p:txBody>
      </p:sp>
      <p:sp>
        <p:nvSpPr>
          <p:cNvPr id="53252" name="Rectangle 3">
            <a:extLst>
              <a:ext uri="{FF2B5EF4-FFF2-40B4-BE49-F238E27FC236}">
                <a16:creationId xmlns:a16="http://schemas.microsoft.com/office/drawing/2014/main" id="{9DECFA2E-53BE-1895-7CDD-A1FC01869817}"/>
              </a:ext>
            </a:extLst>
          </p:cNvPr>
          <p:cNvSpPr>
            <a:spLocks noGrp="1" noChangeArrowheads="1"/>
          </p:cNvSpPr>
          <p:nvPr>
            <p:ph type="body" idx="1"/>
          </p:nvPr>
        </p:nvSpPr>
        <p:spPr>
          <a:xfrm>
            <a:off x="381000" y="914400"/>
            <a:ext cx="8458200" cy="5943600"/>
          </a:xfrm>
        </p:spPr>
        <p:txBody>
          <a:bodyPr/>
          <a:lstStyle/>
          <a:p>
            <a:pPr marL="61913" indent="-61913" eaLnBrk="1" hangingPunct="1">
              <a:lnSpc>
                <a:spcPct val="80000"/>
              </a:lnSpc>
              <a:buFontTx/>
              <a:buNone/>
            </a:pPr>
            <a:r>
              <a:rPr lang="en-US" altLang="en-US" sz="2200">
                <a:cs typeface="Times New Roman" panose="02020603050405020304" pitchFamily="18" charset="0"/>
              </a:rPr>
              <a:t>	Ideally, </a:t>
            </a:r>
            <a:r>
              <a:rPr lang="en-US" altLang="en-US" sz="2200" b="1">
                <a:cs typeface="Times New Roman" panose="02020603050405020304" pitchFamily="18" charset="0"/>
              </a:rPr>
              <a:t>income and losses should be treated symmetrically</a:t>
            </a:r>
            <a:r>
              <a:rPr lang="en-US" altLang="en-US" sz="2200">
                <a:cs typeface="Times New Roman" panose="02020603050405020304" pitchFamily="18" charset="0"/>
              </a:rPr>
              <a:t>: tax compensation for losses. Particularly important for </a:t>
            </a:r>
            <a:r>
              <a:rPr lang="en-US" altLang="en-US" sz="2200" b="1">
                <a:cs typeface="Times New Roman" panose="02020603050405020304" pitchFamily="18" charset="0"/>
              </a:rPr>
              <a:t>risky projects</a:t>
            </a:r>
            <a:endParaRPr lang="en-US" altLang="en-US" sz="2200">
              <a:latin typeface="Courier New" panose="02070309020205020404" pitchFamily="49" charset="0"/>
              <a:cs typeface="Times New Roman" panose="02020603050405020304" pitchFamily="18" charset="0"/>
            </a:endParaRPr>
          </a:p>
          <a:p>
            <a:pPr marL="61913" indent="-61913" eaLnBrk="1" hangingPunct="1">
              <a:lnSpc>
                <a:spcPct val="80000"/>
              </a:lnSpc>
              <a:buFontTx/>
              <a:buNone/>
            </a:pPr>
            <a:r>
              <a:rPr lang="en-US" altLang="en-US" sz="2200">
                <a:cs typeface="Times New Roman" panose="02020603050405020304" pitchFamily="18" charset="0"/>
              </a:rPr>
              <a:t>  </a:t>
            </a: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If </a:t>
            </a:r>
            <a:r>
              <a:rPr lang="en-US" altLang="en-US" sz="2200" b="1">
                <a:cs typeface="Times New Roman" panose="02020603050405020304" pitchFamily="18" charset="0"/>
              </a:rPr>
              <a:t>symmetrical treatment </a:t>
            </a:r>
            <a:r>
              <a:rPr lang="en-US" altLang="en-US" sz="2200">
                <a:cs typeface="Times New Roman" panose="02020603050405020304" pitchFamily="18" charset="0"/>
              </a:rPr>
              <a:t>of income and losses, then taxation leaves expected net-of-tax return unchanged (but still lower), but reduces variance in net-of-tax return or lowers risk.  </a:t>
            </a:r>
            <a:r>
              <a:rPr lang="en-US" altLang="en-US" sz="2400">
                <a:cs typeface="Times New Roman" panose="02020603050405020304" pitchFamily="18" charset="0"/>
              </a:rPr>
              <a:t>Effectively </a:t>
            </a:r>
            <a:r>
              <a:rPr lang="en-US" altLang="en-US" sz="2400" b="1">
                <a:cs typeface="Times New Roman" panose="02020603050405020304" pitchFamily="18" charset="0"/>
              </a:rPr>
              <a:t>government shares risk with investor.</a:t>
            </a:r>
          </a:p>
          <a:p>
            <a:pPr marL="61913" indent="-61913" eaLnBrk="1" hangingPunct="1">
              <a:lnSpc>
                <a:spcPct val="80000"/>
              </a:lnSpc>
              <a:buFontTx/>
              <a:buNone/>
            </a:pPr>
            <a:r>
              <a:rPr lang="en-US" altLang="en-US" sz="2200">
                <a:cs typeface="Times New Roman" panose="02020603050405020304" pitchFamily="18" charset="0"/>
              </a:rPr>
              <a:t>   </a:t>
            </a: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a:t>
            </a:r>
            <a:r>
              <a:rPr lang="en-US" altLang="en-US" sz="2400">
                <a:cs typeface="Times New Roman" panose="02020603050405020304" pitchFamily="18" charset="0"/>
              </a:rPr>
              <a:t>If government taxes income, but </a:t>
            </a:r>
            <a:r>
              <a:rPr lang="en-US" altLang="en-US" sz="2400" b="1">
                <a:cs typeface="Times New Roman" panose="02020603050405020304" pitchFamily="18" charset="0"/>
              </a:rPr>
              <a:t>under compensates losses</a:t>
            </a:r>
            <a:r>
              <a:rPr lang="en-US" altLang="en-US" sz="2400">
                <a:cs typeface="Times New Roman" panose="02020603050405020304" pitchFamily="18" charset="0"/>
              </a:rPr>
              <a:t>, then </a:t>
            </a:r>
            <a:r>
              <a:rPr lang="en-US" altLang="en-US" sz="2400" b="1">
                <a:cs typeface="Times New Roman" panose="02020603050405020304" pitchFamily="18" charset="0"/>
              </a:rPr>
              <a:t>expected net-of-tax return declines </a:t>
            </a:r>
            <a:r>
              <a:rPr lang="en-US" altLang="en-US" sz="2400">
                <a:cs typeface="Times New Roman" panose="02020603050405020304" pitchFamily="18" charset="0"/>
              </a:rPr>
              <a:t>and </a:t>
            </a:r>
            <a:r>
              <a:rPr lang="en-US" altLang="en-US" sz="2400" b="1">
                <a:cs typeface="Times New Roman" panose="02020603050405020304" pitchFamily="18" charset="0"/>
              </a:rPr>
              <a:t>variance or risk increases </a:t>
            </a:r>
            <a:r>
              <a:rPr lang="en-US" altLang="en-US" sz="2400">
                <a:cs typeface="Times New Roman" panose="02020603050405020304" pitchFamily="18" charset="0"/>
              </a:rPr>
              <a:t>(relative to symmetrical case).</a:t>
            </a:r>
          </a:p>
          <a:p>
            <a:pPr marL="61913" indent="-61913" eaLnBrk="1" hangingPunct="1">
              <a:lnSpc>
                <a:spcPct val="80000"/>
              </a:lnSpc>
              <a:buFontTx/>
              <a:buNone/>
            </a:pPr>
            <a:r>
              <a:rPr lang="en-US" altLang="en-US" sz="2200">
                <a:cs typeface="Times New Roman" panose="02020603050405020304" pitchFamily="18" charset="0"/>
              </a:rPr>
              <a:t>  </a:t>
            </a: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In addition, in most sectors equity holders demand a </a:t>
            </a:r>
            <a:r>
              <a:rPr lang="en-US" altLang="en-US" sz="2200" b="1">
                <a:cs typeface="Times New Roman" panose="02020603050405020304" pitchFamily="18" charset="0"/>
              </a:rPr>
              <a:t>systematic risk premium</a:t>
            </a:r>
            <a:r>
              <a:rPr lang="en-US" altLang="en-US" sz="2200">
                <a:cs typeface="Times New Roman" panose="02020603050405020304" pitchFamily="18" charset="0"/>
              </a:rPr>
              <a:t> to cover non-diversifiable market risks (CAPM).  This </a:t>
            </a:r>
            <a:r>
              <a:rPr lang="en-US" altLang="en-US" sz="2200" b="1">
                <a:cs typeface="Times New Roman" panose="02020603050405020304" pitchFamily="18" charset="0"/>
              </a:rPr>
              <a:t>systematic risk premium or cost of risk is taxed. </a:t>
            </a:r>
            <a:r>
              <a:rPr lang="en-US" altLang="en-US" sz="2200">
                <a:cs typeface="Times New Roman" panose="02020603050405020304" pitchFamily="18" charset="0"/>
              </a:rPr>
              <a:t>This raises the effective tax rate compared to a risk free investment by </a:t>
            </a:r>
          </a:p>
          <a:p>
            <a:pPr marL="61913" indent="-61913" eaLnBrk="1" hangingPunct="1">
              <a:lnSpc>
                <a:spcPct val="80000"/>
              </a:lnSpc>
              <a:buFontTx/>
              <a:buNone/>
            </a:pPr>
            <a:r>
              <a:rPr lang="en-US" altLang="en-US" sz="2200" b="1">
                <a:cs typeface="Times New Roman" panose="02020603050405020304" pitchFamily="18" charset="0"/>
              </a:rPr>
              <a:t>		t/(1-t)* premium.</a:t>
            </a:r>
          </a:p>
          <a:p>
            <a:pPr marL="61913" indent="-61913" eaLnBrk="1" hangingPunct="1">
              <a:lnSpc>
                <a:spcPct val="80000"/>
              </a:lnSpc>
              <a:buFontTx/>
              <a:buNone/>
            </a:pPr>
            <a:r>
              <a:rPr lang="en-US" altLang="en-US" sz="2200">
                <a:cs typeface="Times New Roman" panose="02020603050405020304" pitchFamily="18" charset="0"/>
              </a:rPr>
              <a:t>  </a:t>
            </a:r>
            <a:r>
              <a:rPr lang="en-US" altLang="en-US" sz="2200" b="1" i="1">
                <a:solidFill>
                  <a:srgbClr val="FF0000"/>
                </a:solidFill>
                <a:cs typeface="Times New Roman" panose="02020603050405020304" pitchFamily="18" charset="0"/>
              </a:rPr>
              <a:t>Government effectively is taking disproportionate share of upside gains relative to loss offsets and effective tax rate is increased.</a:t>
            </a:r>
            <a:endParaRPr lang="en-US" altLang="en-US" sz="2200" b="1">
              <a:cs typeface="Times New Roman" panose="02020603050405020304" pitchFamily="18" charset="0"/>
            </a:endParaRPr>
          </a:p>
          <a:p>
            <a:pPr marL="61913" indent="-61913" eaLnBrk="1" hangingPunct="1">
              <a:lnSpc>
                <a:spcPct val="80000"/>
              </a:lnSpc>
              <a:buFontTx/>
              <a:buNone/>
            </a:pPr>
            <a:r>
              <a:rPr lang="en-US" altLang="en-US" sz="2200">
                <a:cs typeface="Times New Roman" panose="02020603050405020304" pitchFamily="18" charset="0"/>
              </a:rPr>
              <a:t>    </a:t>
            </a:r>
            <a:r>
              <a:rPr lang="en-US" altLang="en-US" sz="2200">
                <a:latin typeface="Symbol" panose="05050102010706020507" pitchFamily="18" charset="2"/>
                <a:cs typeface="Times New Roman" panose="02020603050405020304" pitchFamily="18" charset="0"/>
              </a:rPr>
              <a:t>·</a:t>
            </a:r>
            <a:r>
              <a:rPr lang="en-US" altLang="en-US" sz="2200">
                <a:cs typeface="Times New Roman" panose="02020603050405020304" pitchFamily="18" charset="0"/>
              </a:rPr>
              <a:t>  In practice, profits and capital gains tax tend to take higher share of gains than share of losses.</a:t>
            </a:r>
            <a:endParaRPr lang="en-US" altLang="en-US" sz="2200">
              <a:latin typeface="Courier New" panose="02070309020205020404" pitchFamily="49" charset="0"/>
              <a:cs typeface="Times New Roman" panose="02020603050405020304" pitchFamily="18" charset="0"/>
            </a:endParaRPr>
          </a:p>
          <a:p>
            <a:pPr marL="61913" indent="-61913" eaLnBrk="1" hangingPunct="1">
              <a:lnSpc>
                <a:spcPct val="80000"/>
              </a:lnSpc>
              <a:buFontTx/>
              <a:buNone/>
            </a:pPr>
            <a:r>
              <a:rPr lang="en-US" altLang="en-US" sz="2000">
                <a:cs typeface="Times New Roman" panose="02020603050405020304" pitchFamily="18"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6FEE7B04-4365-D09B-8A09-A4BF96E01D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31658E7-D716-4F27-9CD7-5E26FA756434}" type="slidenum">
              <a:rPr lang="en-US" altLang="en-US" sz="1400"/>
              <a:pPr>
                <a:spcBef>
                  <a:spcPct val="0"/>
                </a:spcBef>
                <a:buFontTx/>
                <a:buNone/>
              </a:pPr>
              <a:t>46</a:t>
            </a:fld>
            <a:endParaRPr lang="en-US" altLang="en-US" sz="1400"/>
          </a:p>
        </p:txBody>
      </p:sp>
      <p:sp>
        <p:nvSpPr>
          <p:cNvPr id="55299" name="Rectangle 2">
            <a:extLst>
              <a:ext uri="{FF2B5EF4-FFF2-40B4-BE49-F238E27FC236}">
                <a16:creationId xmlns:a16="http://schemas.microsoft.com/office/drawing/2014/main" id="{786D6CA9-DCB0-B28D-82F3-FE3F64736530}"/>
              </a:ext>
            </a:extLst>
          </p:cNvPr>
          <p:cNvSpPr>
            <a:spLocks noGrp="1" noChangeArrowheads="1"/>
          </p:cNvSpPr>
          <p:nvPr>
            <p:ph type="title"/>
          </p:nvPr>
        </p:nvSpPr>
        <p:spPr>
          <a:xfrm>
            <a:off x="685800" y="457200"/>
            <a:ext cx="7772400" cy="1143000"/>
          </a:xfrm>
        </p:spPr>
        <p:txBody>
          <a:bodyPr/>
          <a:lstStyle/>
          <a:p>
            <a:pPr eaLnBrk="1" hangingPunct="1"/>
            <a:r>
              <a:rPr lang="en-US" altLang="en-US" sz="4000" b="1">
                <a:solidFill>
                  <a:schemeClr val="accent2"/>
                </a:solidFill>
              </a:rPr>
              <a:t>Mechanisms for loss offsets</a:t>
            </a:r>
          </a:p>
        </p:txBody>
      </p:sp>
      <p:sp>
        <p:nvSpPr>
          <p:cNvPr id="55300" name="Rectangle 3">
            <a:extLst>
              <a:ext uri="{FF2B5EF4-FFF2-40B4-BE49-F238E27FC236}">
                <a16:creationId xmlns:a16="http://schemas.microsoft.com/office/drawing/2014/main" id="{84692D7F-EDC3-D77E-E2DA-05BC31C48BCC}"/>
              </a:ext>
            </a:extLst>
          </p:cNvPr>
          <p:cNvSpPr>
            <a:spLocks noGrp="1" noChangeArrowheads="1"/>
          </p:cNvSpPr>
          <p:nvPr>
            <p:ph type="body" idx="1"/>
          </p:nvPr>
        </p:nvSpPr>
        <p:spPr>
          <a:xfrm>
            <a:off x="381000" y="1600200"/>
            <a:ext cx="8229600" cy="4572000"/>
          </a:xfrm>
        </p:spPr>
        <p:txBody>
          <a:bodyPr/>
          <a:lstStyle/>
          <a:p>
            <a:pPr eaLnBrk="1" hangingPunct="1">
              <a:lnSpc>
                <a:spcPct val="80000"/>
              </a:lnSpc>
              <a:buFontTx/>
              <a:buNone/>
            </a:pPr>
            <a:r>
              <a:rPr lang="en-US" altLang="en-US" sz="2600">
                <a:latin typeface="Symbol" panose="05050102010706020507" pitchFamily="18" charset="2"/>
                <a:cs typeface="Times New Roman" panose="02020603050405020304" pitchFamily="18" charset="0"/>
              </a:rPr>
              <a:t>·</a:t>
            </a:r>
            <a:r>
              <a:rPr lang="en-US" altLang="en-US" sz="2600">
                <a:cs typeface="Times New Roman" panose="02020603050405020304" pitchFamily="18" charset="0"/>
              </a:rPr>
              <a:t>  </a:t>
            </a:r>
            <a:r>
              <a:rPr lang="en-US" altLang="en-US" sz="2400" b="1">
                <a:cs typeface="Times New Roman" panose="02020603050405020304" pitchFamily="18" charset="0"/>
              </a:rPr>
              <a:t>Loss off-set</a:t>
            </a:r>
            <a:r>
              <a:rPr lang="en-US" altLang="en-US" sz="2400">
                <a:cs typeface="Times New Roman" panose="02020603050405020304" pitchFamily="18" charset="0"/>
              </a:rPr>
              <a:t>, i.e., through reduction of taxable income of a company in its profit making activities by an amount equivalent to losses in a risky project in the same year.  Also </a:t>
            </a:r>
            <a:r>
              <a:rPr lang="en-US" altLang="en-US" sz="2400" b="1">
                <a:solidFill>
                  <a:srgbClr val="FF0000"/>
                </a:solidFill>
                <a:cs typeface="Times New Roman" panose="02020603050405020304" pitchFamily="18" charset="0"/>
              </a:rPr>
              <a:t>consolidation of tax accounts across companies,</a:t>
            </a:r>
            <a:r>
              <a:rPr lang="en-US" altLang="en-US" sz="2400">
                <a:cs typeface="Times New Roman" panose="02020603050405020304" pitchFamily="18" charset="0"/>
              </a:rPr>
              <a:t> otherwise </a:t>
            </a:r>
            <a:r>
              <a:rPr lang="en-US" altLang="en-US" sz="2400" b="1">
                <a:solidFill>
                  <a:srgbClr val="FF0000"/>
                </a:solidFill>
                <a:cs typeface="Times New Roman" panose="02020603050405020304" pitchFamily="18" charset="0"/>
              </a:rPr>
              <a:t>companies merge to realize tax losses</a:t>
            </a:r>
            <a:r>
              <a:rPr lang="en-US" altLang="en-US" sz="2400">
                <a:solidFill>
                  <a:srgbClr val="FF0000"/>
                </a:solidFill>
                <a:cs typeface="Times New Roman" panose="02020603050405020304" pitchFamily="18" charset="0"/>
              </a:rPr>
              <a:t>.</a:t>
            </a:r>
            <a:r>
              <a:rPr lang="en-US" altLang="en-US" sz="2400">
                <a:cs typeface="Times New Roman" panose="02020603050405020304" pitchFamily="18" charset="0"/>
              </a:rPr>
              <a:t>  Problem for start-up companies – delayed loss realization.</a:t>
            </a:r>
            <a:endParaRPr lang="en-US" altLang="en-US" sz="2400">
              <a:latin typeface="Courier New" panose="02070309020205020404" pitchFamily="49" charset="0"/>
              <a:cs typeface="Times New Roman" panose="02020603050405020304" pitchFamily="18" charset="0"/>
            </a:endParaRPr>
          </a:p>
          <a:p>
            <a:pPr eaLnBrk="1" hangingPunct="1">
              <a:lnSpc>
                <a:spcPct val="80000"/>
              </a:lnSpc>
              <a:buFontTx/>
              <a:buNone/>
            </a:pPr>
            <a:r>
              <a:rPr lang="en-US" altLang="en-US" sz="2400">
                <a:latin typeface="Symbol" panose="05050102010706020507" pitchFamily="18" charset="2"/>
                <a:cs typeface="Times New Roman" panose="02020603050405020304" pitchFamily="18" charset="0"/>
              </a:rPr>
              <a:t>·</a:t>
            </a:r>
            <a:r>
              <a:rPr lang="en-US" altLang="en-US" sz="2400">
                <a:cs typeface="Times New Roman" panose="02020603050405020304" pitchFamily="18" charset="0"/>
              </a:rPr>
              <a:t>   Alternatively, the loss incurred allowed to be off-set against its profits in an earlier or later period through </a:t>
            </a:r>
            <a:r>
              <a:rPr lang="en-US" altLang="en-US" sz="2400" b="1">
                <a:cs typeface="Times New Roman" panose="02020603050405020304" pitchFamily="18" charset="0"/>
              </a:rPr>
              <a:t>loss carry backwards or loss carry forward.   </a:t>
            </a:r>
            <a:r>
              <a:rPr lang="en-US" altLang="en-US" sz="2400">
                <a:cs typeface="Times New Roman" panose="02020603050405020304" pitchFamily="18" charset="0"/>
              </a:rPr>
              <a:t>Often a trade off between allowing consolidation and length of loss carry forwards – where no consolidation, loss carry forwards sometimes indefinite</a:t>
            </a:r>
            <a:r>
              <a:rPr lang="en-US" altLang="en-US" sz="2400" b="1">
                <a:cs typeface="Times New Roman" panose="02020603050405020304" pitchFamily="18" charset="0"/>
              </a:rPr>
              <a:t>.  </a:t>
            </a:r>
            <a:r>
              <a:rPr lang="en-US" altLang="en-US" sz="2400">
                <a:cs typeface="Times New Roman" panose="02020603050405020304" pitchFamily="18" charset="0"/>
              </a:rPr>
              <a:t>LCF absorption may be restricted to share of taxable income in future years</a:t>
            </a:r>
            <a:endParaRPr lang="en-US" altLang="en-US" sz="2400">
              <a:latin typeface="Courier New" panose="02070309020205020404" pitchFamily="49" charset="0"/>
              <a:cs typeface="Times New Roman" panose="02020603050405020304" pitchFamily="18" charset="0"/>
            </a:endParaRPr>
          </a:p>
          <a:p>
            <a:pPr eaLnBrk="1" hangingPunct="1">
              <a:lnSpc>
                <a:spcPct val="80000"/>
              </a:lnSpc>
              <a:buFontTx/>
              <a:buNone/>
            </a:pPr>
            <a:r>
              <a:rPr lang="en-US" altLang="en-US" sz="2400">
                <a:latin typeface="Symbol" panose="05050102010706020507" pitchFamily="18" charset="2"/>
                <a:cs typeface="Times New Roman" panose="02020603050405020304" pitchFamily="18" charset="0"/>
              </a:rPr>
              <a:t>·   </a:t>
            </a:r>
            <a:r>
              <a:rPr lang="en-US" altLang="en-US" sz="2400">
                <a:cs typeface="Times New Roman" panose="02020603050405020304" pitchFamily="18" charset="0"/>
              </a:rPr>
              <a:t>Both loss off-set and loss carry forward or carry backward provisions are a form of </a:t>
            </a:r>
            <a:r>
              <a:rPr lang="en-US" altLang="en-US" sz="2400" b="1">
                <a:cs typeface="Times New Roman" panose="02020603050405020304" pitchFamily="18" charset="0"/>
              </a:rPr>
              <a:t>income averaging</a:t>
            </a:r>
            <a:r>
              <a:rPr lang="en-US" altLang="en-US" sz="2400">
                <a:cs typeface="Times New Roman" panose="02020603050405020304" pitchFamily="18" charset="0"/>
              </a:rPr>
              <a:t>.</a:t>
            </a:r>
          </a:p>
          <a:p>
            <a:pPr eaLnBrk="1" hangingPunct="1">
              <a:lnSpc>
                <a:spcPct val="80000"/>
              </a:lnSpc>
              <a:buFontTx/>
              <a:buNone/>
            </a:pPr>
            <a:endParaRPr lang="en-US" altLang="en-US"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3">
            <a:extLst>
              <a:ext uri="{FF2B5EF4-FFF2-40B4-BE49-F238E27FC236}">
                <a16:creationId xmlns:a16="http://schemas.microsoft.com/office/drawing/2014/main" id="{9D63BF16-E4DE-843C-1554-94CE800785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E0053D5-BCAB-4930-9F7E-E436158EE0B0}" type="slidenum">
              <a:rPr lang="en-US" altLang="en-US" sz="1400"/>
              <a:pPr>
                <a:spcBef>
                  <a:spcPct val="0"/>
                </a:spcBef>
                <a:buFontTx/>
                <a:buNone/>
              </a:pPr>
              <a:t>47</a:t>
            </a:fld>
            <a:endParaRPr lang="en-US" altLang="en-US" sz="1400"/>
          </a:p>
        </p:txBody>
      </p:sp>
      <p:pic>
        <p:nvPicPr>
          <p:cNvPr id="56323" name="Picture 2">
            <a:extLst>
              <a:ext uri="{FF2B5EF4-FFF2-40B4-BE49-F238E27FC236}">
                <a16:creationId xmlns:a16="http://schemas.microsoft.com/office/drawing/2014/main" id="{CA105FE9-0AA4-0855-B854-95140F3D32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050" y="609600"/>
            <a:ext cx="581025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6A8AFC0B-63F8-01D7-B357-AA50EE79F4D1}"/>
              </a:ext>
            </a:extLst>
          </p:cNvPr>
          <p:cNvSpPr/>
          <p:nvPr/>
        </p:nvSpPr>
        <p:spPr>
          <a:xfrm>
            <a:off x="6858000" y="2351088"/>
            <a:ext cx="2133600" cy="9144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sz="1400" dirty="0">
                <a:solidFill>
                  <a:schemeClr val="tx1"/>
                </a:solidFill>
                <a:latin typeface="Calibri" panose="020F0502020204030204" pitchFamily="34" charset="0"/>
              </a:rPr>
              <a:t>With loss offset and excessive investment incentives, negative effective tax rate possible</a:t>
            </a:r>
          </a:p>
        </p:txBody>
      </p:sp>
      <p:sp>
        <p:nvSpPr>
          <p:cNvPr id="7" name="Rectangle 6">
            <a:extLst>
              <a:ext uri="{FF2B5EF4-FFF2-40B4-BE49-F238E27FC236}">
                <a16:creationId xmlns:a16="http://schemas.microsoft.com/office/drawing/2014/main" id="{CF7ED681-50E4-3428-8B7C-F5898348CFF7}"/>
              </a:ext>
            </a:extLst>
          </p:cNvPr>
          <p:cNvSpPr/>
          <p:nvPr/>
        </p:nvSpPr>
        <p:spPr>
          <a:xfrm>
            <a:off x="6858000" y="4191000"/>
            <a:ext cx="2133600" cy="1066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sz="1400" dirty="0">
                <a:solidFill>
                  <a:schemeClr val="tx1"/>
                </a:solidFill>
                <a:latin typeface="Calibri" panose="020F0502020204030204" pitchFamily="34" charset="0"/>
              </a:rPr>
              <a:t>With loss carry forward absorbing losses, effective tax rate falls depending on length of carry forward and inflation rate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2">
            <a:extLst>
              <a:ext uri="{FF2B5EF4-FFF2-40B4-BE49-F238E27FC236}">
                <a16:creationId xmlns:a16="http://schemas.microsoft.com/office/drawing/2014/main" id="{EAC8F821-D949-2E8E-9860-3061F225A9A6}"/>
              </a:ext>
            </a:extLst>
          </p:cNvPr>
          <p:cNvSpPr>
            <a:spLocks noGrp="1"/>
          </p:cNvSpPr>
          <p:nvPr>
            <p:ph type="title"/>
          </p:nvPr>
        </p:nvSpPr>
        <p:spPr>
          <a:xfrm>
            <a:off x="457200" y="381000"/>
            <a:ext cx="8229600" cy="1143000"/>
          </a:xfrm>
        </p:spPr>
        <p:txBody>
          <a:bodyPr/>
          <a:lstStyle/>
          <a:p>
            <a:r>
              <a:rPr lang="en-US" altLang="en-US" sz="3200" b="1">
                <a:solidFill>
                  <a:schemeClr val="accent2"/>
                </a:solidFill>
              </a:rPr>
              <a:t>US cuts Fed CIT rate from 35% to 21% but limits loss carryovers to cut tax revenue cost</a:t>
            </a:r>
          </a:p>
        </p:txBody>
      </p:sp>
      <p:sp>
        <p:nvSpPr>
          <p:cNvPr id="57347" name="Content Placeholder 3">
            <a:extLst>
              <a:ext uri="{FF2B5EF4-FFF2-40B4-BE49-F238E27FC236}">
                <a16:creationId xmlns:a16="http://schemas.microsoft.com/office/drawing/2014/main" id="{17C9414D-5934-4340-6F35-E60DDF1ACDAB}"/>
              </a:ext>
            </a:extLst>
          </p:cNvPr>
          <p:cNvSpPr>
            <a:spLocks noGrp="1"/>
          </p:cNvSpPr>
          <p:nvPr>
            <p:ph idx="1"/>
          </p:nvPr>
        </p:nvSpPr>
        <p:spPr>
          <a:xfrm>
            <a:off x="609600" y="1558925"/>
            <a:ext cx="7772400" cy="4114800"/>
          </a:xfrm>
        </p:spPr>
        <p:txBody>
          <a:bodyPr/>
          <a:lstStyle/>
          <a:p>
            <a:r>
              <a:rPr lang="en-US" altLang="en-US" sz="2400"/>
              <a:t>Prior to 2018: 20 year loss carryforward and two year loss carryback (5 for farm income)</a:t>
            </a:r>
          </a:p>
          <a:p>
            <a:r>
              <a:rPr lang="en-US" altLang="en-US" sz="2400"/>
              <a:t>Losses generated 2018 and subsequent years:</a:t>
            </a:r>
          </a:p>
          <a:p>
            <a:pPr lvl="1"/>
            <a:r>
              <a:rPr lang="en-US" altLang="en-US" sz="2000"/>
              <a:t>Corporations:  No loss carryback (2 for farm income) and indefinite loss carryforward but limited to 80% of on income in subsequent years. (Property and casualty insurance income remain as per pre-2018)</a:t>
            </a:r>
          </a:p>
          <a:p>
            <a:pPr lvl="1"/>
            <a:r>
              <a:rPr lang="en-US" altLang="en-US" sz="2000"/>
              <a:t>Non-corporates:  $500K limit on carryforwards deductible and excess carried forward indefinitely, but limited to 80% of non-business income</a:t>
            </a:r>
          </a:p>
          <a:p>
            <a:r>
              <a:rPr lang="en-US" altLang="en-US" sz="2400"/>
              <a:t>Results: </a:t>
            </a:r>
          </a:p>
          <a:p>
            <a:pPr lvl="1"/>
            <a:r>
              <a:rPr lang="en-US" altLang="en-US" sz="2000"/>
              <a:t>Increased tax compliance complexity</a:t>
            </a:r>
          </a:p>
          <a:p>
            <a:pPr lvl="1"/>
            <a:r>
              <a:rPr lang="en-US" altLang="en-US" sz="2000"/>
              <a:t>Lower CIT rate, but offset by greater variance in taxes as lower tax value of losses.  Expected tax rate is raised above statutory rate</a:t>
            </a:r>
          </a:p>
        </p:txBody>
      </p:sp>
      <p:sp>
        <p:nvSpPr>
          <p:cNvPr id="57348" name="Slide Number Placeholder 1">
            <a:extLst>
              <a:ext uri="{FF2B5EF4-FFF2-40B4-BE49-F238E27FC236}">
                <a16:creationId xmlns:a16="http://schemas.microsoft.com/office/drawing/2014/main" id="{37B2896F-D9EA-2D24-FED7-00521D7F6A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imes New Roman" panose="02020603050405020304" pitchFamily="18" charset="0"/>
              </a:defRPr>
            </a:lvl1pPr>
            <a:lvl2pPr marL="742950" indent="-285750">
              <a:defRPr sz="2600">
                <a:solidFill>
                  <a:schemeClr val="tx1"/>
                </a:solidFill>
                <a:latin typeface="Times New Roman" panose="02020603050405020304" pitchFamily="18" charset="0"/>
              </a:defRPr>
            </a:lvl2pPr>
            <a:lvl3pPr marL="1143000" indent="-228600">
              <a:defRPr sz="2600">
                <a:solidFill>
                  <a:schemeClr val="tx1"/>
                </a:solidFill>
                <a:latin typeface="Times New Roman" panose="02020603050405020304" pitchFamily="18" charset="0"/>
              </a:defRPr>
            </a:lvl3pPr>
            <a:lvl4pPr marL="1600200" indent="-228600">
              <a:defRPr sz="2600">
                <a:solidFill>
                  <a:schemeClr val="tx1"/>
                </a:solidFill>
                <a:latin typeface="Times New Roman" panose="02020603050405020304" pitchFamily="18" charset="0"/>
              </a:defRPr>
            </a:lvl4pPr>
            <a:lvl5pPr marL="2057400" indent="-228600">
              <a:defRPr sz="2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600">
                <a:solidFill>
                  <a:schemeClr val="tx1"/>
                </a:solidFill>
                <a:latin typeface="Times New Roman" panose="02020603050405020304" pitchFamily="18" charset="0"/>
              </a:defRPr>
            </a:lvl9pPr>
          </a:lstStyle>
          <a:p>
            <a:fld id="{7728069C-39D5-4570-B08E-7E281B41D500}" type="slidenum">
              <a:rPr lang="en-US" altLang="en-US" sz="1400"/>
              <a:pPr/>
              <a:t>48</a:t>
            </a:fld>
            <a:endParaRPr lang="en-US" altLang="en-US" sz="1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C5DCD7FC-6C21-568E-EB41-86C0E755C2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C8B853A-5E27-4DD2-A9DD-7968DB66F700}" type="slidenum">
              <a:rPr lang="en-US" altLang="en-US" sz="1400"/>
              <a:pPr>
                <a:spcBef>
                  <a:spcPct val="0"/>
                </a:spcBef>
                <a:buFontTx/>
                <a:buNone/>
              </a:pPr>
              <a:t>49</a:t>
            </a:fld>
            <a:endParaRPr lang="en-US" altLang="en-US" sz="1400"/>
          </a:p>
        </p:txBody>
      </p:sp>
      <p:sp>
        <p:nvSpPr>
          <p:cNvPr id="58371" name="Rectangle 2">
            <a:extLst>
              <a:ext uri="{FF2B5EF4-FFF2-40B4-BE49-F238E27FC236}">
                <a16:creationId xmlns:a16="http://schemas.microsoft.com/office/drawing/2014/main" id="{41921861-4EFC-931A-EBD5-2D599D2C5502}"/>
              </a:ext>
            </a:extLst>
          </p:cNvPr>
          <p:cNvSpPr>
            <a:spLocks noGrp="1" noChangeArrowheads="1"/>
          </p:cNvSpPr>
          <p:nvPr>
            <p:ph type="title"/>
          </p:nvPr>
        </p:nvSpPr>
        <p:spPr>
          <a:xfrm>
            <a:off x="609600" y="76200"/>
            <a:ext cx="7772400" cy="1143000"/>
          </a:xfrm>
        </p:spPr>
        <p:txBody>
          <a:bodyPr/>
          <a:lstStyle/>
          <a:p>
            <a:pPr eaLnBrk="1" hangingPunct="1"/>
            <a:r>
              <a:rPr lang="en-US" altLang="en-US" sz="4000" b="1" dirty="0">
                <a:solidFill>
                  <a:schemeClr val="accent2"/>
                </a:solidFill>
              </a:rPr>
              <a:t>Asset Value</a:t>
            </a:r>
          </a:p>
        </p:txBody>
      </p:sp>
      <p:sp>
        <p:nvSpPr>
          <p:cNvPr id="58372" name="Rectangle 3">
            <a:extLst>
              <a:ext uri="{FF2B5EF4-FFF2-40B4-BE49-F238E27FC236}">
                <a16:creationId xmlns:a16="http://schemas.microsoft.com/office/drawing/2014/main" id="{549DA620-10E5-3D44-5139-CF0D39A659C4}"/>
              </a:ext>
            </a:extLst>
          </p:cNvPr>
          <p:cNvSpPr>
            <a:spLocks noGrp="1" noChangeArrowheads="1"/>
          </p:cNvSpPr>
          <p:nvPr>
            <p:ph type="body" idx="1"/>
          </p:nvPr>
        </p:nvSpPr>
        <p:spPr>
          <a:xfrm>
            <a:off x="609600" y="1219200"/>
            <a:ext cx="8077200" cy="5029200"/>
          </a:xfrm>
        </p:spPr>
        <p:txBody>
          <a:bodyPr/>
          <a:lstStyle/>
          <a:p>
            <a:pPr eaLnBrk="1" hangingPunct="1">
              <a:lnSpc>
                <a:spcPct val="80000"/>
              </a:lnSpc>
            </a:pPr>
            <a:r>
              <a:rPr lang="en-US" altLang="en-US" sz="2400" dirty="0">
                <a:cs typeface="Times New Roman" panose="02020603050405020304" pitchFamily="18" charset="0"/>
              </a:rPr>
              <a:t>Owning an Asset gives one the right to the future incomes from that Asset. That implies that the value of the asset is related to the future income flows. </a:t>
            </a:r>
          </a:p>
          <a:p>
            <a:pPr eaLnBrk="1" hangingPunct="1">
              <a:lnSpc>
                <a:spcPct val="80000"/>
              </a:lnSpc>
            </a:pPr>
            <a:r>
              <a:rPr lang="en-US" altLang="en-US" sz="2400" dirty="0">
                <a:cs typeface="Times New Roman" panose="02020603050405020304" pitchFamily="18" charset="0"/>
              </a:rPr>
              <a:t>$100 today is not the same as $100 in one year. Why?</a:t>
            </a:r>
          </a:p>
          <a:p>
            <a:pPr lvl="1" eaLnBrk="1" hangingPunct="1">
              <a:lnSpc>
                <a:spcPct val="80000"/>
              </a:lnSpc>
            </a:pPr>
            <a:r>
              <a:rPr lang="en-US" altLang="en-US" sz="2000" dirty="0">
                <a:cs typeface="Times New Roman" panose="02020603050405020304" pitchFamily="18" charset="0"/>
              </a:rPr>
              <a:t>Because $100 today would generate interest (say 6%) and become $100*6% + $100 = $100*(1+6%) = $106 in a year’s time. That means $106 in one year is equal to $100 today i.e., = 106/(1+6%).</a:t>
            </a:r>
          </a:p>
          <a:p>
            <a:pPr lvl="1" eaLnBrk="1" hangingPunct="1">
              <a:lnSpc>
                <a:spcPct val="80000"/>
              </a:lnSpc>
            </a:pPr>
            <a:r>
              <a:rPr lang="en-US" altLang="en-US" sz="2000" dirty="0">
                <a:cs typeface="Times New Roman" panose="02020603050405020304" pitchFamily="18" charset="0"/>
              </a:rPr>
              <a:t>or $1 in 1 year is equal to $1/(1+r%) today.</a:t>
            </a:r>
          </a:p>
          <a:p>
            <a:pPr eaLnBrk="1" hangingPunct="1">
              <a:lnSpc>
                <a:spcPct val="80000"/>
              </a:lnSpc>
            </a:pPr>
            <a:r>
              <a:rPr lang="en-US" altLang="en-US" sz="2400" dirty="0">
                <a:cs typeface="Times New Roman" panose="02020603050405020304" pitchFamily="18" charset="0"/>
              </a:rPr>
              <a:t>In two year’s time, $100 would become $100*(1+6%) after year 1 and $100*(1+6%)*(1+6%) after year 2. </a:t>
            </a:r>
          </a:p>
          <a:p>
            <a:pPr lvl="1" eaLnBrk="1" hangingPunct="1">
              <a:lnSpc>
                <a:spcPct val="80000"/>
              </a:lnSpc>
            </a:pPr>
            <a:r>
              <a:rPr lang="en-US" altLang="en-US" sz="2000" dirty="0">
                <a:cs typeface="Times New Roman" panose="02020603050405020304" pitchFamily="18" charset="0"/>
              </a:rPr>
              <a:t>i.e., $100*(1+6%)^2 in 2 years time is equal to $100 today.</a:t>
            </a:r>
          </a:p>
          <a:p>
            <a:pPr lvl="1" eaLnBrk="1" hangingPunct="1">
              <a:lnSpc>
                <a:spcPct val="80000"/>
              </a:lnSpc>
            </a:pPr>
            <a:r>
              <a:rPr lang="en-US" altLang="en-US" sz="2000" dirty="0">
                <a:cs typeface="Times New Roman" panose="02020603050405020304" pitchFamily="18" charset="0"/>
              </a:rPr>
              <a:t>or $1 in 2 years time is equal to $1/(1+r%)^2 today.</a:t>
            </a:r>
          </a:p>
          <a:p>
            <a:pPr eaLnBrk="1" hangingPunct="1">
              <a:lnSpc>
                <a:spcPct val="80000"/>
              </a:lnSpc>
            </a:pPr>
            <a:r>
              <a:rPr lang="en-US" altLang="en-US" sz="2400" dirty="0">
                <a:cs typeface="Times New Roman" panose="02020603050405020304" pitchFamily="18" charset="0"/>
              </a:rPr>
              <a:t>Therefore, the total value of the asset is the sum of present value of the income flows.</a:t>
            </a:r>
          </a:p>
          <a:p>
            <a:pPr eaLnBrk="1" hangingPunct="1">
              <a:lnSpc>
                <a:spcPct val="80000"/>
              </a:lnSpc>
            </a:pPr>
            <a:r>
              <a:rPr lang="en-US" altLang="en-US" sz="2400" dirty="0">
                <a:cs typeface="Times New Roman" panose="02020603050405020304" pitchFamily="18" charset="0"/>
              </a:rPr>
              <a:t>Asset Value increases when the expectation of the future flows of incomes change.</a:t>
            </a:r>
          </a:p>
          <a:p>
            <a:pPr eaLnBrk="1" hangingPunct="1">
              <a:lnSpc>
                <a:spcPct val="80000"/>
              </a:lnSpc>
            </a:pPr>
            <a:endParaRPr lang="en-US" altLang="en-US" sz="2800" dirty="0">
              <a:cs typeface="Times New Roman" panose="02020603050405020304" pitchFamily="18" charset="0"/>
            </a:endParaRPr>
          </a:p>
        </p:txBody>
      </p:sp>
    </p:spTree>
    <p:extLst>
      <p:ext uri="{BB962C8B-B14F-4D97-AF65-F5344CB8AC3E}">
        <p14:creationId xmlns:p14="http://schemas.microsoft.com/office/powerpoint/2010/main" val="7775054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EA01C-A0E7-9FD4-98B6-FB121FD42B1E}"/>
              </a:ext>
            </a:extLst>
          </p:cNvPr>
          <p:cNvSpPr>
            <a:spLocks noGrp="1"/>
          </p:cNvSpPr>
          <p:nvPr>
            <p:ph type="title"/>
          </p:nvPr>
        </p:nvSpPr>
        <p:spPr>
          <a:xfrm>
            <a:off x="457200" y="381000"/>
            <a:ext cx="7772400" cy="612140"/>
          </a:xfrm>
        </p:spPr>
        <p:txBody>
          <a:bodyPr/>
          <a:lstStyle/>
          <a:p>
            <a:r>
              <a:rPr lang="en-US" sz="4000" b="1" dirty="0">
                <a:solidFill>
                  <a:schemeClr val="accent2"/>
                </a:solidFill>
              </a:rPr>
              <a:t>Asset Value (2)</a:t>
            </a:r>
          </a:p>
        </p:txBody>
      </p:sp>
      <p:sp>
        <p:nvSpPr>
          <p:cNvPr id="3" name="Content Placeholder 2">
            <a:extLst>
              <a:ext uri="{FF2B5EF4-FFF2-40B4-BE49-F238E27FC236}">
                <a16:creationId xmlns:a16="http://schemas.microsoft.com/office/drawing/2014/main" id="{C86883AD-5D0B-BF6C-27DF-D438FA5ABF4A}"/>
              </a:ext>
            </a:extLst>
          </p:cNvPr>
          <p:cNvSpPr>
            <a:spLocks noGrp="1"/>
          </p:cNvSpPr>
          <p:nvPr>
            <p:ph idx="1"/>
          </p:nvPr>
        </p:nvSpPr>
        <p:spPr>
          <a:xfrm>
            <a:off x="685800" y="1219200"/>
            <a:ext cx="7772400" cy="4876800"/>
          </a:xfrm>
        </p:spPr>
        <p:txBody>
          <a:bodyPr/>
          <a:lstStyle/>
          <a:p>
            <a:pPr marL="0" indent="0">
              <a:buNone/>
            </a:pPr>
            <a:r>
              <a:rPr lang="en-US" sz="2400" dirty="0"/>
              <a:t>If b is the income stream, then </a:t>
            </a:r>
          </a:p>
          <a:p>
            <a:pPr marL="0" indent="0">
              <a:buNone/>
            </a:pPr>
            <a:endParaRPr lang="en-US" sz="2400" dirty="0"/>
          </a:p>
        </p:txBody>
      </p:sp>
      <p:sp>
        <p:nvSpPr>
          <p:cNvPr id="4" name="Slide Number Placeholder 3">
            <a:extLst>
              <a:ext uri="{FF2B5EF4-FFF2-40B4-BE49-F238E27FC236}">
                <a16:creationId xmlns:a16="http://schemas.microsoft.com/office/drawing/2014/main" id="{F01E9DA8-7170-0071-D529-4E6346C12829}"/>
              </a:ext>
            </a:extLst>
          </p:cNvPr>
          <p:cNvSpPr>
            <a:spLocks noGrp="1"/>
          </p:cNvSpPr>
          <p:nvPr>
            <p:ph type="sldNum" sz="quarter" idx="12"/>
          </p:nvPr>
        </p:nvSpPr>
        <p:spPr/>
        <p:txBody>
          <a:bodyPr/>
          <a:lstStyle/>
          <a:p>
            <a:fld id="{5DC54A95-63A8-4B4B-8341-172734AF75D2}" type="slidenum">
              <a:rPr lang="en-US" altLang="en-US" smtClean="0"/>
              <a:pPr/>
              <a:t>50</a:t>
            </a:fld>
            <a:endParaRPr lang="en-US" altLang="en-US"/>
          </a:p>
        </p:txBody>
      </p:sp>
      <p:graphicFrame>
        <p:nvGraphicFramePr>
          <p:cNvPr id="5" name="Table 5">
            <a:extLst>
              <a:ext uri="{FF2B5EF4-FFF2-40B4-BE49-F238E27FC236}">
                <a16:creationId xmlns:a16="http://schemas.microsoft.com/office/drawing/2014/main" id="{A2689CFE-9166-46B9-58F1-507BBCCA381D}"/>
              </a:ext>
            </a:extLst>
          </p:cNvPr>
          <p:cNvGraphicFramePr>
            <a:graphicFrameLocks noGrp="1"/>
          </p:cNvGraphicFramePr>
          <p:nvPr/>
        </p:nvGraphicFramePr>
        <p:xfrm>
          <a:off x="1867787" y="1736358"/>
          <a:ext cx="4343400" cy="2595880"/>
        </p:xfrm>
        <a:graphic>
          <a:graphicData uri="http://schemas.openxmlformats.org/drawingml/2006/table">
            <a:tbl>
              <a:tblPr firstRow="1" bandRow="1">
                <a:tableStyleId>{5C22544A-7EE6-4342-B048-85BDC9FD1C3A}</a:tableStyleId>
              </a:tblPr>
              <a:tblGrid>
                <a:gridCol w="901460">
                  <a:extLst>
                    <a:ext uri="{9D8B030D-6E8A-4147-A177-3AD203B41FA5}">
                      <a16:colId xmlns:a16="http://schemas.microsoft.com/office/drawing/2014/main" val="860270692"/>
                    </a:ext>
                  </a:extLst>
                </a:gridCol>
                <a:gridCol w="1884872">
                  <a:extLst>
                    <a:ext uri="{9D8B030D-6E8A-4147-A177-3AD203B41FA5}">
                      <a16:colId xmlns:a16="http://schemas.microsoft.com/office/drawing/2014/main" val="1319869828"/>
                    </a:ext>
                  </a:extLst>
                </a:gridCol>
                <a:gridCol w="1557068">
                  <a:extLst>
                    <a:ext uri="{9D8B030D-6E8A-4147-A177-3AD203B41FA5}">
                      <a16:colId xmlns:a16="http://schemas.microsoft.com/office/drawing/2014/main" val="990774005"/>
                    </a:ext>
                  </a:extLst>
                </a:gridCol>
              </a:tblGrid>
              <a:tr h="370840">
                <a:tc>
                  <a:txBody>
                    <a:bodyPr/>
                    <a:lstStyle/>
                    <a:p>
                      <a:r>
                        <a:rPr lang="en-US" dirty="0"/>
                        <a:t>Year</a:t>
                      </a:r>
                    </a:p>
                  </a:txBody>
                  <a:tcPr/>
                </a:tc>
                <a:tc>
                  <a:txBody>
                    <a:bodyPr/>
                    <a:lstStyle/>
                    <a:p>
                      <a:r>
                        <a:rPr lang="en-US" dirty="0"/>
                        <a:t>Income Stream</a:t>
                      </a:r>
                    </a:p>
                  </a:txBody>
                  <a:tcPr/>
                </a:tc>
                <a:tc>
                  <a:txBody>
                    <a:bodyPr/>
                    <a:lstStyle/>
                    <a:p>
                      <a:r>
                        <a:rPr lang="en-US" dirty="0"/>
                        <a:t>Present Value</a:t>
                      </a:r>
                    </a:p>
                  </a:txBody>
                  <a:tcPr/>
                </a:tc>
                <a:extLst>
                  <a:ext uri="{0D108BD9-81ED-4DB2-BD59-A6C34878D82A}">
                    <a16:rowId xmlns:a16="http://schemas.microsoft.com/office/drawing/2014/main" val="2469696427"/>
                  </a:ext>
                </a:extLst>
              </a:tr>
              <a:tr h="370840">
                <a:tc>
                  <a:txBody>
                    <a:bodyPr/>
                    <a:lstStyle/>
                    <a:p>
                      <a:r>
                        <a:rPr lang="en-US" dirty="0"/>
                        <a:t>1</a:t>
                      </a:r>
                    </a:p>
                  </a:txBody>
                  <a:tcPr/>
                </a:tc>
                <a:tc>
                  <a:txBody>
                    <a:bodyPr/>
                    <a:lstStyle/>
                    <a:p>
                      <a:pPr algn="ctr"/>
                      <a:r>
                        <a:rPr lang="en-US" dirty="0"/>
                        <a:t>b</a:t>
                      </a:r>
                    </a:p>
                  </a:txBody>
                  <a:tcPr/>
                </a:tc>
                <a:tc>
                  <a:txBody>
                    <a:bodyPr/>
                    <a:lstStyle/>
                    <a:p>
                      <a:pPr algn="ctr"/>
                      <a:r>
                        <a:rPr lang="en-US" dirty="0"/>
                        <a:t>b/(1+r)</a:t>
                      </a:r>
                    </a:p>
                  </a:txBody>
                  <a:tcPr/>
                </a:tc>
                <a:extLst>
                  <a:ext uri="{0D108BD9-81ED-4DB2-BD59-A6C34878D82A}">
                    <a16:rowId xmlns:a16="http://schemas.microsoft.com/office/drawing/2014/main" val="676879663"/>
                  </a:ext>
                </a:extLst>
              </a:tr>
              <a:tr h="370840">
                <a:tc>
                  <a:txBody>
                    <a:bodyPr/>
                    <a:lstStyle/>
                    <a:p>
                      <a:r>
                        <a:rPr lang="en-US" dirty="0"/>
                        <a:t>2</a:t>
                      </a:r>
                    </a:p>
                  </a:txBody>
                  <a:tcPr/>
                </a:tc>
                <a:tc>
                  <a:txBody>
                    <a:bodyPr/>
                    <a:lstStyle/>
                    <a:p>
                      <a:pPr algn="ctr"/>
                      <a:r>
                        <a:rPr lang="en-US" dirty="0"/>
                        <a:t>b</a:t>
                      </a:r>
                    </a:p>
                  </a:txBody>
                  <a:tcPr/>
                </a:tc>
                <a:tc>
                  <a:txBody>
                    <a:bodyPr/>
                    <a:lstStyle/>
                    <a:p>
                      <a:pPr algn="ctr"/>
                      <a:r>
                        <a:rPr lang="en-US" dirty="0"/>
                        <a:t>b/(1+r)</a:t>
                      </a:r>
                      <a:r>
                        <a:rPr lang="en-US" baseline="30000" dirty="0"/>
                        <a:t>2</a:t>
                      </a:r>
                      <a:endParaRPr lang="en-US" dirty="0"/>
                    </a:p>
                  </a:txBody>
                  <a:tcPr/>
                </a:tc>
                <a:extLst>
                  <a:ext uri="{0D108BD9-81ED-4DB2-BD59-A6C34878D82A}">
                    <a16:rowId xmlns:a16="http://schemas.microsoft.com/office/drawing/2014/main" val="59657393"/>
                  </a:ext>
                </a:extLst>
              </a:tr>
              <a:tr h="370840">
                <a:tc>
                  <a:txBody>
                    <a:bodyPr/>
                    <a:lstStyle/>
                    <a:p>
                      <a:r>
                        <a:rPr lang="en-US" dirty="0"/>
                        <a:t>3</a:t>
                      </a:r>
                    </a:p>
                  </a:txBody>
                  <a:tcPr/>
                </a:tc>
                <a:tc>
                  <a:txBody>
                    <a:bodyPr/>
                    <a:lstStyle/>
                    <a:p>
                      <a:pPr algn="ctr"/>
                      <a:r>
                        <a:rPr lang="en-US" dirty="0"/>
                        <a:t>b</a:t>
                      </a:r>
                    </a:p>
                  </a:txBody>
                  <a:tcPr/>
                </a:tc>
                <a:tc>
                  <a:txBody>
                    <a:bodyPr/>
                    <a:lstStyle/>
                    <a:p>
                      <a:pPr algn="ctr"/>
                      <a:r>
                        <a:rPr lang="en-US" dirty="0"/>
                        <a:t>b/(1+r)</a:t>
                      </a:r>
                      <a:r>
                        <a:rPr lang="en-US" baseline="30000" dirty="0"/>
                        <a:t>3</a:t>
                      </a:r>
                      <a:endParaRPr lang="en-US" dirty="0"/>
                    </a:p>
                  </a:txBody>
                  <a:tcPr/>
                </a:tc>
                <a:extLst>
                  <a:ext uri="{0D108BD9-81ED-4DB2-BD59-A6C34878D82A}">
                    <a16:rowId xmlns:a16="http://schemas.microsoft.com/office/drawing/2014/main" val="4052077098"/>
                  </a:ext>
                </a:extLst>
              </a:tr>
              <a:tr h="370840">
                <a:tc>
                  <a:txBody>
                    <a:bodyPr/>
                    <a:lstStyle/>
                    <a:p>
                      <a:r>
                        <a:rPr lang="en-US" dirty="0"/>
                        <a:t>4</a:t>
                      </a:r>
                    </a:p>
                  </a:txBody>
                  <a:tcPr/>
                </a:tc>
                <a:tc>
                  <a:txBody>
                    <a:bodyPr/>
                    <a:lstStyle/>
                    <a:p>
                      <a:pPr algn="ctr"/>
                      <a:r>
                        <a:rPr lang="en-US" dirty="0"/>
                        <a:t>b</a:t>
                      </a:r>
                    </a:p>
                  </a:txBody>
                  <a:tcPr/>
                </a:tc>
                <a:tc>
                  <a:txBody>
                    <a:bodyPr/>
                    <a:lstStyle/>
                    <a:p>
                      <a:pPr algn="ctr"/>
                      <a:r>
                        <a:rPr lang="en-US" dirty="0"/>
                        <a:t>b/(1+r)</a:t>
                      </a:r>
                      <a:r>
                        <a:rPr lang="en-US" baseline="30000" dirty="0"/>
                        <a:t>4</a:t>
                      </a:r>
                      <a:endParaRPr lang="en-US" dirty="0"/>
                    </a:p>
                  </a:txBody>
                  <a:tcPr/>
                </a:tc>
                <a:extLst>
                  <a:ext uri="{0D108BD9-81ED-4DB2-BD59-A6C34878D82A}">
                    <a16:rowId xmlns:a16="http://schemas.microsoft.com/office/drawing/2014/main" val="3504024504"/>
                  </a:ext>
                </a:extLst>
              </a:tr>
              <a:tr h="370840">
                <a:tc>
                  <a:txBody>
                    <a:bodyPr/>
                    <a:lstStyle/>
                    <a:p>
                      <a:r>
                        <a:rPr lang="en-US" dirty="0"/>
                        <a:t>5</a:t>
                      </a:r>
                    </a:p>
                  </a:txBody>
                  <a:tcPr/>
                </a:tc>
                <a:tc>
                  <a:txBody>
                    <a:bodyPr/>
                    <a:lstStyle/>
                    <a:p>
                      <a:pPr algn="ctr"/>
                      <a:r>
                        <a:rPr lang="en-US" dirty="0"/>
                        <a:t>b</a:t>
                      </a:r>
                    </a:p>
                  </a:txBody>
                  <a:tcPr/>
                </a:tc>
                <a:tc>
                  <a:txBody>
                    <a:bodyPr/>
                    <a:lstStyle/>
                    <a:p>
                      <a:pPr algn="ctr"/>
                      <a:r>
                        <a:rPr lang="en-US" dirty="0"/>
                        <a:t>b/(1+r)</a:t>
                      </a:r>
                      <a:r>
                        <a:rPr lang="en-US" baseline="30000" dirty="0"/>
                        <a:t>5</a:t>
                      </a:r>
                      <a:endParaRPr lang="en-US" dirty="0"/>
                    </a:p>
                  </a:txBody>
                  <a:tcPr/>
                </a:tc>
                <a:extLst>
                  <a:ext uri="{0D108BD9-81ED-4DB2-BD59-A6C34878D82A}">
                    <a16:rowId xmlns:a16="http://schemas.microsoft.com/office/drawing/2014/main" val="1107184333"/>
                  </a:ext>
                </a:extLst>
              </a:tr>
              <a:tr h="370840">
                <a:tc>
                  <a:txBody>
                    <a:bodyPr/>
                    <a:lstStyle/>
                    <a:p>
                      <a:r>
                        <a:rPr lang="en-US" dirty="0"/>
                        <a:t>6</a:t>
                      </a:r>
                    </a:p>
                  </a:txBody>
                  <a:tcPr/>
                </a:tc>
                <a:tc>
                  <a:txBody>
                    <a:bodyPr/>
                    <a:lstStyle/>
                    <a:p>
                      <a:pPr algn="ctr"/>
                      <a:r>
                        <a:rPr lang="en-US" dirty="0"/>
                        <a:t>b</a:t>
                      </a:r>
                    </a:p>
                  </a:txBody>
                  <a:tcPr/>
                </a:tc>
                <a:tc>
                  <a:txBody>
                    <a:bodyPr/>
                    <a:lstStyle/>
                    <a:p>
                      <a:pPr algn="ctr"/>
                      <a:r>
                        <a:rPr lang="en-US" dirty="0"/>
                        <a:t>b/(1+r)</a:t>
                      </a:r>
                      <a:r>
                        <a:rPr lang="en-US" baseline="30000" dirty="0"/>
                        <a:t>6</a:t>
                      </a:r>
                      <a:endParaRPr lang="en-US" dirty="0"/>
                    </a:p>
                  </a:txBody>
                  <a:tcPr/>
                </a:tc>
                <a:extLst>
                  <a:ext uri="{0D108BD9-81ED-4DB2-BD59-A6C34878D82A}">
                    <a16:rowId xmlns:a16="http://schemas.microsoft.com/office/drawing/2014/main" val="1772960321"/>
                  </a:ext>
                </a:extLst>
              </a:tr>
            </a:tbl>
          </a:graphicData>
        </a:graphic>
      </p:graphicFrame>
      <p:sp>
        <p:nvSpPr>
          <p:cNvPr id="6" name="TextBox 5">
            <a:extLst>
              <a:ext uri="{FF2B5EF4-FFF2-40B4-BE49-F238E27FC236}">
                <a16:creationId xmlns:a16="http://schemas.microsoft.com/office/drawing/2014/main" id="{43C94574-5613-566B-33E9-5112134520D8}"/>
              </a:ext>
            </a:extLst>
          </p:cNvPr>
          <p:cNvSpPr txBox="1"/>
          <p:nvPr/>
        </p:nvSpPr>
        <p:spPr>
          <a:xfrm>
            <a:off x="251636" y="4484638"/>
            <a:ext cx="8892363" cy="1569660"/>
          </a:xfrm>
          <a:prstGeom prst="rect">
            <a:avLst/>
          </a:prstGeom>
          <a:noFill/>
        </p:spPr>
        <p:txBody>
          <a:bodyPr wrap="square" rtlCol="0">
            <a:spAutoFit/>
          </a:bodyPr>
          <a:lstStyle/>
          <a:p>
            <a:r>
              <a:rPr lang="en-US" sz="2400" dirty="0"/>
              <a:t>Therefore, </a:t>
            </a:r>
          </a:p>
          <a:p>
            <a:r>
              <a:rPr lang="en-US" sz="2400" dirty="0"/>
              <a:t>Value of the Asset = b/(1+r) + b/(1+r)</a:t>
            </a:r>
            <a:r>
              <a:rPr lang="en-US" sz="2400" baseline="30000" dirty="0"/>
              <a:t>2</a:t>
            </a:r>
            <a:r>
              <a:rPr lang="en-US" sz="2400" dirty="0"/>
              <a:t> + b/(1+r)</a:t>
            </a:r>
            <a:r>
              <a:rPr lang="en-US" sz="2400" baseline="30000" dirty="0"/>
              <a:t>3</a:t>
            </a:r>
            <a:r>
              <a:rPr lang="en-US" sz="2400" dirty="0"/>
              <a:t> + b/(1+r)</a:t>
            </a:r>
            <a:r>
              <a:rPr lang="en-US" sz="2400" baseline="30000" dirty="0"/>
              <a:t>4</a:t>
            </a:r>
            <a:r>
              <a:rPr lang="en-US" sz="2400" dirty="0"/>
              <a:t> + …..∞</a:t>
            </a:r>
          </a:p>
          <a:p>
            <a:r>
              <a:rPr lang="en-US" sz="2400" dirty="0"/>
              <a:t>(This is a Geometric Series, the sum* is)</a:t>
            </a:r>
          </a:p>
          <a:p>
            <a:r>
              <a:rPr lang="en-US" sz="2400" dirty="0"/>
              <a:t>[b/(1+r)]/[1-1/(1+r)] = b/r</a:t>
            </a:r>
          </a:p>
        </p:txBody>
      </p:sp>
      <p:sp>
        <p:nvSpPr>
          <p:cNvPr id="7" name="TextBox 6">
            <a:extLst>
              <a:ext uri="{FF2B5EF4-FFF2-40B4-BE49-F238E27FC236}">
                <a16:creationId xmlns:a16="http://schemas.microsoft.com/office/drawing/2014/main" id="{085D2775-F6B1-D4C6-EA0A-E38CC0515230}"/>
              </a:ext>
            </a:extLst>
          </p:cNvPr>
          <p:cNvSpPr txBox="1"/>
          <p:nvPr/>
        </p:nvSpPr>
        <p:spPr>
          <a:xfrm>
            <a:off x="152400" y="6139027"/>
            <a:ext cx="6071192" cy="461665"/>
          </a:xfrm>
          <a:prstGeom prst="rect">
            <a:avLst/>
          </a:prstGeom>
          <a:noFill/>
        </p:spPr>
        <p:txBody>
          <a:bodyPr wrap="square" rtlCol="0">
            <a:spAutoFit/>
          </a:bodyPr>
          <a:lstStyle/>
          <a:p>
            <a:r>
              <a:rPr lang="en-US" sz="2400" dirty="0"/>
              <a:t>* b/(1-r) = b + br + br</a:t>
            </a:r>
            <a:r>
              <a:rPr lang="en-US" sz="2400" baseline="30000" dirty="0"/>
              <a:t> 2 </a:t>
            </a:r>
            <a:r>
              <a:rPr lang="en-US" sz="2400" dirty="0"/>
              <a:t>+ br</a:t>
            </a:r>
            <a:r>
              <a:rPr lang="en-US" sz="1600" baseline="30000" dirty="0"/>
              <a:t> </a:t>
            </a:r>
            <a:r>
              <a:rPr lang="en-US" sz="2400" baseline="30000" dirty="0"/>
              <a:t>3</a:t>
            </a:r>
            <a:r>
              <a:rPr lang="en-US" sz="1600" baseline="30000" dirty="0"/>
              <a:t> </a:t>
            </a:r>
            <a:r>
              <a:rPr lang="en-US" sz="2400" dirty="0"/>
              <a:t> + br</a:t>
            </a:r>
            <a:r>
              <a:rPr lang="en-US" sz="2400" baseline="30000" dirty="0"/>
              <a:t> 4 </a:t>
            </a:r>
            <a:r>
              <a:rPr lang="en-US" sz="2400" dirty="0"/>
              <a:t>+ …..∞ </a:t>
            </a:r>
          </a:p>
        </p:txBody>
      </p:sp>
    </p:spTree>
    <p:extLst>
      <p:ext uri="{BB962C8B-B14F-4D97-AF65-F5344CB8AC3E}">
        <p14:creationId xmlns:p14="http://schemas.microsoft.com/office/powerpoint/2010/main" val="938765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C5DCD7FC-6C21-568E-EB41-86C0E755C2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C8B853A-5E27-4DD2-A9DD-7968DB66F700}" type="slidenum">
              <a:rPr lang="en-US" altLang="en-US" sz="1400"/>
              <a:pPr>
                <a:spcBef>
                  <a:spcPct val="0"/>
                </a:spcBef>
                <a:buFontTx/>
                <a:buNone/>
              </a:pPr>
              <a:t>51</a:t>
            </a:fld>
            <a:endParaRPr lang="en-US" altLang="en-US" sz="1400"/>
          </a:p>
        </p:txBody>
      </p:sp>
      <p:sp>
        <p:nvSpPr>
          <p:cNvPr id="58371" name="Rectangle 2">
            <a:extLst>
              <a:ext uri="{FF2B5EF4-FFF2-40B4-BE49-F238E27FC236}">
                <a16:creationId xmlns:a16="http://schemas.microsoft.com/office/drawing/2014/main" id="{41921861-4EFC-931A-EBD5-2D599D2C5502}"/>
              </a:ext>
            </a:extLst>
          </p:cNvPr>
          <p:cNvSpPr>
            <a:spLocks noGrp="1" noChangeArrowheads="1"/>
          </p:cNvSpPr>
          <p:nvPr>
            <p:ph type="title"/>
          </p:nvPr>
        </p:nvSpPr>
        <p:spPr>
          <a:xfrm>
            <a:off x="609600" y="76200"/>
            <a:ext cx="7772400" cy="1143000"/>
          </a:xfrm>
        </p:spPr>
        <p:txBody>
          <a:bodyPr/>
          <a:lstStyle/>
          <a:p>
            <a:pPr eaLnBrk="1" hangingPunct="1"/>
            <a:r>
              <a:rPr lang="en-US" altLang="en-US" sz="4000" b="1">
                <a:solidFill>
                  <a:schemeClr val="accent2"/>
                </a:solidFill>
              </a:rPr>
              <a:t>Capital gains tax (1)</a:t>
            </a:r>
          </a:p>
        </p:txBody>
      </p:sp>
      <p:sp>
        <p:nvSpPr>
          <p:cNvPr id="58372" name="Rectangle 3">
            <a:extLst>
              <a:ext uri="{FF2B5EF4-FFF2-40B4-BE49-F238E27FC236}">
                <a16:creationId xmlns:a16="http://schemas.microsoft.com/office/drawing/2014/main" id="{549DA620-10E5-3D44-5139-CF0D39A659C4}"/>
              </a:ext>
            </a:extLst>
          </p:cNvPr>
          <p:cNvSpPr>
            <a:spLocks noGrp="1" noChangeArrowheads="1"/>
          </p:cNvSpPr>
          <p:nvPr>
            <p:ph type="body" idx="1"/>
          </p:nvPr>
        </p:nvSpPr>
        <p:spPr>
          <a:xfrm>
            <a:off x="609600" y="1219200"/>
            <a:ext cx="8077200" cy="6172200"/>
          </a:xfrm>
        </p:spPr>
        <p:txBody>
          <a:bodyPr/>
          <a:lstStyle/>
          <a:p>
            <a:pPr eaLnBrk="1" hangingPunct="1">
              <a:lnSpc>
                <a:spcPct val="80000"/>
              </a:lnSpc>
            </a:pPr>
            <a:r>
              <a:rPr lang="en-US" altLang="en-US" sz="2400">
                <a:cs typeface="Times New Roman" panose="02020603050405020304" pitchFamily="18" charset="0"/>
              </a:rPr>
              <a:t>A tax on the appreciation in the value of an asset, which is a change in net worth and is, therefore, a part of taxable income</a:t>
            </a:r>
            <a:r>
              <a:rPr lang="en-US" altLang="en-US" sz="2400" b="1">
                <a:cs typeface="Times New Roman" panose="02020603050405020304" pitchFamily="18" charset="0"/>
              </a:rPr>
              <a:t>.</a:t>
            </a:r>
          </a:p>
          <a:p>
            <a:pPr eaLnBrk="1" hangingPunct="1">
              <a:lnSpc>
                <a:spcPct val="80000"/>
              </a:lnSpc>
            </a:pPr>
            <a:r>
              <a:rPr lang="en-US" altLang="en-US" sz="2400">
                <a:cs typeface="Times New Roman" panose="02020603050405020304" pitchFamily="18" charset="0"/>
              </a:rPr>
              <a:t>This tax also deters people from converting  profits into investments (current into capital income) and thereby avoiding income tax payments.</a:t>
            </a:r>
          </a:p>
          <a:p>
            <a:pPr eaLnBrk="1" hangingPunct="1">
              <a:lnSpc>
                <a:spcPct val="80000"/>
              </a:lnSpc>
            </a:pPr>
            <a:r>
              <a:rPr lang="en-US" altLang="en-US" sz="2400">
                <a:cs typeface="Times New Roman" panose="02020603050405020304" pitchFamily="18" charset="0"/>
              </a:rPr>
              <a:t>The general formula: t</a:t>
            </a:r>
            <a:r>
              <a:rPr lang="en-US" altLang="en-US" sz="2400" baseline="-30000">
                <a:cs typeface="Times New Roman" panose="02020603050405020304" pitchFamily="18" charset="0"/>
              </a:rPr>
              <a:t>cg</a:t>
            </a:r>
            <a:r>
              <a:rPr lang="en-US" altLang="en-US" sz="2400">
                <a:cs typeface="Times New Roman" panose="02020603050405020304" pitchFamily="18" charset="0"/>
              </a:rPr>
              <a:t> * (A</a:t>
            </a:r>
            <a:r>
              <a:rPr lang="en-US" altLang="en-US" sz="2400" baseline="-30000">
                <a:cs typeface="Times New Roman" panose="02020603050405020304" pitchFamily="18" charset="0"/>
              </a:rPr>
              <a:t>t</a:t>
            </a:r>
            <a:r>
              <a:rPr lang="en-US" altLang="en-US" sz="2400">
                <a:cs typeface="Times New Roman" panose="02020603050405020304" pitchFamily="18" charset="0"/>
              </a:rPr>
              <a:t> - A</a:t>
            </a:r>
            <a:r>
              <a:rPr lang="en-US" altLang="en-US" sz="2400" baseline="-30000">
                <a:cs typeface="Times New Roman" panose="02020603050405020304" pitchFamily="18" charset="0"/>
              </a:rPr>
              <a:t>t-1</a:t>
            </a:r>
            <a:r>
              <a:rPr lang="en-US" altLang="en-US" sz="2400">
                <a:cs typeface="Times New Roman" panose="02020603050405020304" pitchFamily="18" charset="0"/>
              </a:rPr>
              <a:t>), where t</a:t>
            </a:r>
            <a:r>
              <a:rPr lang="en-US" altLang="en-US" sz="2400" baseline="-30000">
                <a:cs typeface="Times New Roman" panose="02020603050405020304" pitchFamily="18" charset="0"/>
              </a:rPr>
              <a:t>cg</a:t>
            </a:r>
            <a:r>
              <a:rPr lang="en-US" altLang="en-US" sz="2400">
                <a:cs typeface="Times New Roman" panose="02020603050405020304" pitchFamily="18" charset="0"/>
              </a:rPr>
              <a:t> is capital gains tax rate and (A</a:t>
            </a:r>
            <a:r>
              <a:rPr lang="en-US" altLang="en-US" sz="2400" baseline="-30000">
                <a:cs typeface="Times New Roman" panose="02020603050405020304" pitchFamily="18" charset="0"/>
              </a:rPr>
              <a:t>t</a:t>
            </a:r>
            <a:r>
              <a:rPr lang="en-US" altLang="en-US" sz="2400">
                <a:cs typeface="Times New Roman" panose="02020603050405020304" pitchFamily="18" charset="0"/>
              </a:rPr>
              <a:t>-A</a:t>
            </a:r>
            <a:r>
              <a:rPr lang="en-US" altLang="en-US" sz="2400" baseline="-30000">
                <a:cs typeface="Times New Roman" panose="02020603050405020304" pitchFamily="18" charset="0"/>
              </a:rPr>
              <a:t>t-1</a:t>
            </a:r>
            <a:r>
              <a:rPr lang="en-US" altLang="en-US" sz="2400">
                <a:cs typeface="Times New Roman" panose="02020603050405020304" pitchFamily="18" charset="0"/>
              </a:rPr>
              <a:t> ) is the appreciation and </a:t>
            </a:r>
            <a:r>
              <a:rPr lang="en-US" altLang="en-US" sz="2400" b="1">
                <a:cs typeface="Times New Roman" panose="02020603050405020304" pitchFamily="18" charset="0"/>
              </a:rPr>
              <a:t>A</a:t>
            </a:r>
            <a:r>
              <a:rPr lang="en-US" altLang="en-US" sz="2400" b="1" baseline="-30000">
                <a:cs typeface="Times New Roman" panose="02020603050405020304" pitchFamily="18" charset="0"/>
              </a:rPr>
              <a:t>t-1 </a:t>
            </a:r>
            <a:r>
              <a:rPr lang="en-US" altLang="en-US" sz="2400" b="1">
                <a:cs typeface="Times New Roman" panose="02020603050405020304" pitchFamily="18" charset="0"/>
              </a:rPr>
              <a:t>is the cost base.   </a:t>
            </a:r>
            <a:r>
              <a:rPr lang="en-US" altLang="en-US" sz="2400" i="1">
                <a:cs typeface="Times New Roman" panose="02020603050405020304" pitchFamily="18" charset="0"/>
              </a:rPr>
              <a:t>Improvements to asset add to cost base but depreciation is deducted</a:t>
            </a:r>
            <a:r>
              <a:rPr lang="en-US" altLang="en-US" sz="2400">
                <a:cs typeface="Times New Roman" panose="02020603050405020304" pitchFamily="18" charset="0"/>
              </a:rPr>
              <a:t>.</a:t>
            </a:r>
          </a:p>
          <a:p>
            <a:pPr eaLnBrk="1" hangingPunct="1">
              <a:lnSpc>
                <a:spcPct val="80000"/>
              </a:lnSpc>
            </a:pPr>
            <a:r>
              <a:rPr lang="en-US" altLang="en-US" sz="2400">
                <a:cs typeface="Times New Roman" panose="02020603050405020304" pitchFamily="18" charset="0"/>
              </a:rPr>
              <a:t>Capital gains are typically taxed when </a:t>
            </a:r>
            <a:r>
              <a:rPr lang="en-US" altLang="en-US" sz="2400" b="1">
                <a:cs typeface="Times New Roman" panose="02020603050405020304" pitchFamily="18" charset="0"/>
              </a:rPr>
              <a:t>realized, not when accrued.  </a:t>
            </a:r>
            <a:r>
              <a:rPr lang="en-US" altLang="en-US" sz="2400">
                <a:cs typeface="Times New Roman" panose="02020603050405020304" pitchFamily="18" charset="0"/>
              </a:rPr>
              <a:t>Capital losses typically have to be taken against capital gains rather than against ordinary income.  Unused capital losses are carried forward until gains are realized.</a:t>
            </a:r>
            <a:endParaRPr lang="en-US" altLang="en-US" sz="2800" b="1">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100FC8E0-509B-32B4-6598-D683EC547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A3D63B8-BEB8-47F0-B62A-71654A87EEDF}" type="slidenum">
              <a:rPr lang="en-US" altLang="en-US" sz="1400"/>
              <a:pPr>
                <a:spcBef>
                  <a:spcPct val="0"/>
                </a:spcBef>
                <a:buFontTx/>
                <a:buNone/>
              </a:pPr>
              <a:t>52</a:t>
            </a:fld>
            <a:endParaRPr lang="en-US" altLang="en-US" sz="1400"/>
          </a:p>
        </p:txBody>
      </p:sp>
      <p:sp>
        <p:nvSpPr>
          <p:cNvPr id="59395" name="Rectangle 2">
            <a:extLst>
              <a:ext uri="{FF2B5EF4-FFF2-40B4-BE49-F238E27FC236}">
                <a16:creationId xmlns:a16="http://schemas.microsoft.com/office/drawing/2014/main" id="{F6453CF7-C4CE-6F16-0BE1-B69917919F53}"/>
              </a:ext>
            </a:extLst>
          </p:cNvPr>
          <p:cNvSpPr>
            <a:spLocks noGrp="1" noChangeArrowheads="1"/>
          </p:cNvSpPr>
          <p:nvPr>
            <p:ph type="title"/>
          </p:nvPr>
        </p:nvSpPr>
        <p:spPr>
          <a:xfrm>
            <a:off x="685800" y="381000"/>
            <a:ext cx="7772400" cy="914400"/>
          </a:xfrm>
        </p:spPr>
        <p:txBody>
          <a:bodyPr/>
          <a:lstStyle/>
          <a:p>
            <a:pPr eaLnBrk="1" hangingPunct="1"/>
            <a:r>
              <a:rPr lang="en-US" altLang="en-US" sz="4000" b="1">
                <a:solidFill>
                  <a:schemeClr val="accent2"/>
                </a:solidFill>
              </a:rPr>
              <a:t>Capital gains tax (2)</a:t>
            </a:r>
            <a:endParaRPr lang="en-US" altLang="en-US" sz="4000" i="1"/>
          </a:p>
        </p:txBody>
      </p:sp>
      <p:sp>
        <p:nvSpPr>
          <p:cNvPr id="59396" name="Rectangle 3">
            <a:extLst>
              <a:ext uri="{FF2B5EF4-FFF2-40B4-BE49-F238E27FC236}">
                <a16:creationId xmlns:a16="http://schemas.microsoft.com/office/drawing/2014/main" id="{39E2FFD7-9C92-B617-ACC7-05D3AC6A1020}"/>
              </a:ext>
            </a:extLst>
          </p:cNvPr>
          <p:cNvSpPr>
            <a:spLocks noGrp="1" noChangeArrowheads="1"/>
          </p:cNvSpPr>
          <p:nvPr>
            <p:ph type="body" idx="1"/>
          </p:nvPr>
        </p:nvSpPr>
        <p:spPr>
          <a:xfrm>
            <a:off x="381000" y="1524000"/>
            <a:ext cx="8458200" cy="4724400"/>
          </a:xfrm>
        </p:spPr>
        <p:txBody>
          <a:bodyPr/>
          <a:lstStyle/>
          <a:p>
            <a:pPr eaLnBrk="1" hangingPunct="1">
              <a:lnSpc>
                <a:spcPct val="90000"/>
              </a:lnSpc>
            </a:pPr>
            <a:r>
              <a:rPr lang="en-US" altLang="en-US" sz="2400">
                <a:cs typeface="Times New Roman" panose="02020603050405020304" pitchFamily="18" charset="0"/>
              </a:rPr>
              <a:t>The net worth of a company decreases due to depreciation of assets. Depreciation is allowed as a deduction from taxable income.  By contrast, appreciation in the value of assets is an addition to net worth and is subjected to capital gains tax.   </a:t>
            </a:r>
          </a:p>
          <a:p>
            <a:pPr eaLnBrk="1" hangingPunct="1">
              <a:lnSpc>
                <a:spcPct val="90000"/>
              </a:lnSpc>
            </a:pPr>
            <a:r>
              <a:rPr lang="en-US" altLang="en-US" sz="2400">
                <a:cs typeface="Times New Roman" panose="02020603050405020304" pitchFamily="18" charset="0"/>
              </a:rPr>
              <a:t>For depreciable assets, many tax systems require any gain on sale of asset which realizes upon sale  more than the depreciated value of the asset to be recognized as income (even where no capital gains tax):  </a:t>
            </a:r>
            <a:r>
              <a:rPr lang="en-US" altLang="en-US" sz="2800" b="1">
                <a:cs typeface="Times New Roman" panose="02020603050405020304" pitchFamily="18" charset="0"/>
              </a:rPr>
              <a:t>recaptured income</a:t>
            </a:r>
            <a:r>
              <a:rPr lang="en-US" altLang="en-US" sz="2400" b="1">
                <a:cs typeface="Times New Roman" panose="02020603050405020304" pitchFamily="18" charset="0"/>
              </a:rPr>
              <a:t> = A</a:t>
            </a:r>
            <a:r>
              <a:rPr lang="en-US" altLang="en-US" sz="2400" b="1" baseline="-30000">
                <a:cs typeface="Times New Roman" panose="02020603050405020304" pitchFamily="18" charset="0"/>
              </a:rPr>
              <a:t>t</a:t>
            </a:r>
            <a:r>
              <a:rPr lang="en-US" altLang="en-US" sz="2400" b="1">
                <a:cs typeface="Times New Roman" panose="02020603050405020304" pitchFamily="18" charset="0"/>
              </a:rPr>
              <a:t>-(A*</a:t>
            </a:r>
            <a:r>
              <a:rPr lang="en-US" altLang="en-US" sz="2400" b="1" baseline="-30000">
                <a:cs typeface="Times New Roman" panose="02020603050405020304" pitchFamily="18" charset="0"/>
              </a:rPr>
              <a:t>t-1</a:t>
            </a:r>
            <a:r>
              <a:rPr lang="en-US" altLang="en-US" sz="2400" b="1">
                <a:cs typeface="Times New Roman" panose="02020603050405020304" pitchFamily="18" charset="0"/>
              </a:rPr>
              <a:t>-D</a:t>
            </a:r>
            <a:r>
              <a:rPr lang="en-US" altLang="en-US" sz="2400" b="1" baseline="-30000">
                <a:cs typeface="Times New Roman" panose="02020603050405020304" pitchFamily="18" charset="0"/>
              </a:rPr>
              <a:t>t</a:t>
            </a:r>
            <a:r>
              <a:rPr lang="en-US" altLang="en-US" sz="2400" b="1">
                <a:cs typeface="Times New Roman" panose="02020603050405020304" pitchFamily="18" charset="0"/>
              </a:rPr>
              <a:t>) where D</a:t>
            </a:r>
            <a:r>
              <a:rPr lang="en-US" altLang="en-US" sz="2400" b="1" baseline="-30000">
                <a:cs typeface="Times New Roman" panose="02020603050405020304" pitchFamily="18" charset="0"/>
              </a:rPr>
              <a:t>t </a:t>
            </a:r>
            <a:r>
              <a:rPr lang="en-US" altLang="en-US" sz="2400" b="1">
                <a:cs typeface="Times New Roman" panose="02020603050405020304" pitchFamily="18" charset="0"/>
              </a:rPr>
              <a:t>is amount of depreciation claimed and A*</a:t>
            </a:r>
            <a:r>
              <a:rPr lang="en-US" altLang="en-US" sz="2400" b="1" baseline="-30000">
                <a:cs typeface="Times New Roman" panose="02020603050405020304" pitchFamily="18" charset="0"/>
              </a:rPr>
              <a:t>t-1</a:t>
            </a:r>
            <a:r>
              <a:rPr lang="en-US" altLang="en-US" sz="2400">
                <a:cs typeface="Times New Roman" panose="02020603050405020304" pitchFamily="18" charset="0"/>
              </a:rPr>
              <a:t> is the acquisition cost.   This is important where </a:t>
            </a:r>
            <a:r>
              <a:rPr lang="en-US" altLang="en-US" sz="2400" b="1">
                <a:cs typeface="Times New Roman" panose="02020603050405020304" pitchFamily="18" charset="0"/>
              </a:rPr>
              <a:t>investment incentives are offered increasing D</a:t>
            </a:r>
            <a:r>
              <a:rPr lang="en-US" altLang="en-US" sz="2400" b="1" baseline="-30000">
                <a:cs typeface="Times New Roman" panose="02020603050405020304" pitchFamily="18" charset="0"/>
              </a:rPr>
              <a:t>t</a:t>
            </a:r>
            <a:r>
              <a:rPr lang="en-US" altLang="en-US" sz="2400">
                <a:cs typeface="Times New Roman" panose="02020603050405020304" pitchFamily="18" charset="0"/>
              </a:rPr>
              <a:t>.   Where pooled depreciation is used, if sale of asset makes remaining value of pool go negative, this is typically recaptured and recognized as income.</a:t>
            </a:r>
            <a:endParaRPr lang="en-US" altLang="en-US" sz="2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BDA38956-4135-E25C-0790-91532EA5EB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B90B766-6B05-442A-BACA-E81308302B62}" type="slidenum">
              <a:rPr lang="en-US" altLang="en-US" sz="1400"/>
              <a:pPr>
                <a:spcBef>
                  <a:spcPct val="0"/>
                </a:spcBef>
                <a:buFontTx/>
                <a:buNone/>
              </a:pPr>
              <a:t>53</a:t>
            </a:fld>
            <a:endParaRPr lang="en-US" altLang="en-US" sz="1400"/>
          </a:p>
        </p:txBody>
      </p:sp>
      <p:sp>
        <p:nvSpPr>
          <p:cNvPr id="60419" name="Rectangle 2">
            <a:extLst>
              <a:ext uri="{FF2B5EF4-FFF2-40B4-BE49-F238E27FC236}">
                <a16:creationId xmlns:a16="http://schemas.microsoft.com/office/drawing/2014/main" id="{CB4EE105-D1FC-81AC-423B-7AC93E0D4E74}"/>
              </a:ext>
            </a:extLst>
          </p:cNvPr>
          <p:cNvSpPr>
            <a:spLocks noGrp="1" noChangeArrowheads="1"/>
          </p:cNvSpPr>
          <p:nvPr>
            <p:ph type="title"/>
          </p:nvPr>
        </p:nvSpPr>
        <p:spPr>
          <a:xfrm>
            <a:off x="685800" y="0"/>
            <a:ext cx="7772400" cy="1219200"/>
          </a:xfrm>
        </p:spPr>
        <p:txBody>
          <a:bodyPr/>
          <a:lstStyle/>
          <a:p>
            <a:pPr eaLnBrk="1" hangingPunct="1"/>
            <a:r>
              <a:rPr lang="en-US" altLang="en-US" sz="4000" b="1">
                <a:solidFill>
                  <a:schemeClr val="accent2"/>
                </a:solidFill>
              </a:rPr>
              <a:t>Capital gains tax (3)</a:t>
            </a:r>
            <a:endParaRPr lang="en-US" altLang="en-US" sz="4000" i="1"/>
          </a:p>
        </p:txBody>
      </p:sp>
      <p:sp>
        <p:nvSpPr>
          <p:cNvPr id="60420" name="Rectangle 3">
            <a:extLst>
              <a:ext uri="{FF2B5EF4-FFF2-40B4-BE49-F238E27FC236}">
                <a16:creationId xmlns:a16="http://schemas.microsoft.com/office/drawing/2014/main" id="{30BF28EC-794C-20B5-A057-FB54C192DE2F}"/>
              </a:ext>
            </a:extLst>
          </p:cNvPr>
          <p:cNvSpPr>
            <a:spLocks noGrp="1" noChangeArrowheads="1"/>
          </p:cNvSpPr>
          <p:nvPr>
            <p:ph type="body" idx="1"/>
          </p:nvPr>
        </p:nvSpPr>
        <p:spPr>
          <a:xfrm>
            <a:off x="457200" y="1219200"/>
            <a:ext cx="8305800" cy="5181600"/>
          </a:xfrm>
        </p:spPr>
        <p:txBody>
          <a:bodyPr/>
          <a:lstStyle/>
          <a:p>
            <a:pPr eaLnBrk="1" hangingPunct="1">
              <a:lnSpc>
                <a:spcPct val="90000"/>
              </a:lnSpc>
            </a:pPr>
            <a:r>
              <a:rPr lang="en-US" altLang="en-US" sz="2400" b="1">
                <a:cs typeface="Times New Roman" panose="02020603050405020304" pitchFamily="18" charset="0"/>
              </a:rPr>
              <a:t>Equity value of a company</a:t>
            </a:r>
            <a:r>
              <a:rPr lang="en-US" altLang="en-US" sz="2400">
                <a:cs typeface="Times New Roman" panose="02020603050405020304" pitchFamily="18" charset="0"/>
              </a:rPr>
              <a:t> will capitalize any shifts in expected future after-tax profits from changes in tax structure, productivity, sales or costs.  This happens continuously where shares are traded publicly.  As a result, capital gains taxes can result in </a:t>
            </a:r>
            <a:r>
              <a:rPr lang="en-US" altLang="en-US" sz="2400" b="1">
                <a:solidFill>
                  <a:srgbClr val="FF0000"/>
                </a:solidFill>
                <a:cs typeface="Times New Roman" panose="02020603050405020304" pitchFamily="18" charset="0"/>
              </a:rPr>
              <a:t>double taxation</a:t>
            </a:r>
            <a:r>
              <a:rPr lang="en-US" altLang="en-US" sz="2400">
                <a:solidFill>
                  <a:srgbClr val="FF0000"/>
                </a:solidFill>
                <a:cs typeface="Times New Roman" panose="02020603050405020304" pitchFamily="18" charset="0"/>
              </a:rPr>
              <a:t> </a:t>
            </a:r>
            <a:r>
              <a:rPr lang="en-US" altLang="en-US" sz="2400">
                <a:cs typeface="Times New Roman" panose="02020603050405020304" pitchFamily="18" charset="0"/>
              </a:rPr>
              <a:t>of these changes in after-tax profits, even before they arise and get reflected in the subsequent company profits and national accounts.  Considerations such as these lead to pressures to moderate or remove capital gains taxes on </a:t>
            </a:r>
            <a:r>
              <a:rPr lang="en-US" altLang="en-US" sz="2400" b="1">
                <a:cs typeface="Times New Roman" panose="02020603050405020304" pitchFamily="18" charset="0"/>
              </a:rPr>
              <a:t>publicly traded shares</a:t>
            </a:r>
            <a:r>
              <a:rPr lang="en-US" altLang="en-US" sz="2400">
                <a:cs typeface="Times New Roman" panose="02020603050405020304" pitchFamily="18" charset="0"/>
              </a:rPr>
              <a:t>. </a:t>
            </a:r>
          </a:p>
          <a:p>
            <a:pPr eaLnBrk="1" hangingPunct="1">
              <a:lnSpc>
                <a:spcPct val="90000"/>
              </a:lnSpc>
            </a:pPr>
            <a:r>
              <a:rPr lang="en-US" altLang="en-US" sz="2400">
                <a:cs typeface="Times New Roman" panose="02020603050405020304" pitchFamily="18" charset="0"/>
              </a:rPr>
              <a:t>Capital gains do not represent incremental current economic activity; they reflect </a:t>
            </a:r>
            <a:r>
              <a:rPr lang="en-US" altLang="en-US" sz="2400" b="1">
                <a:cs typeface="Times New Roman" panose="02020603050405020304" pitchFamily="18" charset="0"/>
              </a:rPr>
              <a:t>changing prices of existing assets </a:t>
            </a:r>
            <a:r>
              <a:rPr lang="en-US" altLang="en-US" sz="2400">
                <a:cs typeface="Times New Roman" panose="02020603050405020304" pitchFamily="18" charset="0"/>
              </a:rPr>
              <a:t>such that one person’s gain is another person’s loss.  Hence, capital gains taxes are not a significant source of revenues.  Capital gains should result in net income tax when high income persons capture gains.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747C3A1D-842E-07AA-6B27-BF97602A0742}"/>
              </a:ext>
            </a:extLst>
          </p:cNvPr>
          <p:cNvSpPr>
            <a:spLocks noGrp="1"/>
          </p:cNvSpPr>
          <p:nvPr>
            <p:ph type="title"/>
          </p:nvPr>
        </p:nvSpPr>
        <p:spPr>
          <a:xfrm>
            <a:off x="609600" y="381000"/>
            <a:ext cx="7848600" cy="1143000"/>
          </a:xfrm>
        </p:spPr>
        <p:txBody>
          <a:bodyPr/>
          <a:lstStyle/>
          <a:p>
            <a:r>
              <a:rPr lang="en-US" altLang="en-US" b="1">
                <a:solidFill>
                  <a:schemeClr val="accent2"/>
                </a:solidFill>
              </a:rPr>
              <a:t>Capital gains tax (4)</a:t>
            </a:r>
            <a:endParaRPr lang="en-US" altLang="en-US"/>
          </a:p>
        </p:txBody>
      </p:sp>
      <p:sp>
        <p:nvSpPr>
          <p:cNvPr id="61443" name="Content Placeholder 2">
            <a:extLst>
              <a:ext uri="{FF2B5EF4-FFF2-40B4-BE49-F238E27FC236}">
                <a16:creationId xmlns:a16="http://schemas.microsoft.com/office/drawing/2014/main" id="{80132E20-BB1A-7BB9-C93D-683AE4BF09E9}"/>
              </a:ext>
            </a:extLst>
          </p:cNvPr>
          <p:cNvSpPr>
            <a:spLocks noGrp="1"/>
          </p:cNvSpPr>
          <p:nvPr>
            <p:ph idx="1"/>
          </p:nvPr>
        </p:nvSpPr>
        <p:spPr>
          <a:xfrm>
            <a:off x="685800" y="1600200"/>
            <a:ext cx="7772400" cy="4572000"/>
          </a:xfrm>
        </p:spPr>
        <p:txBody>
          <a:bodyPr/>
          <a:lstStyle/>
          <a:p>
            <a:r>
              <a:rPr lang="en-US" altLang="en-US" sz="2400"/>
              <a:t>In the case of </a:t>
            </a:r>
            <a:r>
              <a:rPr lang="en-US" altLang="en-US" sz="2400" b="1"/>
              <a:t>non-traded closely-held companies </a:t>
            </a:r>
            <a:r>
              <a:rPr lang="en-US" altLang="en-US" sz="2400"/>
              <a:t>capital gains taxation can be important to prevent the </a:t>
            </a:r>
            <a:r>
              <a:rPr lang="en-US" altLang="en-US" sz="2400" b="1"/>
              <a:t>avoidance of dividend taxation</a:t>
            </a:r>
            <a:r>
              <a:rPr lang="en-US" altLang="en-US" sz="2400"/>
              <a:t>.  If a company is sold with retained earnings instead of distributing out dividends and paying any taxation applicable to these distributions, then without a capital gains tax the dividend taxation can be avoided as the owner can capture the value of the retained earnings through the sale of the company.   But there are other mechanisms for preventing untaxed distributions such as Dividend Tax Account (see Tax Integration.)</a:t>
            </a:r>
          </a:p>
          <a:p>
            <a:pPr>
              <a:buFontTx/>
              <a:buNone/>
            </a:pPr>
            <a:endParaRPr lang="en-US" altLang="en-US" sz="2400"/>
          </a:p>
        </p:txBody>
      </p:sp>
      <p:sp>
        <p:nvSpPr>
          <p:cNvPr id="61444" name="Slide Number Placeholder 3">
            <a:extLst>
              <a:ext uri="{FF2B5EF4-FFF2-40B4-BE49-F238E27FC236}">
                <a16:creationId xmlns:a16="http://schemas.microsoft.com/office/drawing/2014/main" id="{4EA8292E-2C4E-054D-0321-AA8C761ED9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BFD4135-5DE3-4C6F-AE26-9F35641FD39B}" type="slidenum">
              <a:rPr lang="en-US" altLang="en-US" sz="1400"/>
              <a:pPr>
                <a:spcBef>
                  <a:spcPct val="0"/>
                </a:spcBef>
                <a:buFontTx/>
                <a:buNone/>
              </a:pPr>
              <a:t>54</a:t>
            </a:fld>
            <a:endParaRPr lang="en-US" altLang="en-US" sz="1400"/>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16127</TotalTime>
  <Words>5372</Words>
  <Application>Microsoft Office PowerPoint</Application>
  <PresentationFormat>On-screen Show (4:3)</PresentationFormat>
  <Paragraphs>439</Paragraphs>
  <Slides>54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Calibri</vt:lpstr>
      <vt:lpstr>Calibri (Body)</vt:lpstr>
      <vt:lpstr>Courier New</vt:lpstr>
      <vt:lpstr>Symbol</vt:lpstr>
      <vt:lpstr>Times New Roman</vt:lpstr>
      <vt:lpstr>Default Design</vt:lpstr>
      <vt:lpstr>Corporate Income Tax</vt:lpstr>
      <vt:lpstr>Business Accounting Practical Session</vt:lpstr>
      <vt:lpstr>Requirements</vt:lpstr>
      <vt:lpstr>Balance Sheet (Beginning of Year 1)</vt:lpstr>
      <vt:lpstr>Income and Expenses (Accrual Basis)</vt:lpstr>
      <vt:lpstr>Additional Exercises - Balance Sheet Impact</vt:lpstr>
      <vt:lpstr>Tax Credits and Payments</vt:lpstr>
      <vt:lpstr>PowerPoint Presentation</vt:lpstr>
      <vt:lpstr>Outline</vt:lpstr>
      <vt:lpstr>Corporate Income Tax </vt:lpstr>
      <vt:lpstr>Business Income</vt:lpstr>
      <vt:lpstr>Business income as viewed by an Accountant </vt:lpstr>
      <vt:lpstr>Income Statement Example</vt:lpstr>
      <vt:lpstr>Balance Sheet Example</vt:lpstr>
      <vt:lpstr>Business income as viewed by an economist </vt:lpstr>
      <vt:lpstr>Taxation of the Firm</vt:lpstr>
      <vt:lpstr>Taxation of the Firm</vt:lpstr>
      <vt:lpstr>Business income as viewed by a lawyer</vt:lpstr>
      <vt:lpstr>PowerPoint Presentation</vt:lpstr>
      <vt:lpstr>PowerPoint Presentation</vt:lpstr>
      <vt:lpstr>Business Income</vt:lpstr>
      <vt:lpstr>Various Accounting Practices </vt:lpstr>
      <vt:lpstr>Tax Accounting for Business Income Taxation (1)</vt:lpstr>
      <vt:lpstr>Tax Accounting for Business Income Taxation (2)</vt:lpstr>
      <vt:lpstr>Tax Rates and Their Declining Trend </vt:lpstr>
      <vt:lpstr>PowerPoint Presentation</vt:lpstr>
      <vt:lpstr>PowerPoint Presentation</vt:lpstr>
      <vt:lpstr>Cost of goods sold(1)</vt:lpstr>
      <vt:lpstr>COGS (FIFO) </vt:lpstr>
      <vt:lpstr>COGS (LIFO)</vt:lpstr>
      <vt:lpstr>COGS: LIFO vs FIFO </vt:lpstr>
      <vt:lpstr>Depreciation allowance</vt:lpstr>
      <vt:lpstr>Depreciation methods (1)</vt:lpstr>
      <vt:lpstr>Depreciation methods (2)</vt:lpstr>
      <vt:lpstr>Depreciation methods (3)</vt:lpstr>
      <vt:lpstr>Straight line method</vt:lpstr>
      <vt:lpstr>Declining balance</vt:lpstr>
      <vt:lpstr>Immediate expensing</vt:lpstr>
      <vt:lpstr>At realization</vt:lpstr>
      <vt:lpstr>Comparison of methods</vt:lpstr>
      <vt:lpstr>Financing costs (1)</vt:lpstr>
      <vt:lpstr>Financing costs (2)</vt:lpstr>
      <vt:lpstr>Financing costs (3)</vt:lpstr>
      <vt:lpstr>Overheads</vt:lpstr>
      <vt:lpstr>Treatment of losses</vt:lpstr>
      <vt:lpstr>Mechanisms for loss offsets</vt:lpstr>
      <vt:lpstr>PowerPoint Presentation</vt:lpstr>
      <vt:lpstr>US cuts Fed CIT rate from 35% to 21% but limits loss carryovers to cut tax revenue cost</vt:lpstr>
      <vt:lpstr>Asset Value</vt:lpstr>
      <vt:lpstr>Asset Value (2)</vt:lpstr>
      <vt:lpstr>Capital gains tax (1)</vt:lpstr>
      <vt:lpstr>Capital gains tax (2)</vt:lpstr>
      <vt:lpstr>Capital gains tax (3)</vt:lpstr>
      <vt:lpstr>Capital gains tax (4)</vt:lpstr>
    </vt:vector>
  </TitlesOfParts>
  <Company>Duke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INCOME TAX</dc:title>
  <dc:creator>Arts &amp; Sciences</dc:creator>
  <cp:lastModifiedBy>Sebastian Family</cp:lastModifiedBy>
  <cp:revision>125</cp:revision>
  <dcterms:created xsi:type="dcterms:W3CDTF">2003-02-26T16:22:24Z</dcterms:created>
  <dcterms:modified xsi:type="dcterms:W3CDTF">2026-04-28T07:33:34Z</dcterms:modified>
</cp:coreProperties>
</file>